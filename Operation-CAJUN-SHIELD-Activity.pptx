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Read the exercise caveat out loud — it matters with this audience.
"Good morning. Everything you see today is notional. No real unit designations, no real rosters, no real contact numbers. The scenario is modeled on a real flood fight, but nothing in here is an actual plan.
What we're doing: you're going to take a problem this organization actually has — mission requests coming in from seven parishes on four different channels and being tracked on a whiteboard — and you're going to build a working system for it. Before the end of the day.
You do not need to be a software developer. Nobody in this room is going to write code today. What you need to be is someone who can describe a mission clearly. If you can write a clear FRAGO, you can do this."
If the Commander or senior leadership is present, add: "Sir/Ma'am, the deliverable at the end of the day is a working prototype and a documented requirement. Both are yours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blocks quickly — under two minutes. The only thing you need them to absorb is the shape of the day.
The question you will get, and the answer:
"Why are we talking for 45 minutes before we touch a computer?"
"Because the tool builds whatever you describe. If your description is vague, you get a vague system. The 45 minutes is not warm-up — it is the actual work. The build is the easy part."
Point out that Phase 1 is laptops closed. Say it now so it isn't a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outcomes, not as a checklist.
"Notice what's not on this list: nothing about writing code, nothing about being a developer. Three of these four are things you already do — you analyze problems, you define who does what, you build battle rhythm. The fourth one is the tool, and the tool is the easiest part of the day.
If you leave here able to do the first three well, you can use this tool — or the next one that replaces it — without anybody training you again."
For a mixed audience, add: "Junior folks, you'll drive the keyboard. Senior folks, your job is to challenge whether the thing being built is actually what the mission needs. Both roles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"Close the laptops. Everything we do for the next 45 minutes happens on the whiteboard.
I'm going to ask four questions. They look simple. They are not — every one of them is a place real projects go wrong. And everything you say in the next 45 minutes goes straight into the tool this afternoon, word for word. So say useful things."
Set the ground rule now: "Disagree with each other. If everybody agrees on the first answer, we haven't thought hard enough. Rank does not settle a design argument — the person who has actually done the job on the ground usually knows something the staff doesn't."
That last line matters if you have a Commander and a Specialist in the same room. Say it out loud and you will get participation from people who otherwise stay quiet.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paragraph aloud, or better, have a student read it.
Then set the stakes with the numbers: "Those aren't made up out of nothing — they're the scale of a real Louisiana flood fight. Around 1,400 Guardsmen, 160 high-water vehicles, 44 boats, three airframes. Seven parishes calling.
Now here's the part that should worry you: all of that is currently being tracked on a whiteboard and a spreadsheet on one laptop in the JOC."
Pause there. Let it land.
"And you are not being asked to fix this during a nice quiet planning cycle. The water is up. The requests are coming in right now. That constraint is real and it shapes what a good answer looks like — whatever you build has to be usable by a Battle NCO at 0300 who has not slept."
Key framing to plant for later: this is a life-safety system. When we get to priorities and escalation, "urgent" is not a business convenience. Somebody is on a 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Ask the question first, take answers on the whiteboard, and only then reveal the list to see what the room missed.
Ask, in this order:
1. "In one or two sentences — what is the core problem?"
2. "What is actually breaking? Walk me through one mission that went badly."
3. "It's six months from now and this worked. What's different?"
TARGET ANSWER: There is no single system of record for mission requests. Requests arrive on four uncoordinated channels and live on a whiteboard, so missions are lost at shift change, tasking is duplicated, the Commander has no current picture of committed versus available assets, and reporting is manual and stale.
WATCH FOR — and how to redirect:
· "We need an app." → "Maybe. Why? What's broken that an app fixes?" Keep them in problem space.
· "Get off the whiteboard." → "The whiteboard isn't the problem, it's the symptom. What goes wrong BECAUSE it's a whiteboard?"
· "It's inefficient." → "Inefficient how? Give me one mission that went sideways and tell me what happened to it."
· Silence → Read the six cards aloud and ask: "Which one of these gets somebody hurt first?"
The success question is the important one. Push until you get something countable — no mission unacknowledged past 15 minutes; CUB compiled in five minutes instead of 90; zero duplicate taskings. Vague success statements produce vague systems.
Write the agreed problem statement on the board and leave it up all day. You will point at it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HIGHEST-LEVERAGE QUESTION OF THE DAY. Do not rush it.
Plan Designer generates user roles FIRST and then hangs every user story, every app, and every permission off them. Two vague roles produce a thin, useless plan no matter how good the rest of the description is.
Ask: "Who submits? Who validates? Who tasks? Who executes? Who reports? Who decides?"
Then ask the question that unlocks the whole slide:
"Which of these people has a state Guard account?"
The Parish Emergency Manager does not. They're a parish civilian employee. Follow up: "So how does somebody with no account submit a request?" — and the room arrives at an external portal on its own instead of being told. That is the moment to make.
WATCH FOR:
· They forget the parishes entirely. Very common — the Guard-centric view. Ask: "Who is actually calling us? Are they in this room?"
· They forget the Commander. Ask: "Who signs the storyboard? Do they log into the same app as the Watch NCO?"
· "Users and admins." Too generic. "A Watch NCO logging a rescue request and a TF Commander standing in four feet of water need completely different screens."
· Nobody mentions the field. Push it: "Where is the Task Force Commander when they update status? What's their signal like?" This is where mobile and offline come from, and it is the requirement most teams miss.
For each role, get VERBS: the Watch NCO receives, logs, validates. The Battle Captain prioritizes, assigns, escalates. Those verbs become user stories almost word for word. Tell the room to watch for that this afternoon.
SECURITY THREAD — worth two minutes, especially with senior folks present: should Livingston Parish see St. Helena Parish's requests? Should a parish see which unit was tasked, or only that a mission is underway? Should the roster be visible outside the JOC? Decisions made here, not bolted 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in strict order: tables first, then columns, then choice values, then relationships, then rules. Don't let them jump to relationships before the tables exist.
TARGET: five tables as shown. Relationships — a mission belongs to a parish; a mission is assigned to a unit; a unit owns assets; personnel belong to a unit.
THREE MOMENTS WORTH SLOWING DOWN FOR:
1. CHOICE VALUES. When somebody says "we need a priority field," ask "priority of WHAT VALUES?" Make them say it out loud: Immediate for life safety, Priority for property and essential services, Routine for everything else. The lesson is portable and it's the single most useful prompting habit they'll take away — name the options, don't just name the field.
2. THE CLOSEOUT TIME. Ask: "The Commander wants to know whether we're meeting our response standard on Immediate missions. Which columns give you that number?" The room works out it needs both the time received and the time complete. A reporting requirement just created a data requirement. That's the moment the whole activity clicks — let it land.
3. WATER DEPTH AND ACCESS ROUTE. Ask: "What does the boat crew need to know before they roll that a normal help-desk ticket would never capture?" You'll get water depth, road status, bridge condition, hazards, whether there are animals, whether anyone is medical. This is where they realize a generic tracker won't do — the domain drives the data model.
WATCH FOR:
· Thirty columns on the mission table. "Which of these does a Watch NCO type at 0300 with a parish EM on the phone? Start there."
· One flat table. "How do you answer 'how many boats does Task Force Raven have committed' from one table?"
· Status as just open/closed. "If everything not-closed is open, how does the Battle Captain see what's en route versus what nobody has touched?"
· Free text where a choice belongs. "One person types Rescue, another types SAR, another types Search and Rescue. Now count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defuse the "I'm not technical enough for this" objection. It is the most reassuring two minutes of the day for a non-IT audience — do not skip it.
"Everybody in this room has filled out a 213RR. Look at what a 213RR actually is: it's a list of fields, with a couple of them restricted to set values, and an approval step in the middle.
That is a database table. You have been designing database tables your entire career. Nobody called it that.
The blocks on the left are the form you already know. The column on the right is what we're about to tell the tool to build. It's the same thing."
If you have a senior NCO in the room who looks skeptical, this is the slide that converts them. Ask one of them: "How many of these have you filled out?" Then: "So you already know what belongs on this table better than any developer does."
Worth adding: the paper form is also the fallback. When the network is down — and in a flood it will be — the 213RR is what the system degrades to. We'll come back to that in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decision rule, then immediately stress-test it.
THE RULE:
· Model-driven when the job is managing many records — queues, views, filters, dashboards.
· Canvas when the job is one specific task done fast, especially on a phone.
· Power Pages when the user is outside the organization and has no account.
Then break it on purpose: "By that rule, what does the Watch NCO get? Argue it both ways."
There's a real argument. A Watch NCO taking a phone call wants speed and a tight layout — that's canvas. A Watch NCO working a queue of forty open missions wants views and filters — that's model-driven. Let them fight about it. The argument IS the learning; the answer matters less than the reasoning.
THE QUESTION THAT UNSTICKS A QUIET ROOM: "It's 0300. The Task Force Commander is standing in water with one bar of signal and wet gloves. They open the app. What's on the screen? What do they tap first?"
That converts an abstract design question into a picture people can see, and the answer is a user story almost verbatim.
WATCH FOR:
· "Canvas, it looks better." → "What can it DO here that model-driven can't? Be specific about the task."
· "One app for everybody." → "Same app for the Commander and the parish EM? What does the parish see when they open it?"
· Nobody raises offline. Raise it yourself: "What happens when there's no signal? Does the app just fail?" Park the answer — it comes back in the fallback discussion.
The Commander column is worth a moment if leadership is present: "Sir/Ma'am, what would you want on that one screen?" Their answer is a real requirement and the room should hear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defined what the system holds. Now we define what it DOES on its own, without somebody remembering to do it.
Four topics: the automation, the escalation, whether an agent earns its place, and what the Commander needs to see. Then one more that a normal software class would never cover — what this thing does when the network goes down. In a flood, that's not a hypothetical."
Teams work the worksheet after this. Your job during the work block is to circulate and ask hard questions, not to give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Enforce the format hard: "WHEN [x] happens, [y] occurs." Any workflow that can't be written that way gets rewritten before it goes in the prompt. That structure is exactly how a flow is built, so a sharp trigger-action pair produces a sharp flow.
MINIMUM: teams need at least three. Four and five on this list are the ones that separate a real system from a demo.
The stale-mission flow (number 4) is worth arguing about. Ask: "Four hours — is that right? What's the number for an Immediate life-safety mission?" You'll get answers between 15 minutes and an hour. Good. That's a real operational decision and it belongs to them, not to the tool.
The shift-change flow (number 5) is the one that wins the room. "Right now the handover is a verbal brief and a photo of a whiteboard. What if the handover packet built itself at 0555?" Watch the Battle NCOs sit up.
WATCH FOR:
· "Send notifications." → "When? To whom? Give me the sentence."
· "Auto-assign to whoever is closest." → "How does the system know who's closest and who's free? What's the actual rule? If you can't state it, it can't run it."
· Fifteen workflows. → "Which three would the Watch NCO thank you for on the first shift? Build those."
· Only the happy path. → "What happens to a mission nobody has touched since midnight? Who finds out,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has no equivalent in a commercial version of this exercise, and it's the one that makes the scenario real.
"In a normal business system, 'urgent' means somebody's invoice is late. Here, Immediate means there are people on a roof and the water is still coming up. The difference between a fifteen-minute acknowledgement and a two-hour one is measured in something other than customer satisfaction."
Make them commit to numbers. Ask: "Ten minutes to acknowledge — too tight? Too loose? What can the Watch NCO actually do at 0300 when six parishes are calling?" There is no school solution. Their job is to pick numbers and defend them.
THE QUESTION THAT MAKES THIS LAND: "Who gets woken up, and at what point? Name the position." Vague escalation — 'it goes up the chain' — is how things die at 0300. The system needs a named position and a clock.
Second question, and it's a good one for senior leaders: "What's the escalation when the escalation fails? If the Battle Captain's phone is dead, then what?"
Tie it forward: the answer to that last one is the fallback plan, three slides from now.
NOTE FOR THE BUILD: this is a Power Automate flow with a delay and a condition. Teams should describe it in the prompt explicitly — 'if an Immediate priority mission is not acknowledged within 10 minutes, notify the Battle Captain.' Plan Designer will scaffold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question correctly or this turns into a gimmick discussion.
DO NOT ASK "do you want AI." ASK: "Look back at the problem list from this morning. Which of those problems could a conversation fix that a form can't?"
The answer is on the board already — requests arrive with no grid, no access route, no callback number. A form accepts whatever gets typed. An agent can ask the follow-up question. That's the justification, and it's a real one.
THE LEFT-HAND CARD is the recommended answer: a parish intake agent that improves data quality at the source. Point out that these are exactly the questions an experienced dispatcher asks — the agent is just making sure the question gets asked every time, including at 0300 on hour nineteen.
THE RIGHT-HAND CARD is the one that sells the room, particularly leadership. If the Commander is present, read those four questions out loud and watch. "Sir/Ma'am, that's the question you asked the J3 twice yesterday, and it took forty minutes to answer both times."
"NO AGENT" IS A LEGITIMATE ANSWER and you must say so. A team that argues 'our parish EMs are experienced professionals under time pressure who want a form with a confirmation number, not a chatbot' has done better analysis than a team that adds an agent because it was on the slide. Reward the reasoning, not the feature.
WATCH FOR:
· "An AI chatbot." → "What does it DO? What does the user say, and what does it do about it?"
· "It answers questions." → "From what? Mission records? The EOP? Both?"
· "It should do everything." → "Name three things it must handle. What does it do with a fourth?"
MOST USEFUL THING YOU CAN DO in this block: help each team write the literal sentence they'll paste into the tool. Then read one team's sentence to the room. It teaches specificity faster than any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reasons to do this now, and say both:
1. Reporting requirements validate the data model. You cannot report on what you didn't capture.
2. Defining the metrics before you build is a professional habit that outlives this tool.
BE HONEST ABOUT THE PRODUCT: Plan Designer will RECOMMEND a Power BI report. It does not build and connect one — that is currently a manual step. Say this now rather than letting teams discover it as a disappointment at the end. Frame it: "You're writing this list because the metrics shape your columns, and because you'll need this list anyway when somebody builds the report."
THE MOVE THAT MAKES THIS BLOCK WORTH THE TIME: for every metric a team proposes, ask "which columns produce that number?" Then send them back to their data model to check those columns exist. They will find gaps. Response time needs both a received time and a complete time. Asset availability needs an asset status field that someone actually updates. Accountability needs a duty status.
That discovery — a reporting need exposing a data model gap — is the strongest single lesson in Phase 2.
WATCH FOR:
· "A dashboard with everything." → "Answering what question? The Commander has ten seconds. What one number?"
· Metrics with no owner. → "Who opens this at 0500? What do they do differently based on what they see?"
· Nobody mentions accountability. → Raise it. "How do you know everybody who went out came back?" That reframes the system from a work tracker to a safety system, and with this audience it lands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why this scenario beats a commercial one, and it is the slide senior leaders will remember. Spend real time on it.
"Every software vendor demo assumes the network is up. You are planning for a flood. Cell towers go down. The state network has a bad day. A task force is operating out of a parish where there is no signal at all.
So: PACE. You already use it for comms. Use it for this."
Walk the four levels. The interesting one is EMERGENCY — the paper 213RR. Tie it back to the crosswalk slide: "This is why we looked at the 213RR this morning. Your database table and your paper fallback are the same fields. That is not a coincidence, it is a design decision — it means falling back doesn't mean losing data, it means changing the pen."
THE TWO QUESTIONS THAT GENERATE THE BEST DISCUSSION OF THE DAY:
1. "When the network comes back, who types in the twenty paper 213RRs — and while that's happening, how does the JOC avoid tasking the same mission twice?" There's no clean answer. Good. Real systems have this problem and somebody has to own it.
2. "What's the minimum this system has to do to be better than the whiteboard when it's degraded? Because if the degraded mode is worse than the whiteboard, nobody will trust the system when it's up either."
CONNECT TO THE APP DESIGN: this is where offline capability on the field canvas app stops being a nice-to-have. A task force commander with no signal needs to queue updates and sync later. That is a real requirement and it belongs in the prompt.
If you're short on time elsewhere in the day, protect this slide. Cut something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release them, assign roles inside each team. Say this explicitly — it prevents the usual failure where one person types and three watch:
· DRIVER — the only one editing the plan later. Shares their screen.
· READER — holds the worksheet and reads the prompt aloud while the driver types.
· CHALLENGER — checks what the tool generated against what the team actually asked for.
· TIMEKEEPER — watches the clock and calls the move to build.
Tell them the driver rotates after the plan generates.
IMPORTANT CONSTRAINT: only one person can edit a plan at a time. This is a product limitation, not a preference. If four people try, three get locked out and ten minutes evaporate. Say it now.
WHILE THEY WORK: circulate. Don't sit. Your questions at each table:
· "Read me your trigger for workflow two."
· "What's your clock on an Immediate mission, and why that number?"
· "Which columns produce metric three?"
· "What's your E in PACE?"
If a team is stuck for more than five minutes on one item, timebox them out loud: "Two more minutes, then write what you've got and move to Section C. You can refine it in the tool."
SHARE-OUT is a quality gate, not a presentation round. One item per team, sixty seconds. While they talk, check silently: does every team have three workflows, a defended agent decision, two or three metrics, and a fallback? Fix gaps at the table, not in front of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"Open your laptops. Go to make.powerapps.com and sign in with your training account.
Do not start yet — watch me first. I'm going to walk the whole path once so you know what you're looking at. Then you'll do it with your own design."
IMPORTANT: verify the current navigation path in your own tenant this morning. Entry points for this feature move. Tell the class what the path actually is today rather than what the handout says.
Also confirm before you start: every student is in the correct environment, and it has a Dataverse database. A student in the wrong environment will not see the feature and will lose twenty minutes before they say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this live on your own screen. Students watch, they do not follow along yet.
Read your own description out loud as you paste it so they hear what "specific" sounds like. Then point at the right-hand card: "Eight things. Your worksheet has all eight. You are not writing something new, you are transcribing what your team already decided."
THE LENGTH QUESTION WILL COME UP. About 3,000 words is the ceiling, images included. Show them that a good description is roughly two-thirds of a page — not an essay, not a sentence. Hold up the master prompt from Trainer Guide section 7 as the target shape.
ON IMAGES: uploading isn't enough. You have to tell it to use the image — "use the attached 213RR as the field list for the mission request table." If a team uploads a diagram and the tool ignores it, that's why.
RESCUE TOOL: keep the master prompt from Trainer Guide section 7 ready to paste in chat. Any team that hasn't written anything by the thirty-minute mark gets it with instructions to change three things to match their worksheet. A team that generates something imperfect has a good afternoon. A team still polishing a prompt at minute forty-five has nothing to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BEHAVIOR TO TEACH ON THIS SLIDE: the approval gates are not a formality. Most students will click straight through them and then complain the output was wrong.
"At each of these stages it stops and asks if it looks good. Do not just click through. That is the cheapest place in the entire process to fix something. Correcting the data model here costs you thirty seconds. Correcting it after you've built four apps costs you the afternoon."
Give them the check at each gate — the third column on this slide is exactly what to look for:
· Stage 1: five roles, not two. Is the parish EM in there as an external role?
· Stage 2: did your choice values survive? Immediate, Priority, Routine? Is there a completion time?
· Stage 3: did the parish get a portal and not just another internal app?
DEMONSTRATE A REFINEMENT LIVE. Type a correction in plain language and let them see it change. That's the moment people stop being intimidated by it.
EXPECTATION SETTING: two teams with near-identical descriptions will get different plans. It's generative, not deterministic. Say this before somebody asks "why is theirs different from ours."
CHECKPOINT: everyone should reach Save tables by the time you call it. Chase any team that hasn't — go to them, don't announce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EXPECTATION BEFORE THEY BUILD, not after. This is the difference between a class that is impressed and a class that is disappointed.
"What you are about to get is scaffolding. Data-connected screens, flows with the prompt already filled in, an agent that knows about your tables. What you are NOT about to get is a finished system. Nothing publishes itself. Every one of these needs work before anyone would use it in a real operation.
That's not a failure of the tool. In a real delivery, what you just did in one hour is the first two weeks."
KNOWN ISSUES TO GET AHEAD OF:
· Power Pages may not generate in this tenant — it needs elevated permissions. If it fails, that's an environment permission issue, not a design failure. It's also a genuinely useful lesson about the gap between designing something and being allowed to deploy it.
· Power BI is a recommendation only. It won't build and connect a report.
· Flows arrive as a prefilled prompt, not a finished flow.
WHILE THEY EXPLORE, circulate with one question: "Show me the thing you asked for that it didn't do." That's the material for the AAR, and teams that hunt for it come back with much better observations than teams that just admire the output.
If you're short on time, cut this to three items: the model-driven app, one flow, and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them. Then circulate constantly — do not sit down.
YOUR CHECK-IN QUESTIONS, in order of usefulness:
1. "Read your description back to me." If it doesn't name the roles, the workflows, and the metrics, it isn't done.
2. "Show me your user stories. Do they match your five roles?"
3. "What did you correct at the data model gate?" If the answer is nothing, they clicked through — send them back.
4. "Show me the thing it got wrong."
TIME DISCIPLINE (counting team working minutes, not counting the break):
· 25 minutes in — every team should have generated something. Anyone still writing gets the master prompt.
· 35 minutes in — every team should be past Save tables. This is your hard checkpoint.
· 45 minutes in — stop refining, start creating artifacts. Announce it.
· 80 minutes in — AAR sheets out, laptops closing.
WATCH FOR THE TEAM THAT GOES QUIET. It usually means one person took the keyboard and the others disengaged. Fix it by asking a question directly to a non-driver: "What did your team ask for that you're not seeing?"
If a team finishes early: have them swap descriptions with another team and generate the other team's plan. Comparing two outputs from two descriptions of the same scenario is the single most persuasive thing that happens all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AAR language, not "debrief" — this audience knows the format and will engage with it properly.
RUN IT PROPERLY: sustain first, then improve. Everyone writes before anyone talks — ten silent minutes on the AAR sheet. Otherwise the first team's answer becomes the room's answer.
WHAT TO LISTEN FOR:
On SUSTAIN — surprise at the user stories is the most common and most telling. That's the requirements engine showing its work, and it's what experienced planners find genuinely useful.
On IMPROVE — you want: nothing published, apps are scaffolds, the agent has no triggers, Power BI was a recommendation, the portal may not have generated. Affirm every one. That is expected behavior, and naming it is the mark of somebody who understands the tool rather than being impressed by it.
THE MONEY MOMENT: if two teams got noticeably different results, put both descriptions up side by side and read them out. Two minutes. It is the most persuasive thing that happens all day and no amount of explaining substitutes for it.
CLOSE WITH THE THIRD TAKEAWAY and make it personal: "Go back to your shop on Monday. What's the first thing you'd point this at?" That converts a training day into an intention, and it usually produces the best conversation in the room.
IF LEADERSHIP IS PRESENT: give them the last word. Ask directly whether what they saw changes anything about how they'd want a requirement written. Their answer is worth more to the room than anything you can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under two minutes.
"One line to take with you: the description is the system. The tool you used today will be replaced. The habit of describing a mission problem precisely enough that somebody else can build it — that outlives every tool.
Your worksheet is not an exercise artifact. It is a requirement document. If you walked into a vendor meeting or a J6 shop with those four sections filled in, you would be ahead of most of the requirements that cross their desk.
Take it with you."
Then the practical close: point them to where the implementation guide and student workbook live, and remind them that all rosters and contacts in the package are placeholders to be filled from their own authoritative sources.
If leadership is present, thank them by name for sitting through it — their presence is what made the escalation and reporting discussions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8732520" y="-1371600"/>
            <a:ext cx="5669280" cy="5669280"/>
          </a:xfrm>
          <a:prstGeom prst="ellipse">
            <a:avLst/>
          </a:prstGeom>
          <a:solidFill>
            <a:srgbClr val="17567A"/>
          </a:solidFill>
          <a:ln/>
        </p:spPr>
      </p:sp>
      <p:sp>
        <p:nvSpPr>
          <p:cNvPr id="3" name="Shape 1"/>
          <p:cNvSpPr/>
          <p:nvPr/>
        </p:nvSpPr>
        <p:spPr>
          <a:xfrm>
            <a:off x="10241280" y="3108960"/>
            <a:ext cx="3108960" cy="3108960"/>
          </a:xfrm>
          <a:prstGeom prst="ellipse">
            <a:avLst/>
          </a:prstGeom>
          <a:solidFill>
            <a:srgbClr val="E8792B"/>
          </a:solidFill>
          <a:ln/>
        </p:spPr>
      </p:sp>
      <p:sp>
        <p:nvSpPr>
          <p:cNvPr id="4" name="Text 2"/>
          <p:cNvSpPr txBox="1"/>
          <p:nvPr/>
        </p:nvSpPr>
        <p:spPr>
          <a:xfrm>
            <a:off x="640080" y="1874520"/>
            <a:ext cx="7863840" cy="274320"/>
          </a:xfrm>
          <a:prstGeom prst="rect">
            <a:avLst/>
          </a:prstGeom>
          <a:noFill/>
          <a:ln/>
        </p:spPr>
        <p:txBody>
          <a:bodyPr wrap="square" lIns="0" tIns="0" rIns="0" bIns="0" rtlCol="0" anchor="ctr"/>
          <a:lstStyle/>
          <a:p>
            <a:pPr indent="0" marL="0">
              <a:buNone/>
            </a:pPr>
            <a:r>
              <a:rPr lang="en-US" sz="1250" b="1" spc="250" kern="0" dirty="0">
                <a:solidFill>
                  <a:srgbClr val="E8792B"/>
                </a:solidFill>
                <a:latin typeface="Calibri" pitchFamily="34" charset="0"/>
                <a:ea typeface="Calibri" pitchFamily="34" charset="-122"/>
                <a:cs typeface="Calibri" pitchFamily="34" charset="-120"/>
              </a:rPr>
              <a:t>OPERATION CAJUN SHIELD</a:t>
            </a:r>
            <a:endParaRPr lang="en-US" sz="1250" dirty="0"/>
          </a:p>
        </p:txBody>
      </p:sp>
      <p:sp>
        <p:nvSpPr>
          <p:cNvPr id="5" name="Text 3"/>
          <p:cNvSpPr txBox="1"/>
          <p:nvPr/>
        </p:nvSpPr>
        <p:spPr>
          <a:xfrm>
            <a:off x="640080" y="2286000"/>
            <a:ext cx="7863840" cy="173736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Build a Business Solution</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with Plan Designer</a:t>
            </a:r>
            <a:endParaRPr lang="en-US" sz="4200" dirty="0"/>
          </a:p>
        </p:txBody>
      </p:sp>
      <p:sp>
        <p:nvSpPr>
          <p:cNvPr id="6" name="Text 4"/>
          <p:cNvSpPr txBox="1"/>
          <p:nvPr/>
        </p:nvSpPr>
        <p:spPr>
          <a:xfrm>
            <a:off x="640080" y="4160520"/>
            <a:ext cx="7863840" cy="320040"/>
          </a:xfrm>
          <a:prstGeom prst="rect">
            <a:avLst/>
          </a:prstGeom>
          <a:noFill/>
          <a:ln/>
        </p:spPr>
        <p:txBody>
          <a:bodyPr wrap="square" lIns="0" tIns="0" rIns="0" bIns="0" rtlCol="0" anchor="ctr"/>
          <a:lstStyle/>
          <a:p>
            <a:pPr indent="0" marL="0">
              <a:buNone/>
            </a:pPr>
            <a:r>
              <a:rPr lang="en-US" sz="1600" dirty="0">
                <a:solidFill>
                  <a:srgbClr val="BFD2E0"/>
                </a:solidFill>
                <a:latin typeface="Calibri" pitchFamily="34" charset="0"/>
                <a:ea typeface="Calibri" pitchFamily="34" charset="-122"/>
                <a:cs typeface="Calibri" pitchFamily="34" charset="-120"/>
              </a:rPr>
              <a:t>Flood Response Mission Tracking  ·  Half-Day Group Activity</a:t>
            </a:r>
            <a:endParaRPr lang="en-US" sz="1600" dirty="0"/>
          </a:p>
        </p:txBody>
      </p:sp>
      <p:sp>
        <p:nvSpPr>
          <p:cNvPr id="7" name="Text 5"/>
          <p:cNvSpPr txBox="1"/>
          <p:nvPr/>
        </p:nvSpPr>
        <p:spPr>
          <a:xfrm>
            <a:off x="640080" y="5852160"/>
            <a:ext cx="7863840" cy="274320"/>
          </a:xfrm>
          <a:prstGeom prst="rect">
            <a:avLst/>
          </a:prstGeom>
          <a:noFill/>
          <a:ln/>
        </p:spPr>
        <p:txBody>
          <a:bodyPr wrap="square" lIns="0" tIns="0" rIns="0" bIns="0" rtlCol="0" anchor="ctr"/>
          <a:lstStyle/>
          <a:p>
            <a:pPr indent="0" marL="0">
              <a:buNone/>
            </a:pPr>
            <a:r>
              <a:rPr lang="en-US" sz="1100" b="1" spc="100" kern="0" dirty="0">
                <a:solidFill>
                  <a:srgbClr val="E8792B"/>
                </a:solidFill>
                <a:latin typeface="Calibri" pitchFamily="34" charset="0"/>
                <a:ea typeface="Calibri" pitchFamily="34" charset="-122"/>
                <a:cs typeface="Calibri" pitchFamily="34" charset="-120"/>
              </a:rPr>
              <a:t>EXERCISE — TRAINING USE ONLY  ·  All units, names, and contacts are notional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AGENDA</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How the day runs</a:t>
            </a:r>
            <a:endParaRPr lang="en-US" sz="3000" dirty="0"/>
          </a:p>
        </p:txBody>
      </p:sp>
      <p:sp>
        <p:nvSpPr>
          <p:cNvPr id="4" name="Shape 2"/>
          <p:cNvSpPr/>
          <p:nvPr/>
        </p:nvSpPr>
        <p:spPr>
          <a:xfrm>
            <a:off x="640080" y="1828800"/>
            <a:ext cx="10908792" cy="914400"/>
          </a:xfrm>
          <a:prstGeom prst="roundRect">
            <a:avLst>
              <a:gd name="adj" fmla="val 6000"/>
            </a:avLst>
          </a:prstGeom>
          <a:solidFill>
            <a:srgbClr val="F5F7F9"/>
          </a:solidFill>
          <a:ln/>
        </p:spPr>
      </p:sp>
      <p:sp>
        <p:nvSpPr>
          <p:cNvPr id="5" name="Shape 3"/>
          <p:cNvSpPr/>
          <p:nvPr/>
        </p:nvSpPr>
        <p:spPr>
          <a:xfrm>
            <a:off x="914400" y="2075688"/>
            <a:ext cx="420624" cy="420624"/>
          </a:xfrm>
          <a:prstGeom prst="ellipse">
            <a:avLst/>
          </a:prstGeom>
          <a:solidFill>
            <a:srgbClr val="E8792B"/>
          </a:solidFill>
          <a:ln/>
        </p:spPr>
      </p:sp>
      <p:sp>
        <p:nvSpPr>
          <p:cNvPr id="6" name="Text 4"/>
          <p:cNvSpPr txBox="1"/>
          <p:nvPr/>
        </p:nvSpPr>
        <p:spPr>
          <a:xfrm>
            <a:off x="914400" y="20756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536192" y="2057400"/>
            <a:ext cx="8458200" cy="292608"/>
          </a:xfrm>
          <a:prstGeom prst="rect">
            <a:avLst/>
          </a:prstGeom>
          <a:noFill/>
          <a:ln/>
        </p:spPr>
        <p:txBody>
          <a:bodyPr wrap="square" lIns="0" tIns="0" rIns="0" bIns="0" rtlCol="0" anchor="ctr"/>
          <a:lstStyle/>
          <a:p>
            <a:pPr indent="0" marL="0">
              <a:buNone/>
            </a:pPr>
            <a:r>
              <a:rPr lang="en-US" sz="1500" b="1" dirty="0">
                <a:solidFill>
                  <a:srgbClr val="0B2942"/>
                </a:solidFill>
                <a:latin typeface="Calibri" pitchFamily="34" charset="0"/>
                <a:ea typeface="Calibri" pitchFamily="34" charset="-122"/>
                <a:cs typeface="Calibri" pitchFamily="34" charset="-120"/>
              </a:rPr>
              <a:t>Phase 1 — Discovery</a:t>
            </a:r>
            <a:endParaRPr lang="en-US" sz="1500" dirty="0"/>
          </a:p>
        </p:txBody>
      </p:sp>
      <p:sp>
        <p:nvSpPr>
          <p:cNvPr id="8" name="Text 6"/>
          <p:cNvSpPr txBox="1"/>
          <p:nvPr/>
        </p:nvSpPr>
        <p:spPr>
          <a:xfrm>
            <a:off x="1536192" y="2350008"/>
            <a:ext cx="8458200" cy="365760"/>
          </a:xfrm>
          <a:prstGeom prst="rect">
            <a:avLst/>
          </a:prstGeom>
          <a:noFill/>
          <a:ln/>
        </p:spPr>
        <p:txBody>
          <a:bodyPr wrap="square" lIns="0" tIns="0" rIns="0" bIns="0" rtlCol="0" anchor="ctr"/>
          <a:lstStyle/>
          <a:p>
            <a:pPr indent="0" marL="0">
              <a:lnSpc>
                <a:spcPts val="1600"/>
              </a:lnSpc>
              <a:buNone/>
            </a:pPr>
            <a:r>
              <a:rPr lang="en-US" sz="1250" dirty="0">
                <a:solidFill>
                  <a:srgbClr val="5E7185"/>
                </a:solidFill>
                <a:latin typeface="Calibri" pitchFamily="34" charset="0"/>
                <a:ea typeface="Calibri" pitchFamily="34" charset="-122"/>
                <a:cs typeface="Calibri" pitchFamily="34" charset="-120"/>
              </a:rPr>
              <a:t>Define the problem, the users, and what the system has to hold. Laptops closed.</a:t>
            </a:r>
            <a:endParaRPr lang="en-US" sz="1250" dirty="0"/>
          </a:p>
        </p:txBody>
      </p:sp>
      <p:sp>
        <p:nvSpPr>
          <p:cNvPr id="9" name="Text 7"/>
          <p:cNvSpPr txBox="1"/>
          <p:nvPr/>
        </p:nvSpPr>
        <p:spPr>
          <a:xfrm>
            <a:off x="10040112" y="2103120"/>
            <a:ext cx="1234440" cy="365760"/>
          </a:xfrm>
          <a:prstGeom prst="rect">
            <a:avLst/>
          </a:prstGeom>
          <a:noFill/>
          <a:ln/>
        </p:spPr>
        <p:txBody>
          <a:bodyPr wrap="square" lIns="0" tIns="0" rIns="0" bIns="0" rtlCol="0" anchor="ctr"/>
          <a:lstStyle/>
          <a:p>
            <a:pPr algn="r" indent="0" marL="0">
              <a:buNone/>
            </a:pPr>
            <a:r>
              <a:rPr lang="en-US" sz="1500" b="1" dirty="0">
                <a:solidFill>
                  <a:srgbClr val="E8792B"/>
                </a:solidFill>
                <a:latin typeface="Calibri" pitchFamily="34" charset="0"/>
                <a:ea typeface="Calibri" pitchFamily="34" charset="-122"/>
                <a:cs typeface="Calibri" pitchFamily="34" charset="-120"/>
              </a:rPr>
              <a:t>45 min</a:t>
            </a:r>
            <a:endParaRPr lang="en-US" sz="1500" dirty="0"/>
          </a:p>
        </p:txBody>
      </p:sp>
      <p:sp>
        <p:nvSpPr>
          <p:cNvPr id="10" name="Shape 8"/>
          <p:cNvSpPr/>
          <p:nvPr/>
        </p:nvSpPr>
        <p:spPr>
          <a:xfrm>
            <a:off x="640080" y="2871216"/>
            <a:ext cx="10908792" cy="914400"/>
          </a:xfrm>
          <a:prstGeom prst="roundRect">
            <a:avLst>
              <a:gd name="adj" fmla="val 6000"/>
            </a:avLst>
          </a:prstGeom>
          <a:solidFill>
            <a:srgbClr val="F5F7F9"/>
          </a:solidFill>
          <a:ln/>
        </p:spPr>
      </p:sp>
      <p:sp>
        <p:nvSpPr>
          <p:cNvPr id="11" name="Shape 9"/>
          <p:cNvSpPr/>
          <p:nvPr/>
        </p:nvSpPr>
        <p:spPr>
          <a:xfrm>
            <a:off x="914400" y="3118104"/>
            <a:ext cx="420624" cy="420624"/>
          </a:xfrm>
          <a:prstGeom prst="ellipse">
            <a:avLst/>
          </a:prstGeom>
          <a:solidFill>
            <a:srgbClr val="E8792B"/>
          </a:solidFill>
          <a:ln/>
        </p:spPr>
      </p:sp>
      <p:sp>
        <p:nvSpPr>
          <p:cNvPr id="12" name="Text 10"/>
          <p:cNvSpPr txBox="1"/>
          <p:nvPr/>
        </p:nvSpPr>
        <p:spPr>
          <a:xfrm>
            <a:off x="914400" y="311810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536192" y="3099816"/>
            <a:ext cx="8458200" cy="292608"/>
          </a:xfrm>
          <a:prstGeom prst="rect">
            <a:avLst/>
          </a:prstGeom>
          <a:noFill/>
          <a:ln/>
        </p:spPr>
        <p:txBody>
          <a:bodyPr wrap="square" lIns="0" tIns="0" rIns="0" bIns="0" rtlCol="0" anchor="ctr"/>
          <a:lstStyle/>
          <a:p>
            <a:pPr indent="0" marL="0">
              <a:buNone/>
            </a:pPr>
            <a:r>
              <a:rPr lang="en-US" sz="1500" b="1" dirty="0">
                <a:solidFill>
                  <a:srgbClr val="0B2942"/>
                </a:solidFill>
                <a:latin typeface="Calibri" pitchFamily="34" charset="0"/>
                <a:ea typeface="Calibri" pitchFamily="34" charset="-122"/>
                <a:cs typeface="Calibri" pitchFamily="34" charset="-120"/>
              </a:rPr>
              <a:t>Phase 2 — Design</a:t>
            </a:r>
            <a:endParaRPr lang="en-US" sz="1500" dirty="0"/>
          </a:p>
        </p:txBody>
      </p:sp>
      <p:sp>
        <p:nvSpPr>
          <p:cNvPr id="14" name="Text 12"/>
          <p:cNvSpPr txBox="1"/>
          <p:nvPr/>
        </p:nvSpPr>
        <p:spPr>
          <a:xfrm>
            <a:off x="1536192" y="3392424"/>
            <a:ext cx="8458200" cy="365760"/>
          </a:xfrm>
          <a:prstGeom prst="rect">
            <a:avLst/>
          </a:prstGeom>
          <a:noFill/>
          <a:ln/>
        </p:spPr>
        <p:txBody>
          <a:bodyPr wrap="square" lIns="0" tIns="0" rIns="0" bIns="0" rtlCol="0" anchor="ctr"/>
          <a:lstStyle/>
          <a:p>
            <a:pPr indent="0" marL="0">
              <a:lnSpc>
                <a:spcPts val="1600"/>
              </a:lnSpc>
              <a:buNone/>
            </a:pPr>
            <a:r>
              <a:rPr lang="en-US" sz="1250" dirty="0">
                <a:solidFill>
                  <a:srgbClr val="5E7185"/>
                </a:solidFill>
                <a:latin typeface="Calibri" pitchFamily="34" charset="0"/>
                <a:ea typeface="Calibri" pitchFamily="34" charset="-122"/>
                <a:cs typeface="Calibri" pitchFamily="34" charset="-120"/>
              </a:rPr>
              <a:t>Map the workflows, the agent, the reporting, and the degraded-ops fallback.</a:t>
            </a:r>
            <a:endParaRPr lang="en-US" sz="1250" dirty="0"/>
          </a:p>
        </p:txBody>
      </p:sp>
      <p:sp>
        <p:nvSpPr>
          <p:cNvPr id="15" name="Text 13"/>
          <p:cNvSpPr txBox="1"/>
          <p:nvPr/>
        </p:nvSpPr>
        <p:spPr>
          <a:xfrm>
            <a:off x="10040112" y="3145536"/>
            <a:ext cx="1234440" cy="365760"/>
          </a:xfrm>
          <a:prstGeom prst="rect">
            <a:avLst/>
          </a:prstGeom>
          <a:noFill/>
          <a:ln/>
        </p:spPr>
        <p:txBody>
          <a:bodyPr wrap="square" lIns="0" tIns="0" rIns="0" bIns="0" rtlCol="0" anchor="ctr"/>
          <a:lstStyle/>
          <a:p>
            <a:pPr algn="r" indent="0" marL="0">
              <a:buNone/>
            </a:pPr>
            <a:r>
              <a:rPr lang="en-US" sz="1500" b="1" dirty="0">
                <a:solidFill>
                  <a:srgbClr val="E8792B"/>
                </a:solidFill>
                <a:latin typeface="Calibri" pitchFamily="34" charset="0"/>
                <a:ea typeface="Calibri" pitchFamily="34" charset="-122"/>
                <a:cs typeface="Calibri" pitchFamily="34" charset="-120"/>
              </a:rPr>
              <a:t>70 min</a:t>
            </a:r>
            <a:endParaRPr lang="en-US" sz="1500" dirty="0"/>
          </a:p>
        </p:txBody>
      </p:sp>
      <p:sp>
        <p:nvSpPr>
          <p:cNvPr id="16" name="Shape 14"/>
          <p:cNvSpPr/>
          <p:nvPr/>
        </p:nvSpPr>
        <p:spPr>
          <a:xfrm>
            <a:off x="640080" y="3913632"/>
            <a:ext cx="10908792" cy="914400"/>
          </a:xfrm>
          <a:prstGeom prst="roundRect">
            <a:avLst>
              <a:gd name="adj" fmla="val 6000"/>
            </a:avLst>
          </a:prstGeom>
          <a:solidFill>
            <a:srgbClr val="F5F7F9"/>
          </a:solidFill>
          <a:ln/>
        </p:spPr>
      </p:sp>
      <p:sp>
        <p:nvSpPr>
          <p:cNvPr id="17" name="Shape 15"/>
          <p:cNvSpPr/>
          <p:nvPr/>
        </p:nvSpPr>
        <p:spPr>
          <a:xfrm>
            <a:off x="914400" y="4160520"/>
            <a:ext cx="420624" cy="420624"/>
          </a:xfrm>
          <a:prstGeom prst="ellipse">
            <a:avLst/>
          </a:prstGeom>
          <a:solidFill>
            <a:srgbClr val="E8792B"/>
          </a:solidFill>
          <a:ln/>
        </p:spPr>
      </p:sp>
      <p:sp>
        <p:nvSpPr>
          <p:cNvPr id="18" name="Text 16"/>
          <p:cNvSpPr txBox="1"/>
          <p:nvPr/>
        </p:nvSpPr>
        <p:spPr>
          <a:xfrm>
            <a:off x="914400" y="41605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536192" y="4142232"/>
            <a:ext cx="8458200" cy="292608"/>
          </a:xfrm>
          <a:prstGeom prst="rect">
            <a:avLst/>
          </a:prstGeom>
          <a:noFill/>
          <a:ln/>
        </p:spPr>
        <p:txBody>
          <a:bodyPr wrap="square" lIns="0" tIns="0" rIns="0" bIns="0" rtlCol="0" anchor="ctr"/>
          <a:lstStyle/>
          <a:p>
            <a:pPr indent="0" marL="0">
              <a:buNone/>
            </a:pPr>
            <a:r>
              <a:rPr lang="en-US" sz="1500" b="1" dirty="0">
                <a:solidFill>
                  <a:srgbClr val="0B2942"/>
                </a:solidFill>
                <a:latin typeface="Calibri" pitchFamily="34" charset="0"/>
                <a:ea typeface="Calibri" pitchFamily="34" charset="-122"/>
                <a:cs typeface="Calibri" pitchFamily="34" charset="-120"/>
              </a:rPr>
              <a:t>Phase 3 — Build</a:t>
            </a:r>
            <a:endParaRPr lang="en-US" sz="1500" dirty="0"/>
          </a:p>
        </p:txBody>
      </p:sp>
      <p:sp>
        <p:nvSpPr>
          <p:cNvPr id="20" name="Text 18"/>
          <p:cNvSpPr txBox="1"/>
          <p:nvPr/>
        </p:nvSpPr>
        <p:spPr>
          <a:xfrm>
            <a:off x="1536192" y="4434840"/>
            <a:ext cx="8458200" cy="365760"/>
          </a:xfrm>
          <a:prstGeom prst="rect">
            <a:avLst/>
          </a:prstGeom>
          <a:noFill/>
          <a:ln/>
        </p:spPr>
        <p:txBody>
          <a:bodyPr wrap="square" lIns="0" tIns="0" rIns="0" bIns="0" rtlCol="0" anchor="ctr"/>
          <a:lstStyle/>
          <a:p>
            <a:pPr indent="0" marL="0">
              <a:lnSpc>
                <a:spcPts val="1600"/>
              </a:lnSpc>
              <a:buNone/>
            </a:pPr>
            <a:r>
              <a:rPr lang="en-US" sz="1250" dirty="0">
                <a:solidFill>
                  <a:srgbClr val="5E7185"/>
                </a:solidFill>
                <a:latin typeface="Calibri" pitchFamily="34" charset="0"/>
                <a:ea typeface="Calibri" pitchFamily="34" charset="-122"/>
                <a:cs typeface="Calibri" pitchFamily="34" charset="-120"/>
              </a:rPr>
              <a:t>Generate the solution in Plan Designer, then explore what it produced.</a:t>
            </a:r>
            <a:endParaRPr lang="en-US" sz="1250" dirty="0"/>
          </a:p>
        </p:txBody>
      </p:sp>
      <p:sp>
        <p:nvSpPr>
          <p:cNvPr id="21" name="Text 19"/>
          <p:cNvSpPr txBox="1"/>
          <p:nvPr/>
        </p:nvSpPr>
        <p:spPr>
          <a:xfrm>
            <a:off x="10040112" y="4187952"/>
            <a:ext cx="1234440" cy="365760"/>
          </a:xfrm>
          <a:prstGeom prst="rect">
            <a:avLst/>
          </a:prstGeom>
          <a:noFill/>
          <a:ln/>
        </p:spPr>
        <p:txBody>
          <a:bodyPr wrap="square" lIns="0" tIns="0" rIns="0" bIns="0" rtlCol="0" anchor="ctr"/>
          <a:lstStyle/>
          <a:p>
            <a:pPr algn="r" indent="0" marL="0">
              <a:buNone/>
            </a:pPr>
            <a:r>
              <a:rPr lang="en-US" sz="1500" b="1" dirty="0">
                <a:solidFill>
                  <a:srgbClr val="E8792B"/>
                </a:solidFill>
                <a:latin typeface="Calibri" pitchFamily="34" charset="0"/>
                <a:ea typeface="Calibri" pitchFamily="34" charset="-122"/>
                <a:cs typeface="Calibri" pitchFamily="34" charset="-120"/>
              </a:rPr>
              <a:t>2 hr</a:t>
            </a:r>
            <a:endParaRPr lang="en-US" sz="1500" dirty="0"/>
          </a:p>
        </p:txBody>
      </p:sp>
      <p:sp>
        <p:nvSpPr>
          <p:cNvPr id="22" name="Shape 20"/>
          <p:cNvSpPr/>
          <p:nvPr/>
        </p:nvSpPr>
        <p:spPr>
          <a:xfrm>
            <a:off x="640080" y="4956048"/>
            <a:ext cx="10908792" cy="914400"/>
          </a:xfrm>
          <a:prstGeom prst="roundRect">
            <a:avLst>
              <a:gd name="adj" fmla="val 6000"/>
            </a:avLst>
          </a:prstGeom>
          <a:solidFill>
            <a:srgbClr val="F5F7F9"/>
          </a:solidFill>
          <a:ln/>
        </p:spPr>
      </p:sp>
      <p:sp>
        <p:nvSpPr>
          <p:cNvPr id="23" name="Shape 21"/>
          <p:cNvSpPr/>
          <p:nvPr/>
        </p:nvSpPr>
        <p:spPr>
          <a:xfrm>
            <a:off x="914400" y="5202936"/>
            <a:ext cx="420624" cy="420624"/>
          </a:xfrm>
          <a:prstGeom prst="ellipse">
            <a:avLst/>
          </a:prstGeom>
          <a:solidFill>
            <a:srgbClr val="E8792B"/>
          </a:solidFill>
          <a:ln/>
        </p:spPr>
      </p:sp>
      <p:sp>
        <p:nvSpPr>
          <p:cNvPr id="24" name="Text 22"/>
          <p:cNvSpPr txBox="1"/>
          <p:nvPr/>
        </p:nvSpPr>
        <p:spPr>
          <a:xfrm>
            <a:off x="914400" y="52029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1536192" y="5184648"/>
            <a:ext cx="8458200" cy="292608"/>
          </a:xfrm>
          <a:prstGeom prst="rect">
            <a:avLst/>
          </a:prstGeom>
          <a:noFill/>
          <a:ln/>
        </p:spPr>
        <p:txBody>
          <a:bodyPr wrap="square" lIns="0" tIns="0" rIns="0" bIns="0" rtlCol="0" anchor="ctr"/>
          <a:lstStyle/>
          <a:p>
            <a:pPr indent="0" marL="0">
              <a:buNone/>
            </a:pPr>
            <a:r>
              <a:rPr lang="en-US" sz="1500" b="1" dirty="0">
                <a:solidFill>
                  <a:srgbClr val="0B2942"/>
                </a:solidFill>
                <a:latin typeface="Calibri" pitchFamily="34" charset="0"/>
                <a:ea typeface="Calibri" pitchFamily="34" charset="-122"/>
                <a:cs typeface="Calibri" pitchFamily="34" charset="-120"/>
              </a:rPr>
              <a:t>After Action Review</a:t>
            </a:r>
            <a:endParaRPr lang="en-US" sz="1500" dirty="0"/>
          </a:p>
        </p:txBody>
      </p:sp>
      <p:sp>
        <p:nvSpPr>
          <p:cNvPr id="26" name="Text 24"/>
          <p:cNvSpPr txBox="1"/>
          <p:nvPr/>
        </p:nvSpPr>
        <p:spPr>
          <a:xfrm>
            <a:off x="1536192" y="5477256"/>
            <a:ext cx="8458200" cy="365760"/>
          </a:xfrm>
          <a:prstGeom prst="rect">
            <a:avLst/>
          </a:prstGeom>
          <a:noFill/>
          <a:ln/>
        </p:spPr>
        <p:txBody>
          <a:bodyPr wrap="square" lIns="0" tIns="0" rIns="0" bIns="0" rtlCol="0" anchor="ctr"/>
          <a:lstStyle/>
          <a:p>
            <a:pPr indent="0" marL="0">
              <a:lnSpc>
                <a:spcPts val="1600"/>
              </a:lnSpc>
              <a:buNone/>
            </a:pPr>
            <a:r>
              <a:rPr lang="en-US" sz="1250" dirty="0">
                <a:solidFill>
                  <a:srgbClr val="5E7185"/>
                </a:solidFill>
                <a:latin typeface="Calibri" pitchFamily="34" charset="0"/>
                <a:ea typeface="Calibri" pitchFamily="34" charset="-122"/>
                <a:cs typeface="Calibri" pitchFamily="34" charset="-120"/>
              </a:rPr>
              <a:t>What worked, what didn't, what you'd take back to your shop.</a:t>
            </a:r>
            <a:endParaRPr lang="en-US" sz="1250" dirty="0"/>
          </a:p>
        </p:txBody>
      </p:sp>
      <p:sp>
        <p:nvSpPr>
          <p:cNvPr id="27" name="Text 25"/>
          <p:cNvSpPr txBox="1"/>
          <p:nvPr/>
        </p:nvSpPr>
        <p:spPr>
          <a:xfrm>
            <a:off x="10040112" y="5230368"/>
            <a:ext cx="1234440" cy="365760"/>
          </a:xfrm>
          <a:prstGeom prst="rect">
            <a:avLst/>
          </a:prstGeom>
          <a:noFill/>
          <a:ln/>
        </p:spPr>
        <p:txBody>
          <a:bodyPr wrap="square" lIns="0" tIns="0" rIns="0" bIns="0" rtlCol="0" anchor="ctr"/>
          <a:lstStyle/>
          <a:p>
            <a:pPr algn="r" indent="0" marL="0">
              <a:buNone/>
            </a:pPr>
            <a:r>
              <a:rPr lang="en-US" sz="1500" b="1" dirty="0">
                <a:solidFill>
                  <a:srgbClr val="E8792B"/>
                </a:solidFill>
                <a:latin typeface="Calibri" pitchFamily="34" charset="0"/>
                <a:ea typeface="Calibri" pitchFamily="34" charset="-122"/>
                <a:cs typeface="Calibri" pitchFamily="34" charset="-120"/>
              </a:rPr>
              <a:t>30 min</a:t>
            </a:r>
            <a:endParaRPr lang="en-US" sz="1500" dirty="0"/>
          </a:p>
        </p:txBody>
      </p:sp>
      <p:sp>
        <p:nvSpPr>
          <p:cNvPr id="28" name="Text 26"/>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What you'll be able to do by the end of today</a:t>
            </a:r>
            <a:endParaRPr lang="en-US" sz="3000" dirty="0"/>
          </a:p>
        </p:txBody>
      </p:sp>
      <p:sp>
        <p:nvSpPr>
          <p:cNvPr id="4" name="Shape 2"/>
          <p:cNvSpPr/>
          <p:nvPr/>
        </p:nvSpPr>
        <p:spPr>
          <a:xfrm>
            <a:off x="640080" y="1874520"/>
            <a:ext cx="5317236" cy="1600200"/>
          </a:xfrm>
          <a:prstGeom prst="roundRect">
            <a:avLst>
              <a:gd name="adj" fmla="val 3429"/>
            </a:avLst>
          </a:prstGeom>
          <a:solidFill>
            <a:srgbClr val="F5F7F9"/>
          </a:solidFill>
          <a:ln/>
        </p:spPr>
      </p:sp>
      <p:sp>
        <p:nvSpPr>
          <p:cNvPr id="5" name="Shape 3"/>
          <p:cNvSpPr/>
          <p:nvPr/>
        </p:nvSpPr>
        <p:spPr>
          <a:xfrm>
            <a:off x="914400" y="2148840"/>
            <a:ext cx="420624" cy="420624"/>
          </a:xfrm>
          <a:prstGeom prst="ellipse">
            <a:avLst/>
          </a:prstGeom>
          <a:solidFill>
            <a:srgbClr val="E8792B"/>
          </a:solidFill>
          <a:ln/>
        </p:spPr>
      </p:sp>
      <p:sp>
        <p:nvSpPr>
          <p:cNvPr id="6" name="Text 4"/>
          <p:cNvSpPr txBox="1"/>
          <p:nvPr/>
        </p:nvSpPr>
        <p:spPr>
          <a:xfrm>
            <a:off x="914400" y="21488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536192" y="2130552"/>
            <a:ext cx="4146804" cy="292608"/>
          </a:xfrm>
          <a:prstGeom prst="rect">
            <a:avLst/>
          </a:prstGeom>
          <a:noFill/>
          <a:ln/>
        </p:spPr>
        <p:txBody>
          <a:bodyPr wrap="square" lIns="0" tIns="0" rIns="0" bIns="0" rtlCol="0" anchor="ctr"/>
          <a:lstStyle/>
          <a:p>
            <a:pPr indent="0" marL="0">
              <a:buNone/>
            </a:pPr>
            <a:r>
              <a:rPr lang="en-US" sz="1500" b="1" dirty="0">
                <a:solidFill>
                  <a:srgbClr val="0B2942"/>
                </a:solidFill>
                <a:latin typeface="Calibri" pitchFamily="34" charset="0"/>
                <a:ea typeface="Calibri" pitchFamily="34" charset="-122"/>
                <a:cs typeface="Calibri" pitchFamily="34" charset="-120"/>
              </a:rPr>
              <a:t>Break down a mission problem</a:t>
            </a:r>
            <a:endParaRPr lang="en-US" sz="1500" dirty="0"/>
          </a:p>
        </p:txBody>
      </p:sp>
      <p:sp>
        <p:nvSpPr>
          <p:cNvPr id="8" name="Text 6"/>
          <p:cNvSpPr txBox="1"/>
          <p:nvPr/>
        </p:nvSpPr>
        <p:spPr>
          <a:xfrm>
            <a:off x="1536192" y="2423160"/>
            <a:ext cx="4146804" cy="822960"/>
          </a:xfrm>
          <a:prstGeom prst="rect">
            <a:avLst/>
          </a:prstGeom>
          <a:noFill/>
          <a:ln/>
        </p:spPr>
        <p:txBody>
          <a:bodyPr wrap="square" lIns="0" tIns="0" rIns="0" bIns="0" rtlCol="0" anchor="ctr"/>
          <a:lstStyle/>
          <a:p>
            <a:pPr indent="0" marL="0">
              <a:lnSpc>
                <a:spcPts val="1600"/>
              </a:lnSpc>
              <a:buNone/>
            </a:pPr>
            <a:r>
              <a:rPr lang="en-US" sz="1250" dirty="0">
                <a:solidFill>
                  <a:srgbClr val="5E7185"/>
                </a:solidFill>
                <a:latin typeface="Calibri" pitchFamily="34" charset="0"/>
                <a:ea typeface="Calibri" pitchFamily="34" charset="-122"/>
                <a:cs typeface="Calibri" pitchFamily="34" charset="-120"/>
              </a:rPr>
              <a:t>Take a real operational pain point and identify what a system has to do about it.</a:t>
            </a:r>
            <a:endParaRPr lang="en-US" sz="1250" dirty="0"/>
          </a:p>
        </p:txBody>
      </p:sp>
      <p:sp>
        <p:nvSpPr>
          <p:cNvPr id="9" name="Shape 7"/>
          <p:cNvSpPr/>
          <p:nvPr/>
        </p:nvSpPr>
        <p:spPr>
          <a:xfrm>
            <a:off x="6231636" y="1874520"/>
            <a:ext cx="5317236" cy="1600200"/>
          </a:xfrm>
          <a:prstGeom prst="roundRect">
            <a:avLst>
              <a:gd name="adj" fmla="val 3429"/>
            </a:avLst>
          </a:prstGeom>
          <a:solidFill>
            <a:srgbClr val="F5F7F9"/>
          </a:solidFill>
          <a:ln/>
        </p:spPr>
      </p:sp>
      <p:sp>
        <p:nvSpPr>
          <p:cNvPr id="10" name="Shape 8"/>
          <p:cNvSpPr/>
          <p:nvPr/>
        </p:nvSpPr>
        <p:spPr>
          <a:xfrm>
            <a:off x="6505956" y="2148840"/>
            <a:ext cx="420624" cy="420624"/>
          </a:xfrm>
          <a:prstGeom prst="ellipse">
            <a:avLst/>
          </a:prstGeom>
          <a:solidFill>
            <a:srgbClr val="E8792B"/>
          </a:solidFill>
          <a:ln/>
        </p:spPr>
      </p:sp>
      <p:sp>
        <p:nvSpPr>
          <p:cNvPr id="11" name="Text 9"/>
          <p:cNvSpPr txBox="1"/>
          <p:nvPr/>
        </p:nvSpPr>
        <p:spPr>
          <a:xfrm>
            <a:off x="6505956" y="21488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7127748" y="2130552"/>
            <a:ext cx="4146804" cy="292608"/>
          </a:xfrm>
          <a:prstGeom prst="rect">
            <a:avLst/>
          </a:prstGeom>
          <a:noFill/>
          <a:ln/>
        </p:spPr>
        <p:txBody>
          <a:bodyPr wrap="square" lIns="0" tIns="0" rIns="0" bIns="0" rtlCol="0" anchor="ctr"/>
          <a:lstStyle/>
          <a:p>
            <a:pPr indent="0" marL="0">
              <a:buNone/>
            </a:pPr>
            <a:r>
              <a:rPr lang="en-US" sz="1500" b="1" dirty="0">
                <a:solidFill>
                  <a:srgbClr val="0B2942"/>
                </a:solidFill>
                <a:latin typeface="Calibri" pitchFamily="34" charset="0"/>
                <a:ea typeface="Calibri" pitchFamily="34" charset="-122"/>
                <a:cs typeface="Calibri" pitchFamily="34" charset="-120"/>
              </a:rPr>
              <a:t>Define roles and access</a:t>
            </a:r>
            <a:endParaRPr lang="en-US" sz="1500" dirty="0"/>
          </a:p>
        </p:txBody>
      </p:sp>
      <p:sp>
        <p:nvSpPr>
          <p:cNvPr id="13" name="Text 11"/>
          <p:cNvSpPr txBox="1"/>
          <p:nvPr/>
        </p:nvSpPr>
        <p:spPr>
          <a:xfrm>
            <a:off x="7127748" y="2423160"/>
            <a:ext cx="4146804" cy="822960"/>
          </a:xfrm>
          <a:prstGeom prst="rect">
            <a:avLst/>
          </a:prstGeom>
          <a:noFill/>
          <a:ln/>
        </p:spPr>
        <p:txBody>
          <a:bodyPr wrap="square" lIns="0" tIns="0" rIns="0" bIns="0" rtlCol="0" anchor="ctr"/>
          <a:lstStyle/>
          <a:p>
            <a:pPr indent="0" marL="0">
              <a:lnSpc>
                <a:spcPts val="1600"/>
              </a:lnSpc>
              <a:buNone/>
            </a:pPr>
            <a:r>
              <a:rPr lang="en-US" sz="1250" dirty="0">
                <a:solidFill>
                  <a:srgbClr val="5E7185"/>
                </a:solidFill>
                <a:latin typeface="Calibri" pitchFamily="34" charset="0"/>
                <a:ea typeface="Calibri" pitchFamily="34" charset="-122"/>
                <a:cs typeface="Calibri" pitchFamily="34" charset="-120"/>
              </a:rPr>
              <a:t>Say who touches the system, what each one needs, and what they must not see.</a:t>
            </a:r>
            <a:endParaRPr lang="en-US" sz="1250" dirty="0"/>
          </a:p>
        </p:txBody>
      </p:sp>
      <p:sp>
        <p:nvSpPr>
          <p:cNvPr id="14" name="Shape 12"/>
          <p:cNvSpPr/>
          <p:nvPr/>
        </p:nvSpPr>
        <p:spPr>
          <a:xfrm>
            <a:off x="640080" y="3749040"/>
            <a:ext cx="5317236" cy="1600200"/>
          </a:xfrm>
          <a:prstGeom prst="roundRect">
            <a:avLst>
              <a:gd name="adj" fmla="val 3429"/>
            </a:avLst>
          </a:prstGeom>
          <a:solidFill>
            <a:srgbClr val="F5F7F9"/>
          </a:solidFill>
          <a:ln/>
        </p:spPr>
      </p:sp>
      <p:sp>
        <p:nvSpPr>
          <p:cNvPr id="15" name="Shape 13"/>
          <p:cNvSpPr/>
          <p:nvPr/>
        </p:nvSpPr>
        <p:spPr>
          <a:xfrm>
            <a:off x="914400" y="4023360"/>
            <a:ext cx="420624" cy="420624"/>
          </a:xfrm>
          <a:prstGeom prst="ellipse">
            <a:avLst/>
          </a:prstGeom>
          <a:solidFill>
            <a:srgbClr val="E8792B"/>
          </a:solidFill>
          <a:ln/>
        </p:spPr>
      </p:sp>
      <p:sp>
        <p:nvSpPr>
          <p:cNvPr id="16" name="Text 14"/>
          <p:cNvSpPr txBox="1"/>
          <p:nvPr/>
        </p:nvSpPr>
        <p:spPr>
          <a:xfrm>
            <a:off x="914400" y="4023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536192" y="4005072"/>
            <a:ext cx="4146804" cy="292608"/>
          </a:xfrm>
          <a:prstGeom prst="rect">
            <a:avLst/>
          </a:prstGeom>
          <a:noFill/>
          <a:ln/>
        </p:spPr>
        <p:txBody>
          <a:bodyPr wrap="square" lIns="0" tIns="0" rIns="0" bIns="0" rtlCol="0" anchor="ctr"/>
          <a:lstStyle/>
          <a:p>
            <a:pPr indent="0" marL="0">
              <a:buNone/>
            </a:pPr>
            <a:r>
              <a:rPr lang="en-US" sz="1500" b="1" dirty="0">
                <a:solidFill>
                  <a:srgbClr val="0B2942"/>
                </a:solidFill>
                <a:latin typeface="Calibri" pitchFamily="34" charset="0"/>
                <a:ea typeface="Calibri" pitchFamily="34" charset="-122"/>
                <a:cs typeface="Calibri" pitchFamily="34" charset="-120"/>
              </a:rPr>
              <a:t>Design the automation</a:t>
            </a:r>
            <a:endParaRPr lang="en-US" sz="1500" dirty="0"/>
          </a:p>
        </p:txBody>
      </p:sp>
      <p:sp>
        <p:nvSpPr>
          <p:cNvPr id="18" name="Text 16"/>
          <p:cNvSpPr txBox="1"/>
          <p:nvPr/>
        </p:nvSpPr>
        <p:spPr>
          <a:xfrm>
            <a:off x="1536192" y="4297680"/>
            <a:ext cx="4146804" cy="822960"/>
          </a:xfrm>
          <a:prstGeom prst="rect">
            <a:avLst/>
          </a:prstGeom>
          <a:noFill/>
          <a:ln/>
        </p:spPr>
        <p:txBody>
          <a:bodyPr wrap="square" lIns="0" tIns="0" rIns="0" bIns="0" rtlCol="0" anchor="ctr"/>
          <a:lstStyle/>
          <a:p>
            <a:pPr indent="0" marL="0">
              <a:lnSpc>
                <a:spcPts val="1600"/>
              </a:lnSpc>
              <a:buNone/>
            </a:pPr>
            <a:r>
              <a:rPr lang="en-US" sz="1250" dirty="0">
                <a:solidFill>
                  <a:srgbClr val="5E7185"/>
                </a:solidFill>
                <a:latin typeface="Calibri" pitchFamily="34" charset="0"/>
                <a:ea typeface="Calibri" pitchFamily="34" charset="-122"/>
                <a:cs typeface="Calibri" pitchFamily="34" charset="-120"/>
              </a:rPr>
              <a:t>Turn battle rhythm and escalation into trigger-and-action pairs a machine can run.</a:t>
            </a:r>
            <a:endParaRPr lang="en-US" sz="1250" dirty="0"/>
          </a:p>
        </p:txBody>
      </p:sp>
      <p:sp>
        <p:nvSpPr>
          <p:cNvPr id="19" name="Shape 17"/>
          <p:cNvSpPr/>
          <p:nvPr/>
        </p:nvSpPr>
        <p:spPr>
          <a:xfrm>
            <a:off x="6231636" y="3749040"/>
            <a:ext cx="5317236" cy="1600200"/>
          </a:xfrm>
          <a:prstGeom prst="roundRect">
            <a:avLst>
              <a:gd name="adj" fmla="val 3429"/>
            </a:avLst>
          </a:prstGeom>
          <a:solidFill>
            <a:srgbClr val="F5F7F9"/>
          </a:solidFill>
          <a:ln/>
        </p:spPr>
      </p:sp>
      <p:sp>
        <p:nvSpPr>
          <p:cNvPr id="20" name="Shape 18"/>
          <p:cNvSpPr/>
          <p:nvPr/>
        </p:nvSpPr>
        <p:spPr>
          <a:xfrm>
            <a:off x="6505956" y="4023360"/>
            <a:ext cx="420624" cy="420624"/>
          </a:xfrm>
          <a:prstGeom prst="ellipse">
            <a:avLst/>
          </a:prstGeom>
          <a:solidFill>
            <a:srgbClr val="E8792B"/>
          </a:solidFill>
          <a:ln/>
        </p:spPr>
      </p:sp>
      <p:sp>
        <p:nvSpPr>
          <p:cNvPr id="21" name="Text 19"/>
          <p:cNvSpPr txBox="1"/>
          <p:nvPr/>
        </p:nvSpPr>
        <p:spPr>
          <a:xfrm>
            <a:off x="6505956" y="4023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7127748" y="4005072"/>
            <a:ext cx="4146804" cy="292608"/>
          </a:xfrm>
          <a:prstGeom prst="rect">
            <a:avLst/>
          </a:prstGeom>
          <a:noFill/>
          <a:ln/>
        </p:spPr>
        <p:txBody>
          <a:bodyPr wrap="square" lIns="0" tIns="0" rIns="0" bIns="0" rtlCol="0" anchor="ctr"/>
          <a:lstStyle/>
          <a:p>
            <a:pPr indent="0" marL="0">
              <a:buNone/>
            </a:pPr>
            <a:r>
              <a:rPr lang="en-US" sz="1500" b="1" dirty="0">
                <a:solidFill>
                  <a:srgbClr val="0B2942"/>
                </a:solidFill>
                <a:latin typeface="Calibri" pitchFamily="34" charset="0"/>
                <a:ea typeface="Calibri" pitchFamily="34" charset="-122"/>
                <a:cs typeface="Calibri" pitchFamily="34" charset="-120"/>
              </a:rPr>
              <a:t>Build it in Plan Designer</a:t>
            </a:r>
            <a:endParaRPr lang="en-US" sz="1500" dirty="0"/>
          </a:p>
        </p:txBody>
      </p:sp>
      <p:sp>
        <p:nvSpPr>
          <p:cNvPr id="23" name="Text 21"/>
          <p:cNvSpPr txBox="1"/>
          <p:nvPr/>
        </p:nvSpPr>
        <p:spPr>
          <a:xfrm>
            <a:off x="7127748" y="4297680"/>
            <a:ext cx="4146804" cy="822960"/>
          </a:xfrm>
          <a:prstGeom prst="rect">
            <a:avLst/>
          </a:prstGeom>
          <a:noFill/>
          <a:ln/>
        </p:spPr>
        <p:txBody>
          <a:bodyPr wrap="square" lIns="0" tIns="0" rIns="0" bIns="0" rtlCol="0" anchor="ctr"/>
          <a:lstStyle/>
          <a:p>
            <a:pPr indent="0" marL="0">
              <a:lnSpc>
                <a:spcPts val="1600"/>
              </a:lnSpc>
              <a:buNone/>
            </a:pPr>
            <a:r>
              <a:rPr lang="en-US" sz="1250" dirty="0">
                <a:solidFill>
                  <a:srgbClr val="5E7185"/>
                </a:solidFill>
                <a:latin typeface="Calibri" pitchFamily="34" charset="0"/>
                <a:ea typeface="Calibri" pitchFamily="34" charset="-122"/>
                <a:cs typeface="Calibri" pitchFamily="34" charset="-120"/>
              </a:rPr>
              <a:t>Generate a working Power Platform solution from your own written description.</a:t>
            </a:r>
            <a:endParaRPr lang="en-US" sz="1250" dirty="0"/>
          </a:p>
        </p:txBody>
      </p:sp>
      <p:sp>
        <p:nvSpPr>
          <p:cNvPr id="24" name="Text 22"/>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9966960" y="1005840"/>
            <a:ext cx="4754880" cy="4754880"/>
          </a:xfrm>
          <a:prstGeom prst="ellipse">
            <a:avLst/>
          </a:prstGeom>
          <a:solidFill>
            <a:srgbClr val="17567A"/>
          </a:solidFill>
          <a:ln/>
        </p:spPr>
      </p:sp>
      <p:sp>
        <p:nvSpPr>
          <p:cNvPr id="3" name="Text 1"/>
          <p:cNvSpPr txBox="1"/>
          <p:nvPr/>
        </p:nvSpPr>
        <p:spPr>
          <a:xfrm>
            <a:off x="640080" y="2514600"/>
            <a:ext cx="8229600" cy="320040"/>
          </a:xfrm>
          <a:prstGeom prst="rect">
            <a:avLst/>
          </a:prstGeom>
          <a:noFill/>
          <a:ln/>
        </p:spPr>
        <p:txBody>
          <a:bodyPr wrap="square" lIns="0" tIns="0" rIns="0" bIns="0" rtlCol="0" anchor="ctr"/>
          <a:lstStyle/>
          <a:p>
            <a:pPr indent="0" marL="0">
              <a:buNone/>
            </a:pPr>
            <a:r>
              <a:rPr lang="en-US" sz="1300" b="1" spc="300" kern="0" dirty="0">
                <a:solidFill>
                  <a:srgbClr val="E8792B"/>
                </a:solidFill>
                <a:latin typeface="Calibri" pitchFamily="34" charset="0"/>
                <a:ea typeface="Calibri" pitchFamily="34" charset="-122"/>
                <a:cs typeface="Calibri" pitchFamily="34" charset="-120"/>
              </a:rPr>
              <a:t>PHASE 1</a:t>
            </a:r>
            <a:endParaRPr lang="en-US" sz="1300" dirty="0"/>
          </a:p>
        </p:txBody>
      </p:sp>
      <p:sp>
        <p:nvSpPr>
          <p:cNvPr id="4" name="Text 2"/>
          <p:cNvSpPr txBox="1"/>
          <p:nvPr/>
        </p:nvSpPr>
        <p:spPr>
          <a:xfrm>
            <a:off x="640080" y="2880360"/>
            <a:ext cx="8229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Discovery</a:t>
            </a:r>
            <a:endParaRPr lang="en-US" sz="4600" dirty="0"/>
          </a:p>
        </p:txBody>
      </p:sp>
      <p:sp>
        <p:nvSpPr>
          <p:cNvPr id="5" name="Text 3"/>
          <p:cNvSpPr txBox="1"/>
          <p:nvPr/>
        </p:nvSpPr>
        <p:spPr>
          <a:xfrm>
            <a:off x="640080" y="3886200"/>
            <a:ext cx="8229600" cy="365760"/>
          </a:xfrm>
          <a:prstGeom prst="rect">
            <a:avLst/>
          </a:prstGeom>
          <a:noFill/>
          <a:ln/>
        </p:spPr>
        <p:txBody>
          <a:bodyPr wrap="square" lIns="0" tIns="0" rIns="0" bIns="0" rtlCol="0" anchor="ctr"/>
          <a:lstStyle/>
          <a:p>
            <a:pPr indent="0" marL="0">
              <a:buNone/>
            </a:pPr>
            <a:r>
              <a:rPr lang="en-US" sz="1600" dirty="0">
                <a:solidFill>
                  <a:srgbClr val="BFD2E0"/>
                </a:solidFill>
                <a:latin typeface="Calibri" pitchFamily="34" charset="0"/>
                <a:ea typeface="Calibri" pitchFamily="34" charset="-122"/>
                <a:cs typeface="Calibri" pitchFamily="34" charset="-120"/>
              </a:rPr>
              <a:t>Four questions. Laptops closed. 45 minutes.</a:t>
            </a:r>
            <a:endParaRPr lang="en-US" sz="1600" dirty="0"/>
          </a:p>
        </p:txBody>
      </p:sp>
      <p:sp>
        <p:nvSpPr>
          <p:cNvPr id="6" name="Text 4"/>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6E8AA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THE SITUATION</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Operation CAJUN SHIELD</a:t>
            </a:r>
            <a:endParaRPr lang="en-US" sz="3000" dirty="0"/>
          </a:p>
        </p:txBody>
      </p:sp>
      <p:sp>
        <p:nvSpPr>
          <p:cNvPr id="4" name="Text 2"/>
          <p:cNvSpPr txBox="1"/>
          <p:nvPr/>
        </p:nvSpPr>
        <p:spPr>
          <a:xfrm>
            <a:off x="640080" y="1783080"/>
            <a:ext cx="10908792" cy="868680"/>
          </a:xfrm>
          <a:prstGeom prst="rect">
            <a:avLst/>
          </a:prstGeom>
          <a:noFill/>
          <a:ln/>
        </p:spPr>
        <p:txBody>
          <a:bodyPr wrap="square" lIns="0" tIns="0" rIns="0" bIns="0" rtlCol="0" anchor="ctr"/>
          <a:lstStyle/>
          <a:p>
            <a:pPr indent="0" marL="0">
              <a:lnSpc>
                <a:spcPts val="2200"/>
              </a:lnSpc>
              <a:buNone/>
            </a:pPr>
            <a:r>
              <a:rPr lang="en-US" sz="1450" dirty="0">
                <a:solidFill>
                  <a:srgbClr val="16202B"/>
                </a:solidFill>
                <a:latin typeface="Calibri" pitchFamily="34" charset="0"/>
                <a:ea typeface="Calibri" pitchFamily="34" charset="-122"/>
                <a:cs typeface="Calibri" pitchFamily="34" charset="-120"/>
              </a:rPr>
              <a:t>Seventy-two hours of rainfall across the Amite and Comite basins has put seven parishes under a declared state of emergency. The Governor has activated the Louisiana National Guard under State Active Duty. JFHQ-LA has stood up a Joint Task Force and is running ESF-16 Military Support from the Joint Operations Center.</a:t>
            </a:r>
            <a:endParaRPr lang="en-US" sz="1450" dirty="0"/>
          </a:p>
        </p:txBody>
      </p:sp>
      <p:sp>
        <p:nvSpPr>
          <p:cNvPr id="5" name="Shape 3"/>
          <p:cNvSpPr/>
          <p:nvPr/>
        </p:nvSpPr>
        <p:spPr>
          <a:xfrm>
            <a:off x="640080" y="2880360"/>
            <a:ext cx="2072030" cy="1371600"/>
          </a:xfrm>
          <a:prstGeom prst="roundRect">
            <a:avLst>
              <a:gd name="adj" fmla="val 4000"/>
            </a:avLst>
          </a:prstGeom>
          <a:solidFill>
            <a:srgbClr val="0B2942"/>
          </a:solidFill>
          <a:ln/>
        </p:spPr>
      </p:sp>
      <p:sp>
        <p:nvSpPr>
          <p:cNvPr id="6" name="Text 4"/>
          <p:cNvSpPr txBox="1"/>
          <p:nvPr/>
        </p:nvSpPr>
        <p:spPr>
          <a:xfrm>
            <a:off x="640080" y="3035808"/>
            <a:ext cx="2072030" cy="566928"/>
          </a:xfrm>
          <a:prstGeom prst="rect">
            <a:avLst/>
          </a:prstGeom>
          <a:noFill/>
          <a:ln/>
        </p:spPr>
        <p:txBody>
          <a:bodyPr wrap="square" lIns="0" tIns="0" rIns="0" bIns="0" rtlCol="0" anchor="ctr"/>
          <a:lstStyle/>
          <a:p>
            <a:pPr algn="ctr" indent="0" marL="0">
              <a:buNone/>
            </a:pPr>
            <a:r>
              <a:rPr lang="en-US" sz="3200" b="1" dirty="0">
                <a:solidFill>
                  <a:srgbClr val="E8792B"/>
                </a:solidFill>
                <a:latin typeface="Cambria" pitchFamily="34" charset="0"/>
                <a:ea typeface="Cambria" pitchFamily="34" charset="-122"/>
                <a:cs typeface="Cambria" pitchFamily="34" charset="-120"/>
              </a:rPr>
              <a:t>7</a:t>
            </a:r>
            <a:endParaRPr lang="en-US" sz="3200" dirty="0"/>
          </a:p>
        </p:txBody>
      </p:sp>
      <p:sp>
        <p:nvSpPr>
          <p:cNvPr id="7" name="Text 5"/>
          <p:cNvSpPr txBox="1"/>
          <p:nvPr/>
        </p:nvSpPr>
        <p:spPr>
          <a:xfrm>
            <a:off x="640080" y="3639312"/>
            <a:ext cx="2072030" cy="548640"/>
          </a:xfrm>
          <a:prstGeom prst="rect">
            <a:avLst/>
          </a:prstGeom>
          <a:noFill/>
          <a:ln/>
        </p:spPr>
        <p:txBody>
          <a:bodyPr wrap="square" lIns="0" tIns="0" rIns="0" bIns="0" rtlCol="0" anchor="ctr"/>
          <a:lstStyle/>
          <a:p>
            <a:pPr algn="ctr" indent="0" marL="0">
              <a:lnSpc>
                <a:spcPts val="1400"/>
              </a:lnSpc>
              <a:buNone/>
            </a:pPr>
            <a:r>
              <a:rPr lang="en-US" sz="1150" dirty="0">
                <a:solidFill>
                  <a:srgbClr val="BFD2E0"/>
                </a:solidFill>
                <a:latin typeface="Calibri" pitchFamily="34" charset="0"/>
                <a:ea typeface="Calibri" pitchFamily="34" charset="-122"/>
                <a:cs typeface="Calibri" pitchFamily="34" charset="-120"/>
              </a:rPr>
              <a:t>parishes</a:t>
            </a:r>
            <a:endParaRPr lang="en-US" sz="1150" dirty="0"/>
          </a:p>
          <a:p>
            <a:pPr algn="ctr" indent="0" marL="0">
              <a:lnSpc>
                <a:spcPts val="1400"/>
              </a:lnSpc>
              <a:buNone/>
            </a:pPr>
            <a:r>
              <a:rPr lang="en-US" sz="1150" dirty="0">
                <a:solidFill>
                  <a:srgbClr val="BFD2E0"/>
                </a:solidFill>
                <a:latin typeface="Calibri" pitchFamily="34" charset="0"/>
                <a:ea typeface="Calibri" pitchFamily="34" charset="-122"/>
                <a:cs typeface="Calibri" pitchFamily="34" charset="-120"/>
              </a:rPr>
              <a:t>affected</a:t>
            </a:r>
            <a:endParaRPr lang="en-US" sz="1150" dirty="0"/>
          </a:p>
        </p:txBody>
      </p:sp>
      <p:sp>
        <p:nvSpPr>
          <p:cNvPr id="8" name="Shape 6"/>
          <p:cNvSpPr/>
          <p:nvPr/>
        </p:nvSpPr>
        <p:spPr>
          <a:xfrm>
            <a:off x="2849270" y="2880360"/>
            <a:ext cx="2072030" cy="1371600"/>
          </a:xfrm>
          <a:prstGeom prst="roundRect">
            <a:avLst>
              <a:gd name="adj" fmla="val 4000"/>
            </a:avLst>
          </a:prstGeom>
          <a:solidFill>
            <a:srgbClr val="0B2942"/>
          </a:solidFill>
          <a:ln/>
        </p:spPr>
      </p:sp>
      <p:sp>
        <p:nvSpPr>
          <p:cNvPr id="9" name="Text 7"/>
          <p:cNvSpPr txBox="1"/>
          <p:nvPr/>
        </p:nvSpPr>
        <p:spPr>
          <a:xfrm>
            <a:off x="2849270" y="3035808"/>
            <a:ext cx="2072030" cy="566928"/>
          </a:xfrm>
          <a:prstGeom prst="rect">
            <a:avLst/>
          </a:prstGeom>
          <a:noFill/>
          <a:ln/>
        </p:spPr>
        <p:txBody>
          <a:bodyPr wrap="square" lIns="0" tIns="0" rIns="0" bIns="0" rtlCol="0" anchor="ctr"/>
          <a:lstStyle/>
          <a:p>
            <a:pPr algn="ctr" indent="0" marL="0">
              <a:buNone/>
            </a:pPr>
            <a:r>
              <a:rPr lang="en-US" sz="3200" b="1" dirty="0">
                <a:solidFill>
                  <a:srgbClr val="E8792B"/>
                </a:solidFill>
                <a:latin typeface="Cambria" pitchFamily="34" charset="0"/>
                <a:ea typeface="Cambria" pitchFamily="34" charset="-122"/>
                <a:cs typeface="Cambria" pitchFamily="34" charset="-120"/>
              </a:rPr>
              <a:t>1,400+</a:t>
            </a:r>
            <a:endParaRPr lang="en-US" sz="3200" dirty="0"/>
          </a:p>
        </p:txBody>
      </p:sp>
      <p:sp>
        <p:nvSpPr>
          <p:cNvPr id="10" name="Text 8"/>
          <p:cNvSpPr txBox="1"/>
          <p:nvPr/>
        </p:nvSpPr>
        <p:spPr>
          <a:xfrm>
            <a:off x="2849270" y="3639312"/>
            <a:ext cx="2072030" cy="548640"/>
          </a:xfrm>
          <a:prstGeom prst="rect">
            <a:avLst/>
          </a:prstGeom>
          <a:noFill/>
          <a:ln/>
        </p:spPr>
        <p:txBody>
          <a:bodyPr wrap="square" lIns="0" tIns="0" rIns="0" bIns="0" rtlCol="0" anchor="ctr"/>
          <a:lstStyle/>
          <a:p>
            <a:pPr algn="ctr" indent="0" marL="0">
              <a:lnSpc>
                <a:spcPts val="1400"/>
              </a:lnSpc>
              <a:buNone/>
            </a:pPr>
            <a:r>
              <a:rPr lang="en-US" sz="1150" dirty="0">
                <a:solidFill>
                  <a:srgbClr val="BFD2E0"/>
                </a:solidFill>
                <a:latin typeface="Calibri" pitchFamily="34" charset="0"/>
                <a:ea typeface="Calibri" pitchFamily="34" charset="-122"/>
                <a:cs typeface="Calibri" pitchFamily="34" charset="-120"/>
              </a:rPr>
              <a:t>Guardsmen</a:t>
            </a:r>
            <a:endParaRPr lang="en-US" sz="1150" dirty="0"/>
          </a:p>
          <a:p>
            <a:pPr algn="ctr" indent="0" marL="0">
              <a:lnSpc>
                <a:spcPts val="1400"/>
              </a:lnSpc>
              <a:buNone/>
            </a:pPr>
            <a:r>
              <a:rPr lang="en-US" sz="1150" dirty="0">
                <a:solidFill>
                  <a:srgbClr val="BFD2E0"/>
                </a:solidFill>
                <a:latin typeface="Calibri" pitchFamily="34" charset="0"/>
                <a:ea typeface="Calibri" pitchFamily="34" charset="-122"/>
                <a:cs typeface="Calibri" pitchFamily="34" charset="-120"/>
              </a:rPr>
              <a:t>on SAD</a:t>
            </a:r>
            <a:endParaRPr lang="en-US" sz="1150" dirty="0"/>
          </a:p>
        </p:txBody>
      </p:sp>
      <p:sp>
        <p:nvSpPr>
          <p:cNvPr id="11" name="Shape 9"/>
          <p:cNvSpPr/>
          <p:nvPr/>
        </p:nvSpPr>
        <p:spPr>
          <a:xfrm>
            <a:off x="5058461" y="2880360"/>
            <a:ext cx="2072030" cy="1371600"/>
          </a:xfrm>
          <a:prstGeom prst="roundRect">
            <a:avLst>
              <a:gd name="adj" fmla="val 4000"/>
            </a:avLst>
          </a:prstGeom>
          <a:solidFill>
            <a:srgbClr val="0B2942"/>
          </a:solidFill>
          <a:ln/>
        </p:spPr>
      </p:sp>
      <p:sp>
        <p:nvSpPr>
          <p:cNvPr id="12" name="Text 10"/>
          <p:cNvSpPr txBox="1"/>
          <p:nvPr/>
        </p:nvSpPr>
        <p:spPr>
          <a:xfrm>
            <a:off x="5058461" y="3035808"/>
            <a:ext cx="2072030" cy="566928"/>
          </a:xfrm>
          <a:prstGeom prst="rect">
            <a:avLst/>
          </a:prstGeom>
          <a:noFill/>
          <a:ln/>
        </p:spPr>
        <p:txBody>
          <a:bodyPr wrap="square" lIns="0" tIns="0" rIns="0" bIns="0" rtlCol="0" anchor="ctr"/>
          <a:lstStyle/>
          <a:p>
            <a:pPr algn="ctr" indent="0" marL="0">
              <a:buNone/>
            </a:pPr>
            <a:r>
              <a:rPr lang="en-US" sz="3200" b="1" dirty="0">
                <a:solidFill>
                  <a:srgbClr val="E8792B"/>
                </a:solidFill>
                <a:latin typeface="Cambria" pitchFamily="34" charset="0"/>
                <a:ea typeface="Cambria" pitchFamily="34" charset="-122"/>
                <a:cs typeface="Cambria" pitchFamily="34" charset="-120"/>
              </a:rPr>
              <a:t>160</a:t>
            </a:r>
            <a:endParaRPr lang="en-US" sz="3200" dirty="0"/>
          </a:p>
        </p:txBody>
      </p:sp>
      <p:sp>
        <p:nvSpPr>
          <p:cNvPr id="13" name="Text 11"/>
          <p:cNvSpPr txBox="1"/>
          <p:nvPr/>
        </p:nvSpPr>
        <p:spPr>
          <a:xfrm>
            <a:off x="5058461" y="3639312"/>
            <a:ext cx="2072030" cy="548640"/>
          </a:xfrm>
          <a:prstGeom prst="rect">
            <a:avLst/>
          </a:prstGeom>
          <a:noFill/>
          <a:ln/>
        </p:spPr>
        <p:txBody>
          <a:bodyPr wrap="square" lIns="0" tIns="0" rIns="0" bIns="0" rtlCol="0" anchor="ctr"/>
          <a:lstStyle/>
          <a:p>
            <a:pPr algn="ctr" indent="0" marL="0">
              <a:lnSpc>
                <a:spcPts val="1400"/>
              </a:lnSpc>
              <a:buNone/>
            </a:pPr>
            <a:r>
              <a:rPr lang="en-US" sz="1150" dirty="0">
                <a:solidFill>
                  <a:srgbClr val="BFD2E0"/>
                </a:solidFill>
                <a:latin typeface="Calibri" pitchFamily="34" charset="0"/>
                <a:ea typeface="Calibri" pitchFamily="34" charset="-122"/>
                <a:cs typeface="Calibri" pitchFamily="34" charset="-120"/>
              </a:rPr>
              <a:t>high-water</a:t>
            </a:r>
            <a:endParaRPr lang="en-US" sz="1150" dirty="0"/>
          </a:p>
          <a:p>
            <a:pPr algn="ctr" indent="0" marL="0">
              <a:lnSpc>
                <a:spcPts val="1400"/>
              </a:lnSpc>
              <a:buNone/>
            </a:pPr>
            <a:r>
              <a:rPr lang="en-US" sz="1150" dirty="0">
                <a:solidFill>
                  <a:srgbClr val="BFD2E0"/>
                </a:solidFill>
                <a:latin typeface="Calibri" pitchFamily="34" charset="0"/>
                <a:ea typeface="Calibri" pitchFamily="34" charset="-122"/>
                <a:cs typeface="Calibri" pitchFamily="34" charset="-120"/>
              </a:rPr>
              <a:t>vehicles</a:t>
            </a:r>
            <a:endParaRPr lang="en-US" sz="1150" dirty="0"/>
          </a:p>
        </p:txBody>
      </p:sp>
      <p:sp>
        <p:nvSpPr>
          <p:cNvPr id="14" name="Shape 12"/>
          <p:cNvSpPr/>
          <p:nvPr/>
        </p:nvSpPr>
        <p:spPr>
          <a:xfrm>
            <a:off x="7267651" y="2880360"/>
            <a:ext cx="2072030" cy="1371600"/>
          </a:xfrm>
          <a:prstGeom prst="roundRect">
            <a:avLst>
              <a:gd name="adj" fmla="val 4000"/>
            </a:avLst>
          </a:prstGeom>
          <a:solidFill>
            <a:srgbClr val="0B2942"/>
          </a:solidFill>
          <a:ln/>
        </p:spPr>
      </p:sp>
      <p:sp>
        <p:nvSpPr>
          <p:cNvPr id="15" name="Text 13"/>
          <p:cNvSpPr txBox="1"/>
          <p:nvPr/>
        </p:nvSpPr>
        <p:spPr>
          <a:xfrm>
            <a:off x="7267651" y="3035808"/>
            <a:ext cx="2072030" cy="566928"/>
          </a:xfrm>
          <a:prstGeom prst="rect">
            <a:avLst/>
          </a:prstGeom>
          <a:noFill/>
          <a:ln/>
        </p:spPr>
        <p:txBody>
          <a:bodyPr wrap="square" lIns="0" tIns="0" rIns="0" bIns="0" rtlCol="0" anchor="ctr"/>
          <a:lstStyle/>
          <a:p>
            <a:pPr algn="ctr" indent="0" marL="0">
              <a:buNone/>
            </a:pPr>
            <a:r>
              <a:rPr lang="en-US" sz="3200" b="1" dirty="0">
                <a:solidFill>
                  <a:srgbClr val="E8792B"/>
                </a:solidFill>
                <a:latin typeface="Cambria" pitchFamily="34" charset="0"/>
                <a:ea typeface="Cambria" pitchFamily="34" charset="-122"/>
                <a:cs typeface="Cambria" pitchFamily="34" charset="-120"/>
              </a:rPr>
              <a:t>44</a:t>
            </a:r>
            <a:endParaRPr lang="en-US" sz="3200" dirty="0"/>
          </a:p>
        </p:txBody>
      </p:sp>
      <p:sp>
        <p:nvSpPr>
          <p:cNvPr id="16" name="Text 14"/>
          <p:cNvSpPr txBox="1"/>
          <p:nvPr/>
        </p:nvSpPr>
        <p:spPr>
          <a:xfrm>
            <a:off x="7267651" y="3639312"/>
            <a:ext cx="2072030" cy="548640"/>
          </a:xfrm>
          <a:prstGeom prst="rect">
            <a:avLst/>
          </a:prstGeom>
          <a:noFill/>
          <a:ln/>
        </p:spPr>
        <p:txBody>
          <a:bodyPr wrap="square" lIns="0" tIns="0" rIns="0" bIns="0" rtlCol="0" anchor="ctr"/>
          <a:lstStyle/>
          <a:p>
            <a:pPr algn="ctr" indent="0" marL="0">
              <a:lnSpc>
                <a:spcPts val="1400"/>
              </a:lnSpc>
              <a:buNone/>
            </a:pPr>
            <a:r>
              <a:rPr lang="en-US" sz="1150" dirty="0">
                <a:solidFill>
                  <a:srgbClr val="BFD2E0"/>
                </a:solidFill>
                <a:latin typeface="Calibri" pitchFamily="34" charset="0"/>
                <a:ea typeface="Calibri" pitchFamily="34" charset="-122"/>
                <a:cs typeface="Calibri" pitchFamily="34" charset="-120"/>
              </a:rPr>
              <a:t>rescue</a:t>
            </a:r>
            <a:endParaRPr lang="en-US" sz="1150" dirty="0"/>
          </a:p>
          <a:p>
            <a:pPr algn="ctr" indent="0" marL="0">
              <a:lnSpc>
                <a:spcPts val="1400"/>
              </a:lnSpc>
              <a:buNone/>
            </a:pPr>
            <a:r>
              <a:rPr lang="en-US" sz="1150" dirty="0">
                <a:solidFill>
                  <a:srgbClr val="BFD2E0"/>
                </a:solidFill>
                <a:latin typeface="Calibri" pitchFamily="34" charset="0"/>
                <a:ea typeface="Calibri" pitchFamily="34" charset="-122"/>
                <a:cs typeface="Calibri" pitchFamily="34" charset="-120"/>
              </a:rPr>
              <a:t>boats</a:t>
            </a:r>
            <a:endParaRPr lang="en-US" sz="1150" dirty="0"/>
          </a:p>
        </p:txBody>
      </p:sp>
      <p:sp>
        <p:nvSpPr>
          <p:cNvPr id="17" name="Shape 15"/>
          <p:cNvSpPr/>
          <p:nvPr/>
        </p:nvSpPr>
        <p:spPr>
          <a:xfrm>
            <a:off x="9476842" y="2880360"/>
            <a:ext cx="2072030" cy="1371600"/>
          </a:xfrm>
          <a:prstGeom prst="roundRect">
            <a:avLst>
              <a:gd name="adj" fmla="val 4000"/>
            </a:avLst>
          </a:prstGeom>
          <a:solidFill>
            <a:srgbClr val="0B2942"/>
          </a:solidFill>
          <a:ln/>
        </p:spPr>
      </p:sp>
      <p:sp>
        <p:nvSpPr>
          <p:cNvPr id="18" name="Text 16"/>
          <p:cNvSpPr txBox="1"/>
          <p:nvPr/>
        </p:nvSpPr>
        <p:spPr>
          <a:xfrm>
            <a:off x="9476842" y="3035808"/>
            <a:ext cx="2072030" cy="566928"/>
          </a:xfrm>
          <a:prstGeom prst="rect">
            <a:avLst/>
          </a:prstGeom>
          <a:noFill/>
          <a:ln/>
        </p:spPr>
        <p:txBody>
          <a:bodyPr wrap="square" lIns="0" tIns="0" rIns="0" bIns="0" rtlCol="0" anchor="ctr"/>
          <a:lstStyle/>
          <a:p>
            <a:pPr algn="ctr" indent="0" marL="0">
              <a:buNone/>
            </a:pPr>
            <a:r>
              <a:rPr lang="en-US" sz="3200" b="1" dirty="0">
                <a:solidFill>
                  <a:srgbClr val="E8792B"/>
                </a:solidFill>
                <a:latin typeface="Cambria" pitchFamily="34" charset="0"/>
                <a:ea typeface="Cambria" pitchFamily="34" charset="-122"/>
                <a:cs typeface="Cambria" pitchFamily="34" charset="-120"/>
              </a:rPr>
              <a:t>3</a:t>
            </a:r>
            <a:endParaRPr lang="en-US" sz="3200" dirty="0"/>
          </a:p>
        </p:txBody>
      </p:sp>
      <p:sp>
        <p:nvSpPr>
          <p:cNvPr id="19" name="Text 17"/>
          <p:cNvSpPr txBox="1"/>
          <p:nvPr/>
        </p:nvSpPr>
        <p:spPr>
          <a:xfrm>
            <a:off x="9476842" y="3639312"/>
            <a:ext cx="2072030" cy="548640"/>
          </a:xfrm>
          <a:prstGeom prst="rect">
            <a:avLst/>
          </a:prstGeom>
          <a:noFill/>
          <a:ln/>
        </p:spPr>
        <p:txBody>
          <a:bodyPr wrap="square" lIns="0" tIns="0" rIns="0" bIns="0" rtlCol="0" anchor="ctr"/>
          <a:lstStyle/>
          <a:p>
            <a:pPr algn="ctr" indent="0" marL="0">
              <a:lnSpc>
                <a:spcPts val="1400"/>
              </a:lnSpc>
              <a:buNone/>
            </a:pPr>
            <a:r>
              <a:rPr lang="en-US" sz="1150" dirty="0">
                <a:solidFill>
                  <a:srgbClr val="BFD2E0"/>
                </a:solidFill>
                <a:latin typeface="Calibri" pitchFamily="34" charset="0"/>
                <a:ea typeface="Calibri" pitchFamily="34" charset="-122"/>
                <a:cs typeface="Calibri" pitchFamily="34" charset="-120"/>
              </a:rPr>
              <a:t>rotary-wing</a:t>
            </a:r>
            <a:endParaRPr lang="en-US" sz="1150" dirty="0"/>
          </a:p>
          <a:p>
            <a:pPr algn="ctr" indent="0" marL="0">
              <a:lnSpc>
                <a:spcPts val="1400"/>
              </a:lnSpc>
              <a:buNone/>
            </a:pPr>
            <a:r>
              <a:rPr lang="en-US" sz="1150" dirty="0">
                <a:solidFill>
                  <a:srgbClr val="BFD2E0"/>
                </a:solidFill>
                <a:latin typeface="Calibri" pitchFamily="34" charset="0"/>
                <a:ea typeface="Calibri" pitchFamily="34" charset="-122"/>
                <a:cs typeface="Calibri" pitchFamily="34" charset="-120"/>
              </a:rPr>
              <a:t>w/ hoist</a:t>
            </a:r>
            <a:endParaRPr lang="en-US" sz="1150" dirty="0"/>
          </a:p>
        </p:txBody>
      </p:sp>
      <p:sp>
        <p:nvSpPr>
          <p:cNvPr id="20" name="Text 18"/>
          <p:cNvSpPr txBox="1"/>
          <p:nvPr/>
        </p:nvSpPr>
        <p:spPr>
          <a:xfrm>
            <a:off x="640080" y="4572000"/>
            <a:ext cx="10908792" cy="457200"/>
          </a:xfrm>
          <a:prstGeom prst="rect">
            <a:avLst/>
          </a:prstGeom>
          <a:noFill/>
          <a:ln/>
        </p:spPr>
        <p:txBody>
          <a:bodyPr wrap="square" lIns="0" tIns="0" rIns="0" bIns="0" rtlCol="0" anchor="ctr"/>
          <a:lstStyle/>
          <a:p>
            <a:pPr indent="0" marL="0">
              <a:lnSpc>
                <a:spcPts val="2000"/>
              </a:lnSpc>
              <a:buNone/>
            </a:pPr>
            <a:r>
              <a:rPr lang="en-US" sz="1500" b="1" dirty="0">
                <a:solidFill>
                  <a:srgbClr val="0B2942"/>
                </a:solidFill>
                <a:latin typeface="Calibri" pitchFamily="34" charset="0"/>
                <a:ea typeface="Calibri" pitchFamily="34" charset="-122"/>
                <a:cs typeface="Calibri" pitchFamily="34" charset="-120"/>
              </a:rPr>
              <a:t>Your team is the JTF staff cell asked to fix how mission requests are tracked — while the operation is running.</a:t>
            </a:r>
            <a:endParaRPr lang="en-US" sz="1500" dirty="0"/>
          </a:p>
        </p:txBody>
      </p:sp>
      <p:sp>
        <p:nvSpPr>
          <p:cNvPr id="21" name="Text 19"/>
          <p:cNvSpPr txBox="1"/>
          <p:nvPr/>
        </p:nvSpPr>
        <p:spPr>
          <a:xfrm>
            <a:off x="640080" y="6355080"/>
            <a:ext cx="6976872" cy="274320"/>
          </a:xfrm>
          <a:prstGeom prst="rect">
            <a:avLst/>
          </a:prstGeom>
          <a:noFill/>
          <a:ln/>
        </p:spPr>
        <p:txBody>
          <a:bodyPr wrap="square" lIns="0" tIns="0" rIns="0" bIns="0" rtlCol="0" anchor="ctr"/>
          <a:lstStyle/>
          <a:p>
            <a:pPr indent="0" marL="0">
              <a:buNone/>
            </a:pPr>
            <a:r>
              <a:rPr lang="en-US" sz="1000" i="1" dirty="0">
                <a:solidFill>
                  <a:srgbClr val="5E7185"/>
                </a:solidFill>
                <a:latin typeface="Calibri" pitchFamily="34" charset="0"/>
                <a:ea typeface="Calibri" pitchFamily="34" charset="-122"/>
                <a:cs typeface="Calibri" pitchFamily="34" charset="-120"/>
              </a:rPr>
              <a:t>Notional scenario. Force structure and figures are modeled on publicly reported Louisiana flood responses.</a:t>
            </a:r>
            <a:endParaRPr lang="en-US" sz="1000" dirty="0"/>
          </a:p>
        </p:txBody>
      </p:sp>
      <p:sp>
        <p:nvSpPr>
          <p:cNvPr id="22" name="Text 20"/>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DISCUSSION QUESTION 1</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What problem are we actually solving?</a:t>
            </a:r>
            <a:endParaRPr lang="en-US" sz="3000" dirty="0"/>
          </a:p>
        </p:txBody>
      </p:sp>
      <p:sp>
        <p:nvSpPr>
          <p:cNvPr id="4" name="Text 2"/>
          <p:cNvSpPr txBox="1"/>
          <p:nvPr/>
        </p:nvSpPr>
        <p:spPr>
          <a:xfrm>
            <a:off x="640080" y="1737360"/>
            <a:ext cx="10908792" cy="274320"/>
          </a:xfrm>
          <a:prstGeom prst="rect">
            <a:avLst/>
          </a:prstGeom>
          <a:noFill/>
          <a:ln/>
        </p:spPr>
        <p:txBody>
          <a:bodyPr wrap="square" lIns="0" tIns="0" rIns="0" bIns="0" rtlCol="0" anchor="ctr"/>
          <a:lstStyle/>
          <a:p>
            <a:pPr indent="0" marL="0">
              <a:buNone/>
            </a:pPr>
            <a:r>
              <a:rPr lang="en-US" sz="1300" b="1" dirty="0">
                <a:solidFill>
                  <a:srgbClr val="E8792B"/>
                </a:solidFill>
                <a:latin typeface="Calibri" pitchFamily="34" charset="0"/>
                <a:ea typeface="Calibri" pitchFamily="34" charset="-122"/>
                <a:cs typeface="Calibri" pitchFamily="34" charset="-120"/>
              </a:rPr>
              <a:t>Current state — how mission requests are handled today</a:t>
            </a:r>
            <a:endParaRPr lang="en-US" sz="1300" dirty="0"/>
          </a:p>
        </p:txBody>
      </p:sp>
      <p:sp>
        <p:nvSpPr>
          <p:cNvPr id="5" name="Shape 3"/>
          <p:cNvSpPr/>
          <p:nvPr/>
        </p:nvSpPr>
        <p:spPr>
          <a:xfrm>
            <a:off x="640080" y="2103120"/>
            <a:ext cx="5317236" cy="1133856"/>
          </a:xfrm>
          <a:prstGeom prst="roundRect">
            <a:avLst>
              <a:gd name="adj" fmla="val 4839"/>
            </a:avLst>
          </a:prstGeom>
          <a:solidFill>
            <a:srgbClr val="F5F7F9"/>
          </a:solidFill>
          <a:ln/>
        </p:spPr>
      </p:sp>
      <p:sp>
        <p:nvSpPr>
          <p:cNvPr id="6" name="Text 4"/>
          <p:cNvSpPr txBox="1"/>
          <p:nvPr/>
        </p:nvSpPr>
        <p:spPr>
          <a:xfrm>
            <a:off x="896112" y="2267712"/>
            <a:ext cx="4814316" cy="274320"/>
          </a:xfrm>
          <a:prstGeom prst="rect">
            <a:avLst/>
          </a:prstGeom>
          <a:noFill/>
          <a:ln/>
        </p:spPr>
        <p:txBody>
          <a:bodyPr wrap="square" lIns="0" tIns="0" rIns="0" bIns="0" rtlCol="0" anchor="ctr"/>
          <a:lstStyle/>
          <a:p>
            <a:pPr indent="0" marL="0">
              <a:buNone/>
            </a:pPr>
            <a:r>
              <a:rPr lang="en-US" sz="1400" b="1" dirty="0">
                <a:solidFill>
                  <a:srgbClr val="0B2942"/>
                </a:solidFill>
                <a:latin typeface="Calibri" pitchFamily="34" charset="0"/>
                <a:ea typeface="Calibri" pitchFamily="34" charset="-122"/>
                <a:cs typeface="Calibri" pitchFamily="34" charset="-120"/>
              </a:rPr>
              <a:t>Four uncoordinated channels</a:t>
            </a:r>
            <a:endParaRPr lang="en-US" sz="1400" dirty="0"/>
          </a:p>
        </p:txBody>
      </p:sp>
      <p:sp>
        <p:nvSpPr>
          <p:cNvPr id="7" name="Text 5"/>
          <p:cNvSpPr txBox="1"/>
          <p:nvPr/>
        </p:nvSpPr>
        <p:spPr>
          <a:xfrm>
            <a:off x="896112" y="2578608"/>
            <a:ext cx="4814316" cy="548640"/>
          </a:xfrm>
          <a:prstGeom prst="rect">
            <a:avLst/>
          </a:prstGeom>
          <a:noFill/>
          <a:ln/>
        </p:spPr>
        <p:txBody>
          <a:bodyPr wrap="square" lIns="0" tIns="0" rIns="0" bIns="0" rtlCol="0" anchor="ctr"/>
          <a:lstStyle/>
          <a:p>
            <a:pPr indent="0" marL="0">
              <a:lnSpc>
                <a:spcPts val="1500"/>
              </a:lnSpc>
              <a:buNone/>
            </a:pPr>
            <a:r>
              <a:rPr lang="en-US" sz="1200" dirty="0">
                <a:solidFill>
                  <a:srgbClr val="5E7185"/>
                </a:solidFill>
                <a:latin typeface="Calibri" pitchFamily="34" charset="0"/>
                <a:ea typeface="Calibri" pitchFamily="34" charset="-122"/>
                <a:cs typeface="Calibri" pitchFamily="34" charset="-120"/>
              </a:rPr>
              <a:t>Requests arrive by phone, email, radio, and WebEOC. No single system of record.</a:t>
            </a:r>
            <a:endParaRPr lang="en-US" sz="1200" dirty="0"/>
          </a:p>
        </p:txBody>
      </p:sp>
      <p:sp>
        <p:nvSpPr>
          <p:cNvPr id="8" name="Shape 6"/>
          <p:cNvSpPr/>
          <p:nvPr/>
        </p:nvSpPr>
        <p:spPr>
          <a:xfrm>
            <a:off x="6231636" y="2103120"/>
            <a:ext cx="5317236" cy="1133856"/>
          </a:xfrm>
          <a:prstGeom prst="roundRect">
            <a:avLst>
              <a:gd name="adj" fmla="val 4839"/>
            </a:avLst>
          </a:prstGeom>
          <a:solidFill>
            <a:srgbClr val="F5F7F9"/>
          </a:solidFill>
          <a:ln/>
        </p:spPr>
      </p:sp>
      <p:sp>
        <p:nvSpPr>
          <p:cNvPr id="9" name="Text 7"/>
          <p:cNvSpPr txBox="1"/>
          <p:nvPr/>
        </p:nvSpPr>
        <p:spPr>
          <a:xfrm>
            <a:off x="6487668" y="2267712"/>
            <a:ext cx="4814316" cy="274320"/>
          </a:xfrm>
          <a:prstGeom prst="rect">
            <a:avLst/>
          </a:prstGeom>
          <a:noFill/>
          <a:ln/>
        </p:spPr>
        <p:txBody>
          <a:bodyPr wrap="square" lIns="0" tIns="0" rIns="0" bIns="0" rtlCol="0" anchor="ctr"/>
          <a:lstStyle/>
          <a:p>
            <a:pPr indent="0" marL="0">
              <a:buNone/>
            </a:pPr>
            <a:r>
              <a:rPr lang="en-US" sz="1400" b="1" dirty="0">
                <a:solidFill>
                  <a:srgbClr val="0B2942"/>
                </a:solidFill>
                <a:latin typeface="Calibri" pitchFamily="34" charset="0"/>
                <a:ea typeface="Calibri" pitchFamily="34" charset="-122"/>
                <a:cs typeface="Calibri" pitchFamily="34" charset="-120"/>
              </a:rPr>
              <a:t>Missions lost at shift change</a:t>
            </a:r>
            <a:endParaRPr lang="en-US" sz="1400" dirty="0"/>
          </a:p>
        </p:txBody>
      </p:sp>
      <p:sp>
        <p:nvSpPr>
          <p:cNvPr id="10" name="Text 8"/>
          <p:cNvSpPr txBox="1"/>
          <p:nvPr/>
        </p:nvSpPr>
        <p:spPr>
          <a:xfrm>
            <a:off x="6487668" y="2578608"/>
            <a:ext cx="4814316" cy="548640"/>
          </a:xfrm>
          <a:prstGeom prst="rect">
            <a:avLst/>
          </a:prstGeom>
          <a:noFill/>
          <a:ln/>
        </p:spPr>
        <p:txBody>
          <a:bodyPr wrap="square" lIns="0" tIns="0" rIns="0" bIns="0" rtlCol="0" anchor="ctr"/>
          <a:lstStyle/>
          <a:p>
            <a:pPr indent="0" marL="0">
              <a:lnSpc>
                <a:spcPts val="1500"/>
              </a:lnSpc>
              <a:buNone/>
            </a:pPr>
            <a:r>
              <a:rPr lang="en-US" sz="1200" dirty="0">
                <a:solidFill>
                  <a:srgbClr val="5E7185"/>
                </a:solidFill>
                <a:latin typeface="Calibri" pitchFamily="34" charset="0"/>
                <a:ea typeface="Calibri" pitchFamily="34" charset="-122"/>
                <a:cs typeface="Calibri" pitchFamily="34" charset="-120"/>
              </a:rPr>
              <a:t>The 0600 / 1800 handover is verbal and a whiteboard photo. Things fall off.</a:t>
            </a:r>
            <a:endParaRPr lang="en-US" sz="1200" dirty="0"/>
          </a:p>
        </p:txBody>
      </p:sp>
      <p:sp>
        <p:nvSpPr>
          <p:cNvPr id="11" name="Shape 9"/>
          <p:cNvSpPr/>
          <p:nvPr/>
        </p:nvSpPr>
        <p:spPr>
          <a:xfrm>
            <a:off x="640080" y="3401568"/>
            <a:ext cx="5317236" cy="1133856"/>
          </a:xfrm>
          <a:prstGeom prst="roundRect">
            <a:avLst>
              <a:gd name="adj" fmla="val 4839"/>
            </a:avLst>
          </a:prstGeom>
          <a:solidFill>
            <a:srgbClr val="F5F7F9"/>
          </a:solidFill>
          <a:ln/>
        </p:spPr>
      </p:sp>
      <p:sp>
        <p:nvSpPr>
          <p:cNvPr id="12" name="Text 10"/>
          <p:cNvSpPr txBox="1"/>
          <p:nvPr/>
        </p:nvSpPr>
        <p:spPr>
          <a:xfrm>
            <a:off x="896112" y="3566160"/>
            <a:ext cx="4814316" cy="274320"/>
          </a:xfrm>
          <a:prstGeom prst="rect">
            <a:avLst/>
          </a:prstGeom>
          <a:noFill/>
          <a:ln/>
        </p:spPr>
        <p:txBody>
          <a:bodyPr wrap="square" lIns="0" tIns="0" rIns="0" bIns="0" rtlCol="0" anchor="ctr"/>
          <a:lstStyle/>
          <a:p>
            <a:pPr indent="0" marL="0">
              <a:buNone/>
            </a:pPr>
            <a:r>
              <a:rPr lang="en-US" sz="1400" b="1" dirty="0">
                <a:solidFill>
                  <a:srgbClr val="0B2942"/>
                </a:solidFill>
                <a:latin typeface="Calibri" pitchFamily="34" charset="0"/>
                <a:ea typeface="Calibri" pitchFamily="34" charset="-122"/>
                <a:cs typeface="Calibri" pitchFamily="34" charset="-120"/>
              </a:rPr>
              <a:t>No consistent intake</a:t>
            </a:r>
            <a:endParaRPr lang="en-US" sz="1400" dirty="0"/>
          </a:p>
        </p:txBody>
      </p:sp>
      <p:sp>
        <p:nvSpPr>
          <p:cNvPr id="13" name="Text 11"/>
          <p:cNvSpPr txBox="1"/>
          <p:nvPr/>
        </p:nvSpPr>
        <p:spPr>
          <a:xfrm>
            <a:off x="896112" y="3877056"/>
            <a:ext cx="4814316" cy="548640"/>
          </a:xfrm>
          <a:prstGeom prst="rect">
            <a:avLst/>
          </a:prstGeom>
          <a:noFill/>
          <a:ln/>
        </p:spPr>
        <p:txBody>
          <a:bodyPr wrap="square" lIns="0" tIns="0" rIns="0" bIns="0" rtlCol="0" anchor="ctr"/>
          <a:lstStyle/>
          <a:p>
            <a:pPr indent="0" marL="0">
              <a:lnSpc>
                <a:spcPts val="1500"/>
              </a:lnSpc>
              <a:buNone/>
            </a:pPr>
            <a:r>
              <a:rPr lang="en-US" sz="1200" dirty="0">
                <a:solidFill>
                  <a:srgbClr val="5E7185"/>
                </a:solidFill>
                <a:latin typeface="Calibri" pitchFamily="34" charset="0"/>
                <a:ea typeface="Calibri" pitchFamily="34" charset="-122"/>
                <a:cs typeface="Calibri" pitchFamily="34" charset="-120"/>
              </a:rPr>
              <a:t>Requests show up with no grid, no access route, no callback number.</a:t>
            </a:r>
            <a:endParaRPr lang="en-US" sz="1200" dirty="0"/>
          </a:p>
        </p:txBody>
      </p:sp>
      <p:sp>
        <p:nvSpPr>
          <p:cNvPr id="14" name="Shape 12"/>
          <p:cNvSpPr/>
          <p:nvPr/>
        </p:nvSpPr>
        <p:spPr>
          <a:xfrm>
            <a:off x="6231636" y="3401568"/>
            <a:ext cx="5317236" cy="1133856"/>
          </a:xfrm>
          <a:prstGeom prst="roundRect">
            <a:avLst>
              <a:gd name="adj" fmla="val 4839"/>
            </a:avLst>
          </a:prstGeom>
          <a:solidFill>
            <a:srgbClr val="F5F7F9"/>
          </a:solidFill>
          <a:ln/>
        </p:spPr>
      </p:sp>
      <p:sp>
        <p:nvSpPr>
          <p:cNvPr id="15" name="Text 13"/>
          <p:cNvSpPr txBox="1"/>
          <p:nvPr/>
        </p:nvSpPr>
        <p:spPr>
          <a:xfrm>
            <a:off x="6487668" y="3566160"/>
            <a:ext cx="4814316" cy="274320"/>
          </a:xfrm>
          <a:prstGeom prst="rect">
            <a:avLst/>
          </a:prstGeom>
          <a:noFill/>
          <a:ln/>
        </p:spPr>
        <p:txBody>
          <a:bodyPr wrap="square" lIns="0" tIns="0" rIns="0" bIns="0" rtlCol="0" anchor="ctr"/>
          <a:lstStyle/>
          <a:p>
            <a:pPr indent="0" marL="0">
              <a:buNone/>
            </a:pPr>
            <a:r>
              <a:rPr lang="en-US" sz="1400" b="1" dirty="0">
                <a:solidFill>
                  <a:srgbClr val="0B2942"/>
                </a:solidFill>
                <a:latin typeface="Calibri" pitchFamily="34" charset="0"/>
                <a:ea typeface="Calibri" pitchFamily="34" charset="-122"/>
                <a:cs typeface="Calibri" pitchFamily="34" charset="-120"/>
              </a:rPr>
              <a:t>No common operating picture</a:t>
            </a:r>
            <a:endParaRPr lang="en-US" sz="1400" dirty="0"/>
          </a:p>
        </p:txBody>
      </p:sp>
      <p:sp>
        <p:nvSpPr>
          <p:cNvPr id="16" name="Text 14"/>
          <p:cNvSpPr txBox="1"/>
          <p:nvPr/>
        </p:nvSpPr>
        <p:spPr>
          <a:xfrm>
            <a:off x="6487668" y="3877056"/>
            <a:ext cx="4814316" cy="548640"/>
          </a:xfrm>
          <a:prstGeom prst="rect">
            <a:avLst/>
          </a:prstGeom>
          <a:noFill/>
          <a:ln/>
        </p:spPr>
        <p:txBody>
          <a:bodyPr wrap="square" lIns="0" tIns="0" rIns="0" bIns="0" rtlCol="0" anchor="ctr"/>
          <a:lstStyle/>
          <a:p>
            <a:pPr indent="0" marL="0">
              <a:lnSpc>
                <a:spcPts val="1500"/>
              </a:lnSpc>
              <a:buNone/>
            </a:pPr>
            <a:r>
              <a:rPr lang="en-US" sz="1200" dirty="0">
                <a:solidFill>
                  <a:srgbClr val="5E7185"/>
                </a:solidFill>
                <a:latin typeface="Calibri" pitchFamily="34" charset="0"/>
                <a:ea typeface="Calibri" pitchFamily="34" charset="-122"/>
                <a:cs typeface="Calibri" pitchFamily="34" charset="-120"/>
              </a:rPr>
              <a:t>Nobody can say how many boats are uncommitted right now.</a:t>
            </a:r>
            <a:endParaRPr lang="en-US" sz="1200" dirty="0"/>
          </a:p>
        </p:txBody>
      </p:sp>
      <p:sp>
        <p:nvSpPr>
          <p:cNvPr id="17" name="Shape 15"/>
          <p:cNvSpPr/>
          <p:nvPr/>
        </p:nvSpPr>
        <p:spPr>
          <a:xfrm>
            <a:off x="640080" y="4700016"/>
            <a:ext cx="5317236" cy="1133856"/>
          </a:xfrm>
          <a:prstGeom prst="roundRect">
            <a:avLst>
              <a:gd name="adj" fmla="val 4839"/>
            </a:avLst>
          </a:prstGeom>
          <a:solidFill>
            <a:srgbClr val="F5F7F9"/>
          </a:solidFill>
          <a:ln/>
        </p:spPr>
      </p:sp>
      <p:sp>
        <p:nvSpPr>
          <p:cNvPr id="18" name="Text 16"/>
          <p:cNvSpPr txBox="1"/>
          <p:nvPr/>
        </p:nvSpPr>
        <p:spPr>
          <a:xfrm>
            <a:off x="896112" y="4864608"/>
            <a:ext cx="4814316" cy="274320"/>
          </a:xfrm>
          <a:prstGeom prst="rect">
            <a:avLst/>
          </a:prstGeom>
          <a:noFill/>
          <a:ln/>
        </p:spPr>
        <p:txBody>
          <a:bodyPr wrap="square" lIns="0" tIns="0" rIns="0" bIns="0" rtlCol="0" anchor="ctr"/>
          <a:lstStyle/>
          <a:p>
            <a:pPr indent="0" marL="0">
              <a:buNone/>
            </a:pPr>
            <a:r>
              <a:rPr lang="en-US" sz="1400" b="1" dirty="0">
                <a:solidFill>
                  <a:srgbClr val="0B2942"/>
                </a:solidFill>
                <a:latin typeface="Calibri" pitchFamily="34" charset="0"/>
                <a:ea typeface="Calibri" pitchFamily="34" charset="-122"/>
                <a:cs typeface="Calibri" pitchFamily="34" charset="-120"/>
              </a:rPr>
              <a:t>Parishes re-request blind</a:t>
            </a:r>
            <a:endParaRPr lang="en-US" sz="1400" dirty="0"/>
          </a:p>
        </p:txBody>
      </p:sp>
      <p:sp>
        <p:nvSpPr>
          <p:cNvPr id="19" name="Text 17"/>
          <p:cNvSpPr txBox="1"/>
          <p:nvPr/>
        </p:nvSpPr>
        <p:spPr>
          <a:xfrm>
            <a:off x="896112" y="5175504"/>
            <a:ext cx="4814316" cy="548640"/>
          </a:xfrm>
          <a:prstGeom prst="rect">
            <a:avLst/>
          </a:prstGeom>
          <a:noFill/>
          <a:ln/>
        </p:spPr>
        <p:txBody>
          <a:bodyPr wrap="square" lIns="0" tIns="0" rIns="0" bIns="0" rtlCol="0" anchor="ctr"/>
          <a:lstStyle/>
          <a:p>
            <a:pPr indent="0" marL="0">
              <a:lnSpc>
                <a:spcPts val="1500"/>
              </a:lnSpc>
              <a:buNone/>
            </a:pPr>
            <a:r>
              <a:rPr lang="en-US" sz="1200" dirty="0">
                <a:solidFill>
                  <a:srgbClr val="5E7185"/>
                </a:solidFill>
                <a:latin typeface="Calibri" pitchFamily="34" charset="0"/>
                <a:ea typeface="Calibri" pitchFamily="34" charset="-122"/>
                <a:cs typeface="Calibri" pitchFamily="34" charset="-120"/>
              </a:rPr>
              <a:t>They can't see status, so they call a second channel. Duplicate tasking.</a:t>
            </a:r>
            <a:endParaRPr lang="en-US" sz="1200" dirty="0"/>
          </a:p>
        </p:txBody>
      </p:sp>
      <p:sp>
        <p:nvSpPr>
          <p:cNvPr id="20" name="Shape 18"/>
          <p:cNvSpPr/>
          <p:nvPr/>
        </p:nvSpPr>
        <p:spPr>
          <a:xfrm>
            <a:off x="6231636" y="4700016"/>
            <a:ext cx="5317236" cy="1133856"/>
          </a:xfrm>
          <a:prstGeom prst="roundRect">
            <a:avLst>
              <a:gd name="adj" fmla="val 4839"/>
            </a:avLst>
          </a:prstGeom>
          <a:solidFill>
            <a:srgbClr val="F5F7F9"/>
          </a:solidFill>
          <a:ln/>
        </p:spPr>
      </p:sp>
      <p:sp>
        <p:nvSpPr>
          <p:cNvPr id="21" name="Text 19"/>
          <p:cNvSpPr txBox="1"/>
          <p:nvPr/>
        </p:nvSpPr>
        <p:spPr>
          <a:xfrm>
            <a:off x="6487668" y="4864608"/>
            <a:ext cx="4814316" cy="274320"/>
          </a:xfrm>
          <a:prstGeom prst="rect">
            <a:avLst/>
          </a:prstGeom>
          <a:noFill/>
          <a:ln/>
        </p:spPr>
        <p:txBody>
          <a:bodyPr wrap="square" lIns="0" tIns="0" rIns="0" bIns="0" rtlCol="0" anchor="ctr"/>
          <a:lstStyle/>
          <a:p>
            <a:pPr indent="0" marL="0">
              <a:buNone/>
            </a:pPr>
            <a:r>
              <a:rPr lang="en-US" sz="1400" b="1" dirty="0">
                <a:solidFill>
                  <a:srgbClr val="0B2942"/>
                </a:solidFill>
                <a:latin typeface="Calibri" pitchFamily="34" charset="0"/>
                <a:ea typeface="Calibri" pitchFamily="34" charset="-122"/>
                <a:cs typeface="Calibri" pitchFamily="34" charset="-120"/>
              </a:rPr>
              <a:t>Storyboard built by hand</a:t>
            </a:r>
            <a:endParaRPr lang="en-US" sz="1400" dirty="0"/>
          </a:p>
        </p:txBody>
      </p:sp>
      <p:sp>
        <p:nvSpPr>
          <p:cNvPr id="22" name="Text 20"/>
          <p:cNvSpPr txBox="1"/>
          <p:nvPr/>
        </p:nvSpPr>
        <p:spPr>
          <a:xfrm>
            <a:off x="6487668" y="5175504"/>
            <a:ext cx="4814316" cy="548640"/>
          </a:xfrm>
          <a:prstGeom prst="rect">
            <a:avLst/>
          </a:prstGeom>
          <a:noFill/>
          <a:ln/>
        </p:spPr>
        <p:txBody>
          <a:bodyPr wrap="square" lIns="0" tIns="0" rIns="0" bIns="0" rtlCol="0" anchor="ctr"/>
          <a:lstStyle/>
          <a:p>
            <a:pPr indent="0" marL="0">
              <a:lnSpc>
                <a:spcPts val="1500"/>
              </a:lnSpc>
              <a:buNone/>
            </a:pPr>
            <a:r>
              <a:rPr lang="en-US" sz="1200" dirty="0">
                <a:solidFill>
                  <a:srgbClr val="5E7185"/>
                </a:solidFill>
                <a:latin typeface="Calibri" pitchFamily="34" charset="0"/>
                <a:ea typeface="Calibri" pitchFamily="34" charset="-122"/>
                <a:cs typeface="Calibri" pitchFamily="34" charset="-120"/>
              </a:rPr>
              <a:t>The 0500 and 1700 storyboard takes 90 minutes to compile and is stale on arrival.</a:t>
            </a:r>
            <a:endParaRPr lang="en-US" sz="1200" dirty="0"/>
          </a:p>
        </p:txBody>
      </p:sp>
      <p:sp>
        <p:nvSpPr>
          <p:cNvPr id="23" name="Text 21"/>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DISCUSSION QUESTION 2</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Who touches this system?</a:t>
            </a:r>
            <a:endParaRPr lang="en-US" sz="3000" dirty="0"/>
          </a:p>
        </p:txBody>
      </p:sp>
      <p:sp>
        <p:nvSpPr>
          <p:cNvPr id="4" name="Shape 2"/>
          <p:cNvSpPr/>
          <p:nvPr/>
        </p:nvSpPr>
        <p:spPr>
          <a:xfrm>
            <a:off x="640080" y="1755648"/>
            <a:ext cx="10908792" cy="768096"/>
          </a:xfrm>
          <a:prstGeom prst="roundRect">
            <a:avLst>
              <a:gd name="adj" fmla="val 7143"/>
            </a:avLst>
          </a:prstGeom>
          <a:solidFill>
            <a:srgbClr val="F5F7F9"/>
          </a:solidFill>
          <a:ln/>
        </p:spPr>
      </p:sp>
      <p:sp>
        <p:nvSpPr>
          <p:cNvPr id="5" name="Shape 3"/>
          <p:cNvSpPr/>
          <p:nvPr/>
        </p:nvSpPr>
        <p:spPr>
          <a:xfrm>
            <a:off x="896112" y="1929384"/>
            <a:ext cx="420624" cy="420624"/>
          </a:xfrm>
          <a:prstGeom prst="ellipse">
            <a:avLst/>
          </a:prstGeom>
          <a:solidFill>
            <a:srgbClr val="17567A"/>
          </a:solidFill>
          <a:ln/>
        </p:spPr>
      </p:sp>
      <p:sp>
        <p:nvSpPr>
          <p:cNvPr id="6" name="Text 4"/>
          <p:cNvSpPr txBox="1"/>
          <p:nvPr/>
        </p:nvSpPr>
        <p:spPr>
          <a:xfrm>
            <a:off x="896112" y="192938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517904" y="1911096"/>
            <a:ext cx="7909560" cy="292608"/>
          </a:xfrm>
          <a:prstGeom prst="rect">
            <a:avLst/>
          </a:prstGeom>
          <a:noFill/>
          <a:ln/>
        </p:spPr>
        <p:txBody>
          <a:bodyPr wrap="square" lIns="0" tIns="0" rIns="0" bIns="0" rtlCol="0" anchor="ctr"/>
          <a:lstStyle/>
          <a:p>
            <a:pPr indent="0" marL="0">
              <a:buNone/>
            </a:pPr>
            <a:r>
              <a:rPr lang="en-US" sz="1500" b="1" dirty="0">
                <a:solidFill>
                  <a:srgbClr val="0B2942"/>
                </a:solidFill>
                <a:latin typeface="Calibri" pitchFamily="34" charset="0"/>
                <a:ea typeface="Calibri" pitchFamily="34" charset="-122"/>
                <a:cs typeface="Calibri" pitchFamily="34" charset="-120"/>
              </a:rPr>
              <a:t>JOC Watch NCO</a:t>
            </a:r>
            <a:endParaRPr lang="en-US" sz="1500" dirty="0"/>
          </a:p>
        </p:txBody>
      </p:sp>
      <p:sp>
        <p:nvSpPr>
          <p:cNvPr id="8" name="Text 6"/>
          <p:cNvSpPr txBox="1"/>
          <p:nvPr/>
        </p:nvSpPr>
        <p:spPr>
          <a:xfrm>
            <a:off x="1517904" y="2203704"/>
            <a:ext cx="7909560" cy="310896"/>
          </a:xfrm>
          <a:prstGeom prst="rect">
            <a:avLst/>
          </a:prstGeom>
          <a:noFill/>
          <a:ln/>
        </p:spPr>
        <p:txBody>
          <a:bodyPr wrap="square" lIns="0" tIns="0" rIns="0" bIns="0" rtlCol="0" anchor="ctr"/>
          <a:lstStyle/>
          <a:p>
            <a:pPr indent="0" marL="0">
              <a:lnSpc>
                <a:spcPts val="1600"/>
              </a:lnSpc>
              <a:buNone/>
            </a:pPr>
            <a:r>
              <a:rPr lang="en-US" sz="1250" dirty="0">
                <a:solidFill>
                  <a:srgbClr val="5E7185"/>
                </a:solidFill>
                <a:latin typeface="Calibri" pitchFamily="34" charset="0"/>
                <a:ea typeface="Calibri" pitchFamily="34" charset="-122"/>
                <a:cs typeface="Calibri" pitchFamily="34" charset="-120"/>
              </a:rPr>
              <a:t>Receives, logs, and validates every incoming mission request.</a:t>
            </a:r>
            <a:endParaRPr lang="en-US" sz="1250" dirty="0"/>
          </a:p>
        </p:txBody>
      </p:sp>
      <p:sp>
        <p:nvSpPr>
          <p:cNvPr id="9" name="Text 7"/>
          <p:cNvSpPr txBox="1"/>
          <p:nvPr/>
        </p:nvSpPr>
        <p:spPr>
          <a:xfrm>
            <a:off x="9491472" y="2002536"/>
            <a:ext cx="1783080" cy="292608"/>
          </a:xfrm>
          <a:prstGeom prst="rect">
            <a:avLst/>
          </a:prstGeom>
          <a:noFill/>
          <a:ln/>
        </p:spPr>
        <p:txBody>
          <a:bodyPr wrap="square" lIns="0" tIns="0" rIns="0" bIns="0" rtlCol="0" anchor="ctr"/>
          <a:lstStyle/>
          <a:p>
            <a:pPr algn="r" indent="0" marL="0">
              <a:buNone/>
            </a:pPr>
            <a:r>
              <a:rPr lang="en-US" sz="1100" b="1" spc="50" kern="0" dirty="0">
                <a:solidFill>
                  <a:srgbClr val="5E7185"/>
                </a:solidFill>
                <a:latin typeface="Calibri" pitchFamily="34" charset="0"/>
                <a:ea typeface="Calibri" pitchFamily="34" charset="-122"/>
                <a:cs typeface="Calibri" pitchFamily="34" charset="-120"/>
              </a:rPr>
              <a:t>Internal</a:t>
            </a:r>
            <a:endParaRPr lang="en-US" sz="1100" dirty="0"/>
          </a:p>
        </p:txBody>
      </p:sp>
      <p:sp>
        <p:nvSpPr>
          <p:cNvPr id="10" name="Shape 8"/>
          <p:cNvSpPr/>
          <p:nvPr/>
        </p:nvSpPr>
        <p:spPr>
          <a:xfrm>
            <a:off x="640080" y="2624328"/>
            <a:ext cx="10908792" cy="768096"/>
          </a:xfrm>
          <a:prstGeom prst="roundRect">
            <a:avLst>
              <a:gd name="adj" fmla="val 7143"/>
            </a:avLst>
          </a:prstGeom>
          <a:solidFill>
            <a:srgbClr val="F5F7F9"/>
          </a:solidFill>
          <a:ln/>
        </p:spPr>
      </p:sp>
      <p:sp>
        <p:nvSpPr>
          <p:cNvPr id="11" name="Shape 9"/>
          <p:cNvSpPr/>
          <p:nvPr/>
        </p:nvSpPr>
        <p:spPr>
          <a:xfrm>
            <a:off x="896112" y="2798064"/>
            <a:ext cx="420624" cy="420624"/>
          </a:xfrm>
          <a:prstGeom prst="ellipse">
            <a:avLst/>
          </a:prstGeom>
          <a:solidFill>
            <a:srgbClr val="17567A"/>
          </a:solidFill>
          <a:ln/>
        </p:spPr>
      </p:sp>
      <p:sp>
        <p:nvSpPr>
          <p:cNvPr id="12" name="Text 10"/>
          <p:cNvSpPr txBox="1"/>
          <p:nvPr/>
        </p:nvSpPr>
        <p:spPr>
          <a:xfrm>
            <a:off x="896112" y="27980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517904" y="2779776"/>
            <a:ext cx="7909560" cy="292608"/>
          </a:xfrm>
          <a:prstGeom prst="rect">
            <a:avLst/>
          </a:prstGeom>
          <a:noFill/>
          <a:ln/>
        </p:spPr>
        <p:txBody>
          <a:bodyPr wrap="square" lIns="0" tIns="0" rIns="0" bIns="0" rtlCol="0" anchor="ctr"/>
          <a:lstStyle/>
          <a:p>
            <a:pPr indent="0" marL="0">
              <a:buNone/>
            </a:pPr>
            <a:r>
              <a:rPr lang="en-US" sz="1500" b="1" dirty="0">
                <a:solidFill>
                  <a:srgbClr val="0B2942"/>
                </a:solidFill>
                <a:latin typeface="Calibri" pitchFamily="34" charset="0"/>
                <a:ea typeface="Calibri" pitchFamily="34" charset="-122"/>
                <a:cs typeface="Calibri" pitchFamily="34" charset="-120"/>
              </a:rPr>
              <a:t>J3 Battle Captain</a:t>
            </a:r>
            <a:endParaRPr lang="en-US" sz="1500" dirty="0"/>
          </a:p>
        </p:txBody>
      </p:sp>
      <p:sp>
        <p:nvSpPr>
          <p:cNvPr id="14" name="Text 12"/>
          <p:cNvSpPr txBox="1"/>
          <p:nvPr/>
        </p:nvSpPr>
        <p:spPr>
          <a:xfrm>
            <a:off x="1517904" y="3072384"/>
            <a:ext cx="7909560" cy="310896"/>
          </a:xfrm>
          <a:prstGeom prst="rect">
            <a:avLst/>
          </a:prstGeom>
          <a:noFill/>
          <a:ln/>
        </p:spPr>
        <p:txBody>
          <a:bodyPr wrap="square" lIns="0" tIns="0" rIns="0" bIns="0" rtlCol="0" anchor="ctr"/>
          <a:lstStyle/>
          <a:p>
            <a:pPr indent="0" marL="0">
              <a:lnSpc>
                <a:spcPts val="1600"/>
              </a:lnSpc>
              <a:buNone/>
            </a:pPr>
            <a:r>
              <a:rPr lang="en-US" sz="1250" dirty="0">
                <a:solidFill>
                  <a:srgbClr val="5E7185"/>
                </a:solidFill>
                <a:latin typeface="Calibri" pitchFamily="34" charset="0"/>
                <a:ea typeface="Calibri" pitchFamily="34" charset="-122"/>
                <a:cs typeface="Calibri" pitchFamily="34" charset="-120"/>
              </a:rPr>
              <a:t>Prioritizes, assigns to units, tracks execution, escalates.</a:t>
            </a:r>
            <a:endParaRPr lang="en-US" sz="1250" dirty="0"/>
          </a:p>
        </p:txBody>
      </p:sp>
      <p:sp>
        <p:nvSpPr>
          <p:cNvPr id="15" name="Text 13"/>
          <p:cNvSpPr txBox="1"/>
          <p:nvPr/>
        </p:nvSpPr>
        <p:spPr>
          <a:xfrm>
            <a:off x="9491472" y="2871216"/>
            <a:ext cx="1783080" cy="292608"/>
          </a:xfrm>
          <a:prstGeom prst="rect">
            <a:avLst/>
          </a:prstGeom>
          <a:noFill/>
          <a:ln/>
        </p:spPr>
        <p:txBody>
          <a:bodyPr wrap="square" lIns="0" tIns="0" rIns="0" bIns="0" rtlCol="0" anchor="ctr"/>
          <a:lstStyle/>
          <a:p>
            <a:pPr algn="r" indent="0" marL="0">
              <a:buNone/>
            </a:pPr>
            <a:r>
              <a:rPr lang="en-US" sz="1100" b="1" spc="50" kern="0" dirty="0">
                <a:solidFill>
                  <a:srgbClr val="5E7185"/>
                </a:solidFill>
                <a:latin typeface="Calibri" pitchFamily="34" charset="0"/>
                <a:ea typeface="Calibri" pitchFamily="34" charset="-122"/>
                <a:cs typeface="Calibri" pitchFamily="34" charset="-120"/>
              </a:rPr>
              <a:t>Internal</a:t>
            </a:r>
            <a:endParaRPr lang="en-US" sz="1100" dirty="0"/>
          </a:p>
        </p:txBody>
      </p:sp>
      <p:sp>
        <p:nvSpPr>
          <p:cNvPr id="16" name="Shape 14"/>
          <p:cNvSpPr/>
          <p:nvPr/>
        </p:nvSpPr>
        <p:spPr>
          <a:xfrm>
            <a:off x="640080" y="3493008"/>
            <a:ext cx="10908792" cy="768096"/>
          </a:xfrm>
          <a:prstGeom prst="roundRect">
            <a:avLst>
              <a:gd name="adj" fmla="val 7143"/>
            </a:avLst>
          </a:prstGeom>
          <a:solidFill>
            <a:srgbClr val="F5F7F9"/>
          </a:solidFill>
          <a:ln/>
        </p:spPr>
      </p:sp>
      <p:sp>
        <p:nvSpPr>
          <p:cNvPr id="17" name="Shape 15"/>
          <p:cNvSpPr/>
          <p:nvPr/>
        </p:nvSpPr>
        <p:spPr>
          <a:xfrm>
            <a:off x="896112" y="3666744"/>
            <a:ext cx="420624" cy="420624"/>
          </a:xfrm>
          <a:prstGeom prst="ellipse">
            <a:avLst/>
          </a:prstGeom>
          <a:solidFill>
            <a:srgbClr val="17567A"/>
          </a:solidFill>
          <a:ln/>
        </p:spPr>
      </p:sp>
      <p:sp>
        <p:nvSpPr>
          <p:cNvPr id="18" name="Text 16"/>
          <p:cNvSpPr txBox="1"/>
          <p:nvPr/>
        </p:nvSpPr>
        <p:spPr>
          <a:xfrm>
            <a:off x="896112" y="36667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517904" y="3648456"/>
            <a:ext cx="7909560" cy="292608"/>
          </a:xfrm>
          <a:prstGeom prst="rect">
            <a:avLst/>
          </a:prstGeom>
          <a:noFill/>
          <a:ln/>
        </p:spPr>
        <p:txBody>
          <a:bodyPr wrap="square" lIns="0" tIns="0" rIns="0" bIns="0" rtlCol="0" anchor="ctr"/>
          <a:lstStyle/>
          <a:p>
            <a:pPr indent="0" marL="0">
              <a:buNone/>
            </a:pPr>
            <a:r>
              <a:rPr lang="en-US" sz="1500" b="1" dirty="0">
                <a:solidFill>
                  <a:srgbClr val="0B2942"/>
                </a:solidFill>
                <a:latin typeface="Calibri" pitchFamily="34" charset="0"/>
                <a:ea typeface="Calibri" pitchFamily="34" charset="-122"/>
                <a:cs typeface="Calibri" pitchFamily="34" charset="-120"/>
              </a:rPr>
              <a:t>Task Force Commander</a:t>
            </a:r>
            <a:endParaRPr lang="en-US" sz="1500" dirty="0"/>
          </a:p>
        </p:txBody>
      </p:sp>
      <p:sp>
        <p:nvSpPr>
          <p:cNvPr id="20" name="Text 18"/>
          <p:cNvSpPr txBox="1"/>
          <p:nvPr/>
        </p:nvSpPr>
        <p:spPr>
          <a:xfrm>
            <a:off x="1517904" y="3941064"/>
            <a:ext cx="7909560" cy="310896"/>
          </a:xfrm>
          <a:prstGeom prst="rect">
            <a:avLst/>
          </a:prstGeom>
          <a:noFill/>
          <a:ln/>
        </p:spPr>
        <p:txBody>
          <a:bodyPr wrap="square" lIns="0" tIns="0" rIns="0" bIns="0" rtlCol="0" anchor="ctr"/>
          <a:lstStyle/>
          <a:p>
            <a:pPr indent="0" marL="0">
              <a:lnSpc>
                <a:spcPts val="1600"/>
              </a:lnSpc>
              <a:buNone/>
            </a:pPr>
            <a:r>
              <a:rPr lang="en-US" sz="1250" dirty="0">
                <a:solidFill>
                  <a:srgbClr val="5E7185"/>
                </a:solidFill>
                <a:latin typeface="Calibri" pitchFamily="34" charset="0"/>
                <a:ea typeface="Calibri" pitchFamily="34" charset="-122"/>
                <a:cs typeface="Calibri" pitchFamily="34" charset="-120"/>
              </a:rPr>
              <a:t>Receives tasking and updates status from the field. On a phone. In the water.</a:t>
            </a:r>
            <a:endParaRPr lang="en-US" sz="1250" dirty="0"/>
          </a:p>
        </p:txBody>
      </p:sp>
      <p:sp>
        <p:nvSpPr>
          <p:cNvPr id="21" name="Text 19"/>
          <p:cNvSpPr txBox="1"/>
          <p:nvPr/>
        </p:nvSpPr>
        <p:spPr>
          <a:xfrm>
            <a:off x="9491472" y="3739896"/>
            <a:ext cx="1783080" cy="292608"/>
          </a:xfrm>
          <a:prstGeom prst="rect">
            <a:avLst/>
          </a:prstGeom>
          <a:noFill/>
          <a:ln/>
        </p:spPr>
        <p:txBody>
          <a:bodyPr wrap="square" lIns="0" tIns="0" rIns="0" bIns="0" rtlCol="0" anchor="ctr"/>
          <a:lstStyle/>
          <a:p>
            <a:pPr algn="r" indent="0" marL="0">
              <a:buNone/>
            </a:pPr>
            <a:r>
              <a:rPr lang="en-US" sz="1100" b="1" spc="50" kern="0" dirty="0">
                <a:solidFill>
                  <a:srgbClr val="5E7185"/>
                </a:solidFill>
                <a:latin typeface="Calibri" pitchFamily="34" charset="0"/>
                <a:ea typeface="Calibri" pitchFamily="34" charset="-122"/>
                <a:cs typeface="Calibri" pitchFamily="34" charset="-120"/>
              </a:rPr>
              <a:t>Internal · mobile</a:t>
            </a:r>
            <a:endParaRPr lang="en-US" sz="1100" dirty="0"/>
          </a:p>
        </p:txBody>
      </p:sp>
      <p:sp>
        <p:nvSpPr>
          <p:cNvPr id="22" name="Shape 20"/>
          <p:cNvSpPr/>
          <p:nvPr/>
        </p:nvSpPr>
        <p:spPr>
          <a:xfrm>
            <a:off x="640080" y="4361688"/>
            <a:ext cx="10908792" cy="768096"/>
          </a:xfrm>
          <a:prstGeom prst="roundRect">
            <a:avLst>
              <a:gd name="adj" fmla="val 7143"/>
            </a:avLst>
          </a:prstGeom>
          <a:solidFill>
            <a:srgbClr val="FDF0E6"/>
          </a:solidFill>
          <a:ln/>
        </p:spPr>
      </p:sp>
      <p:sp>
        <p:nvSpPr>
          <p:cNvPr id="23" name="Shape 21"/>
          <p:cNvSpPr/>
          <p:nvPr/>
        </p:nvSpPr>
        <p:spPr>
          <a:xfrm>
            <a:off x="896112" y="4535424"/>
            <a:ext cx="420624" cy="420624"/>
          </a:xfrm>
          <a:prstGeom prst="ellipse">
            <a:avLst/>
          </a:prstGeom>
          <a:solidFill>
            <a:srgbClr val="E8792B"/>
          </a:solidFill>
          <a:ln/>
        </p:spPr>
      </p:sp>
      <p:sp>
        <p:nvSpPr>
          <p:cNvPr id="24" name="Text 22"/>
          <p:cNvSpPr txBox="1"/>
          <p:nvPr/>
        </p:nvSpPr>
        <p:spPr>
          <a:xfrm>
            <a:off x="896112" y="45354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1517904" y="4517136"/>
            <a:ext cx="7909560" cy="292608"/>
          </a:xfrm>
          <a:prstGeom prst="rect">
            <a:avLst/>
          </a:prstGeom>
          <a:noFill/>
          <a:ln/>
        </p:spPr>
        <p:txBody>
          <a:bodyPr wrap="square" lIns="0" tIns="0" rIns="0" bIns="0" rtlCol="0" anchor="ctr"/>
          <a:lstStyle/>
          <a:p>
            <a:pPr indent="0" marL="0">
              <a:buNone/>
            </a:pPr>
            <a:r>
              <a:rPr lang="en-US" sz="1500" b="1" dirty="0">
                <a:solidFill>
                  <a:srgbClr val="0B2942"/>
                </a:solidFill>
                <a:latin typeface="Calibri" pitchFamily="34" charset="0"/>
                <a:ea typeface="Calibri" pitchFamily="34" charset="-122"/>
                <a:cs typeface="Calibri" pitchFamily="34" charset="-120"/>
              </a:rPr>
              <a:t>Parish Emergency Manager</a:t>
            </a:r>
            <a:endParaRPr lang="en-US" sz="1500" dirty="0"/>
          </a:p>
        </p:txBody>
      </p:sp>
      <p:sp>
        <p:nvSpPr>
          <p:cNvPr id="26" name="Text 24"/>
          <p:cNvSpPr txBox="1"/>
          <p:nvPr/>
        </p:nvSpPr>
        <p:spPr>
          <a:xfrm>
            <a:off x="1517904" y="4809744"/>
            <a:ext cx="7909560" cy="310896"/>
          </a:xfrm>
          <a:prstGeom prst="rect">
            <a:avLst/>
          </a:prstGeom>
          <a:noFill/>
          <a:ln/>
        </p:spPr>
        <p:txBody>
          <a:bodyPr wrap="square" lIns="0" tIns="0" rIns="0" bIns="0" rtlCol="0" anchor="ctr"/>
          <a:lstStyle/>
          <a:p>
            <a:pPr indent="0" marL="0">
              <a:lnSpc>
                <a:spcPts val="1600"/>
              </a:lnSpc>
              <a:buNone/>
            </a:pPr>
            <a:r>
              <a:rPr lang="en-US" sz="1250" dirty="0">
                <a:solidFill>
                  <a:srgbClr val="5E7185"/>
                </a:solidFill>
                <a:latin typeface="Calibri" pitchFamily="34" charset="0"/>
                <a:ea typeface="Calibri" pitchFamily="34" charset="-122"/>
                <a:cs typeface="Calibri" pitchFamily="34" charset="-120"/>
              </a:rPr>
              <a:t>Submits requests for their parish and checks status.</a:t>
            </a:r>
            <a:endParaRPr lang="en-US" sz="1250" dirty="0"/>
          </a:p>
        </p:txBody>
      </p:sp>
      <p:sp>
        <p:nvSpPr>
          <p:cNvPr id="27" name="Text 25"/>
          <p:cNvSpPr txBox="1"/>
          <p:nvPr/>
        </p:nvSpPr>
        <p:spPr>
          <a:xfrm>
            <a:off x="9491472" y="4608576"/>
            <a:ext cx="1783080" cy="292608"/>
          </a:xfrm>
          <a:prstGeom prst="rect">
            <a:avLst/>
          </a:prstGeom>
          <a:noFill/>
          <a:ln/>
        </p:spPr>
        <p:txBody>
          <a:bodyPr wrap="square" lIns="0" tIns="0" rIns="0" bIns="0" rtlCol="0" anchor="ctr"/>
          <a:lstStyle/>
          <a:p>
            <a:pPr algn="r" indent="0" marL="0">
              <a:buNone/>
            </a:pPr>
            <a:r>
              <a:rPr lang="en-US" sz="1100" b="1" spc="50" kern="0" dirty="0">
                <a:solidFill>
                  <a:srgbClr val="E8792B"/>
                </a:solidFill>
                <a:latin typeface="Calibri" pitchFamily="34" charset="0"/>
                <a:ea typeface="Calibri" pitchFamily="34" charset="-122"/>
                <a:cs typeface="Calibri" pitchFamily="34" charset="-120"/>
              </a:rPr>
              <a:t>EXTERNAL</a:t>
            </a:r>
            <a:endParaRPr lang="en-US" sz="1100" dirty="0"/>
          </a:p>
        </p:txBody>
      </p:sp>
      <p:sp>
        <p:nvSpPr>
          <p:cNvPr id="28" name="Shape 26"/>
          <p:cNvSpPr/>
          <p:nvPr/>
        </p:nvSpPr>
        <p:spPr>
          <a:xfrm>
            <a:off x="640080" y="5230368"/>
            <a:ext cx="10908792" cy="768096"/>
          </a:xfrm>
          <a:prstGeom prst="roundRect">
            <a:avLst>
              <a:gd name="adj" fmla="val 7143"/>
            </a:avLst>
          </a:prstGeom>
          <a:solidFill>
            <a:srgbClr val="F5F7F9"/>
          </a:solidFill>
          <a:ln/>
        </p:spPr>
      </p:sp>
      <p:sp>
        <p:nvSpPr>
          <p:cNvPr id="29" name="Shape 27"/>
          <p:cNvSpPr/>
          <p:nvPr/>
        </p:nvSpPr>
        <p:spPr>
          <a:xfrm>
            <a:off x="896112" y="5404104"/>
            <a:ext cx="420624" cy="420624"/>
          </a:xfrm>
          <a:prstGeom prst="ellipse">
            <a:avLst/>
          </a:prstGeom>
          <a:solidFill>
            <a:srgbClr val="17567A"/>
          </a:solidFill>
          <a:ln/>
        </p:spPr>
      </p:sp>
      <p:sp>
        <p:nvSpPr>
          <p:cNvPr id="30" name="Text 28"/>
          <p:cNvSpPr txBox="1"/>
          <p:nvPr/>
        </p:nvSpPr>
        <p:spPr>
          <a:xfrm>
            <a:off x="896112" y="540410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txBox="1"/>
          <p:nvPr/>
        </p:nvSpPr>
        <p:spPr>
          <a:xfrm>
            <a:off x="1517904" y="5385816"/>
            <a:ext cx="7909560" cy="292608"/>
          </a:xfrm>
          <a:prstGeom prst="rect">
            <a:avLst/>
          </a:prstGeom>
          <a:noFill/>
          <a:ln/>
        </p:spPr>
        <p:txBody>
          <a:bodyPr wrap="square" lIns="0" tIns="0" rIns="0" bIns="0" rtlCol="0" anchor="ctr"/>
          <a:lstStyle/>
          <a:p>
            <a:pPr indent="0" marL="0">
              <a:buNone/>
            </a:pPr>
            <a:r>
              <a:rPr lang="en-US" sz="1500" b="1" dirty="0">
                <a:solidFill>
                  <a:srgbClr val="0B2942"/>
                </a:solidFill>
                <a:latin typeface="Calibri" pitchFamily="34" charset="0"/>
                <a:ea typeface="Calibri" pitchFamily="34" charset="-122"/>
                <a:cs typeface="Calibri" pitchFamily="34" charset="-120"/>
              </a:rPr>
              <a:t>JTF Commander / TAG</a:t>
            </a:r>
            <a:endParaRPr lang="en-US" sz="1500" dirty="0"/>
          </a:p>
        </p:txBody>
      </p:sp>
      <p:sp>
        <p:nvSpPr>
          <p:cNvPr id="32" name="Text 30"/>
          <p:cNvSpPr txBox="1"/>
          <p:nvPr/>
        </p:nvSpPr>
        <p:spPr>
          <a:xfrm>
            <a:off x="1517904" y="5678424"/>
            <a:ext cx="7909560" cy="310896"/>
          </a:xfrm>
          <a:prstGeom prst="rect">
            <a:avLst/>
          </a:prstGeom>
          <a:noFill/>
          <a:ln/>
        </p:spPr>
        <p:txBody>
          <a:bodyPr wrap="square" lIns="0" tIns="0" rIns="0" bIns="0" rtlCol="0" anchor="ctr"/>
          <a:lstStyle/>
          <a:p>
            <a:pPr indent="0" marL="0">
              <a:lnSpc>
                <a:spcPts val="1600"/>
              </a:lnSpc>
              <a:buNone/>
            </a:pPr>
            <a:r>
              <a:rPr lang="en-US" sz="1250" dirty="0">
                <a:solidFill>
                  <a:srgbClr val="5E7185"/>
                </a:solidFill>
                <a:latin typeface="Calibri" pitchFamily="34" charset="0"/>
                <a:ea typeface="Calibri" pitchFamily="34" charset="-122"/>
                <a:cs typeface="Calibri" pitchFamily="34" charset="-120"/>
              </a:rPr>
              <a:t>Needs one screen that answers: where are we, what's committed, what's left.</a:t>
            </a:r>
            <a:endParaRPr lang="en-US" sz="1250" dirty="0"/>
          </a:p>
        </p:txBody>
      </p:sp>
      <p:sp>
        <p:nvSpPr>
          <p:cNvPr id="33" name="Text 31"/>
          <p:cNvSpPr txBox="1"/>
          <p:nvPr/>
        </p:nvSpPr>
        <p:spPr>
          <a:xfrm>
            <a:off x="9491472" y="5477256"/>
            <a:ext cx="1783080" cy="292608"/>
          </a:xfrm>
          <a:prstGeom prst="rect">
            <a:avLst/>
          </a:prstGeom>
          <a:noFill/>
          <a:ln/>
        </p:spPr>
        <p:txBody>
          <a:bodyPr wrap="square" lIns="0" tIns="0" rIns="0" bIns="0" rtlCol="0" anchor="ctr"/>
          <a:lstStyle/>
          <a:p>
            <a:pPr algn="r" indent="0" marL="0">
              <a:buNone/>
            </a:pPr>
            <a:r>
              <a:rPr lang="en-US" sz="1100" b="1" spc="50" kern="0" dirty="0">
                <a:solidFill>
                  <a:srgbClr val="5E7185"/>
                </a:solidFill>
                <a:latin typeface="Calibri" pitchFamily="34" charset="0"/>
                <a:ea typeface="Calibri" pitchFamily="34" charset="-122"/>
                <a:cs typeface="Calibri" pitchFamily="34" charset="-120"/>
              </a:rPr>
              <a:t>Internal · read-only</a:t>
            </a:r>
            <a:endParaRPr lang="en-US" sz="1100" dirty="0"/>
          </a:p>
        </p:txBody>
      </p:sp>
      <p:sp>
        <p:nvSpPr>
          <p:cNvPr id="34" name="Text 32"/>
          <p:cNvSpPr txBox="1"/>
          <p:nvPr/>
        </p:nvSpPr>
        <p:spPr>
          <a:xfrm>
            <a:off x="640080" y="6355080"/>
            <a:ext cx="6976872" cy="274320"/>
          </a:xfrm>
          <a:prstGeom prst="rect">
            <a:avLst/>
          </a:prstGeom>
          <a:noFill/>
          <a:ln/>
        </p:spPr>
        <p:txBody>
          <a:bodyPr wrap="square" lIns="0" tIns="0" rIns="0" bIns="0" rtlCol="0" anchor="ctr"/>
          <a:lstStyle/>
          <a:p>
            <a:pPr indent="0" marL="0">
              <a:buNone/>
            </a:pPr>
            <a:r>
              <a:rPr lang="en-US" sz="1000" i="1" dirty="0">
                <a:solidFill>
                  <a:srgbClr val="5E7185"/>
                </a:solidFill>
                <a:latin typeface="Calibri" pitchFamily="34" charset="0"/>
                <a:ea typeface="Calibri" pitchFamily="34" charset="-122"/>
                <a:cs typeface="Calibri" pitchFamily="34" charset="-120"/>
              </a:rPr>
              <a:t>The internal / external split is what decides app type. Ask: which of these people has a state Guard account?</a:t>
            </a:r>
            <a:endParaRPr lang="en-US" sz="1000" dirty="0"/>
          </a:p>
        </p:txBody>
      </p:sp>
      <p:sp>
        <p:nvSpPr>
          <p:cNvPr id="35" name="Text 33"/>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DISCUSSION QUESTION 3</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What does the system have to hold?</a:t>
            </a:r>
            <a:endParaRPr lang="en-US" sz="3000" dirty="0"/>
          </a:p>
        </p:txBody>
      </p:sp>
      <p:sp>
        <p:nvSpPr>
          <p:cNvPr id="4" name="Shape 2"/>
          <p:cNvSpPr/>
          <p:nvPr/>
        </p:nvSpPr>
        <p:spPr>
          <a:xfrm>
            <a:off x="640080" y="1755648"/>
            <a:ext cx="10908792" cy="768096"/>
          </a:xfrm>
          <a:prstGeom prst="roundRect">
            <a:avLst>
              <a:gd name="adj" fmla="val 7143"/>
            </a:avLst>
          </a:prstGeom>
          <a:solidFill>
            <a:srgbClr val="F5F7F9"/>
          </a:solidFill>
          <a:ln/>
        </p:spPr>
      </p:sp>
      <p:sp>
        <p:nvSpPr>
          <p:cNvPr id="5" name="Text 3"/>
          <p:cNvSpPr txBox="1"/>
          <p:nvPr/>
        </p:nvSpPr>
        <p:spPr>
          <a:xfrm>
            <a:off x="896112" y="1856232"/>
            <a:ext cx="2743200" cy="274320"/>
          </a:xfrm>
          <a:prstGeom prst="rect">
            <a:avLst/>
          </a:prstGeom>
          <a:noFill/>
          <a:ln/>
        </p:spPr>
        <p:txBody>
          <a:bodyPr wrap="square" lIns="0" tIns="0" rIns="0" bIns="0" rtlCol="0" anchor="ctr"/>
          <a:lstStyle/>
          <a:p>
            <a:pPr indent="0" marL="0">
              <a:buNone/>
            </a:pPr>
            <a:r>
              <a:rPr lang="en-US" sz="1250" b="1" spc="100" kern="0" dirty="0">
                <a:solidFill>
                  <a:srgbClr val="E8792B"/>
                </a:solidFill>
                <a:latin typeface="Calibri" pitchFamily="34" charset="0"/>
                <a:ea typeface="Calibri" pitchFamily="34" charset="-122"/>
                <a:cs typeface="Calibri" pitchFamily="34" charset="-120"/>
              </a:rPr>
              <a:t>MISSION REQUEST</a:t>
            </a:r>
            <a:endParaRPr lang="en-US" sz="1250" dirty="0"/>
          </a:p>
        </p:txBody>
      </p:sp>
      <p:sp>
        <p:nvSpPr>
          <p:cNvPr id="6" name="Text 4"/>
          <p:cNvSpPr txBox="1"/>
          <p:nvPr/>
        </p:nvSpPr>
        <p:spPr>
          <a:xfrm>
            <a:off x="896112" y="2139696"/>
            <a:ext cx="10396728" cy="329184"/>
          </a:xfrm>
          <a:prstGeom prst="rect">
            <a:avLst/>
          </a:prstGeom>
          <a:noFill/>
          <a:ln/>
        </p:spPr>
        <p:txBody>
          <a:bodyPr wrap="square" lIns="0" tIns="0" rIns="0" bIns="0" rtlCol="0" anchor="ctr"/>
          <a:lstStyle/>
          <a:p>
            <a:pPr indent="0" marL="0">
              <a:lnSpc>
                <a:spcPts val="1400"/>
              </a:lnSpc>
              <a:buNone/>
            </a:pPr>
            <a:r>
              <a:rPr lang="en-US" sz="1150" dirty="0">
                <a:solidFill>
                  <a:srgbClr val="5E7185"/>
                </a:solidFill>
                <a:latin typeface="Calibri" pitchFamily="34" charset="0"/>
                <a:ea typeface="Calibri" pitchFamily="34" charset="-122"/>
                <a:cs typeface="Calibri" pitchFamily="34" charset="-120"/>
              </a:rPr>
              <a:t>Mission number · requesting parish · type · priority · grid / location · water depth · access route · requested arrival · status · assigned unit · assigned assets · results · closeout time</a:t>
            </a:r>
            <a:endParaRPr lang="en-US" sz="1150" dirty="0"/>
          </a:p>
        </p:txBody>
      </p:sp>
      <p:sp>
        <p:nvSpPr>
          <p:cNvPr id="7" name="Shape 5"/>
          <p:cNvSpPr/>
          <p:nvPr/>
        </p:nvSpPr>
        <p:spPr>
          <a:xfrm>
            <a:off x="640080" y="2624328"/>
            <a:ext cx="10908792" cy="768096"/>
          </a:xfrm>
          <a:prstGeom prst="roundRect">
            <a:avLst>
              <a:gd name="adj" fmla="val 7143"/>
            </a:avLst>
          </a:prstGeom>
          <a:solidFill>
            <a:srgbClr val="F5F7F9"/>
          </a:solidFill>
          <a:ln/>
        </p:spPr>
      </p:sp>
      <p:sp>
        <p:nvSpPr>
          <p:cNvPr id="8" name="Text 6"/>
          <p:cNvSpPr txBox="1"/>
          <p:nvPr/>
        </p:nvSpPr>
        <p:spPr>
          <a:xfrm>
            <a:off x="896112" y="2724912"/>
            <a:ext cx="2743200" cy="274320"/>
          </a:xfrm>
          <a:prstGeom prst="rect">
            <a:avLst/>
          </a:prstGeom>
          <a:noFill/>
          <a:ln/>
        </p:spPr>
        <p:txBody>
          <a:bodyPr wrap="square" lIns="0" tIns="0" rIns="0" bIns="0" rtlCol="0" anchor="ctr"/>
          <a:lstStyle/>
          <a:p>
            <a:pPr indent="0" marL="0">
              <a:buNone/>
            </a:pPr>
            <a:r>
              <a:rPr lang="en-US" sz="1250" b="1" spc="100" kern="0" dirty="0">
                <a:solidFill>
                  <a:srgbClr val="E8792B"/>
                </a:solidFill>
                <a:latin typeface="Calibri" pitchFamily="34" charset="0"/>
                <a:ea typeface="Calibri" pitchFamily="34" charset="-122"/>
                <a:cs typeface="Calibri" pitchFamily="34" charset="-120"/>
              </a:rPr>
              <a:t>PARISH</a:t>
            </a:r>
            <a:endParaRPr lang="en-US" sz="1250" dirty="0"/>
          </a:p>
        </p:txBody>
      </p:sp>
      <p:sp>
        <p:nvSpPr>
          <p:cNvPr id="9" name="Text 7"/>
          <p:cNvSpPr txBox="1"/>
          <p:nvPr/>
        </p:nvSpPr>
        <p:spPr>
          <a:xfrm>
            <a:off x="896112" y="3008376"/>
            <a:ext cx="10396728" cy="329184"/>
          </a:xfrm>
          <a:prstGeom prst="rect">
            <a:avLst/>
          </a:prstGeom>
          <a:noFill/>
          <a:ln/>
        </p:spPr>
        <p:txBody>
          <a:bodyPr wrap="square" lIns="0" tIns="0" rIns="0" bIns="0" rtlCol="0" anchor="ctr"/>
          <a:lstStyle/>
          <a:p>
            <a:pPr indent="0" marL="0">
              <a:lnSpc>
                <a:spcPts val="1400"/>
              </a:lnSpc>
              <a:buNone/>
            </a:pPr>
            <a:r>
              <a:rPr lang="en-US" sz="1150" dirty="0">
                <a:solidFill>
                  <a:srgbClr val="5E7185"/>
                </a:solidFill>
                <a:latin typeface="Calibri" pitchFamily="34" charset="0"/>
                <a:ea typeface="Calibri" pitchFamily="34" charset="-122"/>
                <a:cs typeface="Calibri" pitchFamily="34" charset="-120"/>
              </a:rPr>
              <a:t>Parish name · OHSEP point of contact · EOC location · declaration status · liaison assigned</a:t>
            </a:r>
            <a:endParaRPr lang="en-US" sz="1150" dirty="0"/>
          </a:p>
        </p:txBody>
      </p:sp>
      <p:sp>
        <p:nvSpPr>
          <p:cNvPr id="10" name="Shape 8"/>
          <p:cNvSpPr/>
          <p:nvPr/>
        </p:nvSpPr>
        <p:spPr>
          <a:xfrm>
            <a:off x="640080" y="3493008"/>
            <a:ext cx="10908792" cy="768096"/>
          </a:xfrm>
          <a:prstGeom prst="roundRect">
            <a:avLst>
              <a:gd name="adj" fmla="val 7143"/>
            </a:avLst>
          </a:prstGeom>
          <a:solidFill>
            <a:srgbClr val="F5F7F9"/>
          </a:solidFill>
          <a:ln/>
        </p:spPr>
      </p:sp>
      <p:sp>
        <p:nvSpPr>
          <p:cNvPr id="11" name="Text 9"/>
          <p:cNvSpPr txBox="1"/>
          <p:nvPr/>
        </p:nvSpPr>
        <p:spPr>
          <a:xfrm>
            <a:off x="896112" y="3593592"/>
            <a:ext cx="2743200" cy="274320"/>
          </a:xfrm>
          <a:prstGeom prst="rect">
            <a:avLst/>
          </a:prstGeom>
          <a:noFill/>
          <a:ln/>
        </p:spPr>
        <p:txBody>
          <a:bodyPr wrap="square" lIns="0" tIns="0" rIns="0" bIns="0" rtlCol="0" anchor="ctr"/>
          <a:lstStyle/>
          <a:p>
            <a:pPr indent="0" marL="0">
              <a:buNone/>
            </a:pPr>
            <a:r>
              <a:rPr lang="en-US" sz="1250" b="1" spc="100" kern="0" dirty="0">
                <a:solidFill>
                  <a:srgbClr val="E8792B"/>
                </a:solidFill>
                <a:latin typeface="Calibri" pitchFamily="34" charset="0"/>
                <a:ea typeface="Calibri" pitchFamily="34" charset="-122"/>
                <a:cs typeface="Calibri" pitchFamily="34" charset="-120"/>
              </a:rPr>
              <a:t>UNIT / TASK FORCE</a:t>
            </a:r>
            <a:endParaRPr lang="en-US" sz="1250" dirty="0"/>
          </a:p>
        </p:txBody>
      </p:sp>
      <p:sp>
        <p:nvSpPr>
          <p:cNvPr id="12" name="Text 10"/>
          <p:cNvSpPr txBox="1"/>
          <p:nvPr/>
        </p:nvSpPr>
        <p:spPr>
          <a:xfrm>
            <a:off x="896112" y="3877056"/>
            <a:ext cx="10396728" cy="329184"/>
          </a:xfrm>
          <a:prstGeom prst="rect">
            <a:avLst/>
          </a:prstGeom>
          <a:noFill/>
          <a:ln/>
        </p:spPr>
        <p:txBody>
          <a:bodyPr wrap="square" lIns="0" tIns="0" rIns="0" bIns="0" rtlCol="0" anchor="ctr"/>
          <a:lstStyle/>
          <a:p>
            <a:pPr indent="0" marL="0">
              <a:lnSpc>
                <a:spcPts val="1400"/>
              </a:lnSpc>
              <a:buNone/>
            </a:pPr>
            <a:r>
              <a:rPr lang="en-US" sz="1150" dirty="0">
                <a:solidFill>
                  <a:srgbClr val="5E7185"/>
                </a:solidFill>
                <a:latin typeface="Calibri" pitchFamily="34" charset="0"/>
                <a:ea typeface="Calibri" pitchFamily="34" charset="-122"/>
                <a:cs typeface="Calibri" pitchFamily="34" charset="-120"/>
              </a:rPr>
              <a:t>Unit designation · parent command · commander · current location · duty status · assigned strength</a:t>
            </a:r>
            <a:endParaRPr lang="en-US" sz="1150" dirty="0"/>
          </a:p>
        </p:txBody>
      </p:sp>
      <p:sp>
        <p:nvSpPr>
          <p:cNvPr id="13" name="Shape 11"/>
          <p:cNvSpPr/>
          <p:nvPr/>
        </p:nvSpPr>
        <p:spPr>
          <a:xfrm>
            <a:off x="640080" y="4361688"/>
            <a:ext cx="10908792" cy="768096"/>
          </a:xfrm>
          <a:prstGeom prst="roundRect">
            <a:avLst>
              <a:gd name="adj" fmla="val 7143"/>
            </a:avLst>
          </a:prstGeom>
          <a:solidFill>
            <a:srgbClr val="F5F7F9"/>
          </a:solidFill>
          <a:ln/>
        </p:spPr>
      </p:sp>
      <p:sp>
        <p:nvSpPr>
          <p:cNvPr id="14" name="Text 12"/>
          <p:cNvSpPr txBox="1"/>
          <p:nvPr/>
        </p:nvSpPr>
        <p:spPr>
          <a:xfrm>
            <a:off x="896112" y="4462272"/>
            <a:ext cx="2743200" cy="274320"/>
          </a:xfrm>
          <a:prstGeom prst="rect">
            <a:avLst/>
          </a:prstGeom>
          <a:noFill/>
          <a:ln/>
        </p:spPr>
        <p:txBody>
          <a:bodyPr wrap="square" lIns="0" tIns="0" rIns="0" bIns="0" rtlCol="0" anchor="ctr"/>
          <a:lstStyle/>
          <a:p>
            <a:pPr indent="0" marL="0">
              <a:buNone/>
            </a:pPr>
            <a:r>
              <a:rPr lang="en-US" sz="1250" b="1" spc="100" kern="0" dirty="0">
                <a:solidFill>
                  <a:srgbClr val="E8792B"/>
                </a:solidFill>
                <a:latin typeface="Calibri" pitchFamily="34" charset="0"/>
                <a:ea typeface="Calibri" pitchFamily="34" charset="-122"/>
                <a:cs typeface="Calibri" pitchFamily="34" charset="-120"/>
              </a:rPr>
              <a:t>ASSET</a:t>
            </a:r>
            <a:endParaRPr lang="en-US" sz="1250" dirty="0"/>
          </a:p>
        </p:txBody>
      </p:sp>
      <p:sp>
        <p:nvSpPr>
          <p:cNvPr id="15" name="Text 13"/>
          <p:cNvSpPr txBox="1"/>
          <p:nvPr/>
        </p:nvSpPr>
        <p:spPr>
          <a:xfrm>
            <a:off x="896112" y="4745736"/>
            <a:ext cx="10396728" cy="329184"/>
          </a:xfrm>
          <a:prstGeom prst="rect">
            <a:avLst/>
          </a:prstGeom>
          <a:noFill/>
          <a:ln/>
        </p:spPr>
        <p:txBody>
          <a:bodyPr wrap="square" lIns="0" tIns="0" rIns="0" bIns="0" rtlCol="0" anchor="ctr"/>
          <a:lstStyle/>
          <a:p>
            <a:pPr indent="0" marL="0">
              <a:lnSpc>
                <a:spcPts val="1400"/>
              </a:lnSpc>
              <a:buNone/>
            </a:pPr>
            <a:r>
              <a:rPr lang="en-US" sz="1150" dirty="0">
                <a:solidFill>
                  <a:srgbClr val="5E7185"/>
                </a:solidFill>
                <a:latin typeface="Calibri" pitchFamily="34" charset="0"/>
                <a:ea typeface="Calibri" pitchFamily="34" charset="-122"/>
                <a:cs typeface="Calibri" pitchFamily="34" charset="-120"/>
              </a:rPr>
              <a:t>Asset type · bumper number · owning unit · capability (fording depth, pax) · status · current location</a:t>
            </a:r>
            <a:endParaRPr lang="en-US" sz="1150" dirty="0"/>
          </a:p>
        </p:txBody>
      </p:sp>
      <p:sp>
        <p:nvSpPr>
          <p:cNvPr id="16" name="Shape 14"/>
          <p:cNvSpPr/>
          <p:nvPr/>
        </p:nvSpPr>
        <p:spPr>
          <a:xfrm>
            <a:off x="640080" y="5230368"/>
            <a:ext cx="10908792" cy="768096"/>
          </a:xfrm>
          <a:prstGeom prst="roundRect">
            <a:avLst>
              <a:gd name="adj" fmla="val 7143"/>
            </a:avLst>
          </a:prstGeom>
          <a:solidFill>
            <a:srgbClr val="F5F7F9"/>
          </a:solidFill>
          <a:ln/>
        </p:spPr>
      </p:sp>
      <p:sp>
        <p:nvSpPr>
          <p:cNvPr id="17" name="Text 15"/>
          <p:cNvSpPr txBox="1"/>
          <p:nvPr/>
        </p:nvSpPr>
        <p:spPr>
          <a:xfrm>
            <a:off x="896112" y="5330952"/>
            <a:ext cx="2743200" cy="274320"/>
          </a:xfrm>
          <a:prstGeom prst="rect">
            <a:avLst/>
          </a:prstGeom>
          <a:noFill/>
          <a:ln/>
        </p:spPr>
        <p:txBody>
          <a:bodyPr wrap="square" lIns="0" tIns="0" rIns="0" bIns="0" rtlCol="0" anchor="ctr"/>
          <a:lstStyle/>
          <a:p>
            <a:pPr indent="0" marL="0">
              <a:buNone/>
            </a:pPr>
            <a:r>
              <a:rPr lang="en-US" sz="1250" b="1" spc="100" kern="0" dirty="0">
                <a:solidFill>
                  <a:srgbClr val="E8792B"/>
                </a:solidFill>
                <a:latin typeface="Calibri" pitchFamily="34" charset="0"/>
                <a:ea typeface="Calibri" pitchFamily="34" charset="-122"/>
                <a:cs typeface="Calibri" pitchFamily="34" charset="-120"/>
              </a:rPr>
              <a:t>PERSONNEL</a:t>
            </a:r>
            <a:endParaRPr lang="en-US" sz="1250" dirty="0"/>
          </a:p>
        </p:txBody>
      </p:sp>
      <p:sp>
        <p:nvSpPr>
          <p:cNvPr id="18" name="Text 16"/>
          <p:cNvSpPr txBox="1"/>
          <p:nvPr/>
        </p:nvSpPr>
        <p:spPr>
          <a:xfrm>
            <a:off x="896112" y="5614416"/>
            <a:ext cx="10396728" cy="329184"/>
          </a:xfrm>
          <a:prstGeom prst="rect">
            <a:avLst/>
          </a:prstGeom>
          <a:noFill/>
          <a:ln/>
        </p:spPr>
        <p:txBody>
          <a:bodyPr wrap="square" lIns="0" tIns="0" rIns="0" bIns="0" rtlCol="0" anchor="ctr"/>
          <a:lstStyle/>
          <a:p>
            <a:pPr indent="0" marL="0">
              <a:lnSpc>
                <a:spcPts val="1400"/>
              </a:lnSpc>
              <a:buNone/>
            </a:pPr>
            <a:r>
              <a:rPr lang="en-US" sz="1150" dirty="0">
                <a:solidFill>
                  <a:srgbClr val="5E7185"/>
                </a:solidFill>
                <a:latin typeface="Calibri" pitchFamily="34" charset="0"/>
                <a:ea typeface="Calibri" pitchFamily="34" charset="-122"/>
                <a:cs typeface="Calibri" pitchFamily="34" charset="-120"/>
              </a:rPr>
              <a:t>Name · rank · unit · duty status (SAD / T32 / T10) · report date · release date · accountability</a:t>
            </a:r>
            <a:endParaRPr lang="en-US" sz="1150" dirty="0"/>
          </a:p>
        </p:txBody>
      </p:sp>
      <p:sp>
        <p:nvSpPr>
          <p:cNvPr id="19" name="Text 17"/>
          <p:cNvSpPr txBox="1"/>
          <p:nvPr/>
        </p:nvSpPr>
        <p:spPr>
          <a:xfrm>
            <a:off x="640080" y="6355080"/>
            <a:ext cx="6976872" cy="274320"/>
          </a:xfrm>
          <a:prstGeom prst="rect">
            <a:avLst/>
          </a:prstGeom>
          <a:noFill/>
          <a:ln/>
        </p:spPr>
        <p:txBody>
          <a:bodyPr wrap="square" lIns="0" tIns="0" rIns="0" bIns="0" rtlCol="0" anchor="ctr"/>
          <a:lstStyle/>
          <a:p>
            <a:pPr indent="0" marL="0">
              <a:buNone/>
            </a:pPr>
            <a:r>
              <a:rPr lang="en-US" sz="1000" i="1" dirty="0">
                <a:solidFill>
                  <a:srgbClr val="5E7185"/>
                </a:solidFill>
                <a:latin typeface="Calibri" pitchFamily="34" charset="0"/>
                <a:ea typeface="Calibri" pitchFamily="34" charset="-122"/>
                <a:cs typeface="Calibri" pitchFamily="34" charset="-120"/>
              </a:rPr>
              <a:t>Choice fields matter: name the options, not just the field. Priority = Immediate / Priority / Routine.</a:t>
            </a:r>
            <a:endParaRPr lang="en-US" sz="1000" dirty="0"/>
          </a:p>
        </p:txBody>
      </p:sp>
      <p:sp>
        <p:nvSpPr>
          <p:cNvPr id="20" name="Text 18"/>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DISCUSSION QUESTION 3 · ANCHOR</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You have already designed this table</a:t>
            </a:r>
            <a:endParaRPr lang="en-US" sz="3000" dirty="0"/>
          </a:p>
        </p:txBody>
      </p:sp>
      <p:sp>
        <p:nvSpPr>
          <p:cNvPr id="4" name="Text 2"/>
          <p:cNvSpPr txBox="1"/>
          <p:nvPr/>
        </p:nvSpPr>
        <p:spPr>
          <a:xfrm>
            <a:off x="640080" y="1737360"/>
            <a:ext cx="10908792" cy="365760"/>
          </a:xfrm>
          <a:prstGeom prst="rect">
            <a:avLst/>
          </a:prstGeom>
          <a:noFill/>
          <a:ln/>
        </p:spPr>
        <p:txBody>
          <a:bodyPr wrap="square" lIns="0" tIns="0" rIns="0" bIns="0" rtlCol="0" anchor="ctr"/>
          <a:lstStyle/>
          <a:p>
            <a:pPr indent="0" marL="0">
              <a:buNone/>
            </a:pPr>
            <a:r>
              <a:rPr lang="en-US" sz="1450" dirty="0">
                <a:solidFill>
                  <a:srgbClr val="16202B"/>
                </a:solidFill>
                <a:latin typeface="Calibri" pitchFamily="34" charset="0"/>
                <a:ea typeface="Calibri" pitchFamily="34" charset="-122"/>
                <a:cs typeface="Calibri" pitchFamily="34" charset="-120"/>
              </a:rPr>
              <a:t>The ICS 213RR Resource Request is the paper version of the Mission Request table. The form is the schema.</a:t>
            </a:r>
            <a:endParaRPr lang="en-US" sz="1450" dirty="0"/>
          </a:p>
        </p:txBody>
      </p:sp>
      <p:sp>
        <p:nvSpPr>
          <p:cNvPr id="5" name="Shape 3"/>
          <p:cNvSpPr/>
          <p:nvPr/>
        </p:nvSpPr>
        <p:spPr>
          <a:xfrm>
            <a:off x="640080" y="2286000"/>
            <a:ext cx="10908792" cy="3291840"/>
          </a:xfrm>
          <a:prstGeom prst="roundRect">
            <a:avLst>
              <a:gd name="adj" fmla="val 1667"/>
            </a:avLst>
          </a:prstGeom>
          <a:solidFill>
            <a:srgbClr val="F5F7F9"/>
          </a:solidFill>
          <a:ln/>
        </p:spPr>
      </p:sp>
      <p:sp>
        <p:nvSpPr>
          <p:cNvPr id="6" name="Text 4"/>
          <p:cNvSpPr txBox="1"/>
          <p:nvPr/>
        </p:nvSpPr>
        <p:spPr>
          <a:xfrm>
            <a:off x="960120" y="2468880"/>
            <a:ext cx="4754880" cy="256032"/>
          </a:xfrm>
          <a:prstGeom prst="rect">
            <a:avLst/>
          </a:prstGeom>
          <a:noFill/>
          <a:ln/>
        </p:spPr>
        <p:txBody>
          <a:bodyPr wrap="square" lIns="0" tIns="0" rIns="0" bIns="0" rtlCol="0" anchor="ctr"/>
          <a:lstStyle/>
          <a:p>
            <a:pPr indent="0" marL="0">
              <a:buNone/>
            </a:pPr>
            <a:r>
              <a:rPr lang="en-US" sz="1050" b="1" spc="150" kern="0" dirty="0">
                <a:solidFill>
                  <a:srgbClr val="E8792B"/>
                </a:solidFill>
                <a:latin typeface="Calibri" pitchFamily="34" charset="0"/>
                <a:ea typeface="Calibri" pitchFamily="34" charset="-122"/>
                <a:cs typeface="Calibri" pitchFamily="34" charset="-120"/>
              </a:rPr>
              <a:t>ICS 213RR BLOCK</a:t>
            </a:r>
            <a:endParaRPr lang="en-US" sz="1050" dirty="0"/>
          </a:p>
        </p:txBody>
      </p:sp>
      <p:sp>
        <p:nvSpPr>
          <p:cNvPr id="7" name="Text 5"/>
          <p:cNvSpPr txBox="1"/>
          <p:nvPr/>
        </p:nvSpPr>
        <p:spPr>
          <a:xfrm>
            <a:off x="6583680" y="2468880"/>
            <a:ext cx="4754880" cy="256032"/>
          </a:xfrm>
          <a:prstGeom prst="rect">
            <a:avLst/>
          </a:prstGeom>
          <a:noFill/>
          <a:ln/>
        </p:spPr>
        <p:txBody>
          <a:bodyPr wrap="square" lIns="0" tIns="0" rIns="0" bIns="0" rtlCol="0" anchor="ctr"/>
          <a:lstStyle/>
          <a:p>
            <a:pPr indent="0" marL="0">
              <a:buNone/>
            </a:pPr>
            <a:r>
              <a:rPr lang="en-US" sz="1050" b="1" spc="150" kern="0" dirty="0">
                <a:solidFill>
                  <a:srgbClr val="E8792B"/>
                </a:solidFill>
                <a:latin typeface="Calibri" pitchFamily="34" charset="0"/>
                <a:ea typeface="Calibri" pitchFamily="34" charset="-122"/>
                <a:cs typeface="Calibri" pitchFamily="34" charset="-120"/>
              </a:rPr>
              <a:t>YOUR DATAVERSE COLUMN</a:t>
            </a:r>
            <a:endParaRPr lang="en-US" sz="1050" dirty="0"/>
          </a:p>
        </p:txBody>
      </p:sp>
      <p:sp>
        <p:nvSpPr>
          <p:cNvPr id="8" name="Text 6"/>
          <p:cNvSpPr txBox="1"/>
          <p:nvPr/>
        </p:nvSpPr>
        <p:spPr>
          <a:xfrm>
            <a:off x="960120" y="2816352"/>
            <a:ext cx="5120640"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Block 1 — Incident name</a:t>
            </a:r>
            <a:endParaRPr lang="en-US" sz="1250" dirty="0"/>
          </a:p>
        </p:txBody>
      </p:sp>
      <p:sp>
        <p:nvSpPr>
          <p:cNvPr id="9" name="Text 7"/>
          <p:cNvSpPr txBox="1"/>
          <p:nvPr/>
        </p:nvSpPr>
        <p:spPr>
          <a:xfrm>
            <a:off x="6126480" y="2816352"/>
            <a:ext cx="365760" cy="274320"/>
          </a:xfrm>
          <a:prstGeom prst="rect">
            <a:avLst/>
          </a:prstGeom>
          <a:noFill/>
          <a:ln/>
        </p:spPr>
        <p:txBody>
          <a:bodyPr wrap="square" lIns="0" tIns="0" rIns="0" bIns="0" rtlCol="0" anchor="ctr"/>
          <a:lstStyle/>
          <a:p>
            <a:pPr indent="0" marL="0">
              <a:buNone/>
            </a:pPr>
            <a:r>
              <a:rPr lang="en-US" sz="1250" b="1" dirty="0">
                <a:solidFill>
                  <a:srgbClr val="E8792B"/>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6583680" y="2816352"/>
            <a:ext cx="484632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Operation / incident</a:t>
            </a:r>
            <a:endParaRPr lang="en-US" sz="1250" dirty="0"/>
          </a:p>
        </p:txBody>
      </p:sp>
      <p:sp>
        <p:nvSpPr>
          <p:cNvPr id="11" name="Text 9"/>
          <p:cNvSpPr txBox="1"/>
          <p:nvPr/>
        </p:nvSpPr>
        <p:spPr>
          <a:xfrm>
            <a:off x="960120" y="3154680"/>
            <a:ext cx="5120640"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Block 3 — Request number</a:t>
            </a:r>
            <a:endParaRPr lang="en-US" sz="1250" dirty="0"/>
          </a:p>
        </p:txBody>
      </p:sp>
      <p:sp>
        <p:nvSpPr>
          <p:cNvPr id="12" name="Text 10"/>
          <p:cNvSpPr txBox="1"/>
          <p:nvPr/>
        </p:nvSpPr>
        <p:spPr>
          <a:xfrm>
            <a:off x="6126480" y="3154680"/>
            <a:ext cx="365760" cy="274320"/>
          </a:xfrm>
          <a:prstGeom prst="rect">
            <a:avLst/>
          </a:prstGeom>
          <a:noFill/>
          <a:ln/>
        </p:spPr>
        <p:txBody>
          <a:bodyPr wrap="square" lIns="0" tIns="0" rIns="0" bIns="0" rtlCol="0" anchor="ctr"/>
          <a:lstStyle/>
          <a:p>
            <a:pPr indent="0" marL="0">
              <a:buNone/>
            </a:pPr>
            <a:r>
              <a:rPr lang="en-US" sz="1250" b="1" dirty="0">
                <a:solidFill>
                  <a:srgbClr val="E8792B"/>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6583680" y="3154680"/>
            <a:ext cx="484632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Mission number (auto)</a:t>
            </a:r>
            <a:endParaRPr lang="en-US" sz="1250" dirty="0"/>
          </a:p>
        </p:txBody>
      </p:sp>
      <p:sp>
        <p:nvSpPr>
          <p:cNvPr id="14" name="Text 12"/>
          <p:cNvSpPr txBox="1"/>
          <p:nvPr/>
        </p:nvSpPr>
        <p:spPr>
          <a:xfrm>
            <a:off x="960120" y="3493008"/>
            <a:ext cx="5120640"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Block 4 — Qty, kind, type</a:t>
            </a:r>
            <a:endParaRPr lang="en-US" sz="1250" dirty="0"/>
          </a:p>
        </p:txBody>
      </p:sp>
      <p:sp>
        <p:nvSpPr>
          <p:cNvPr id="15" name="Text 13"/>
          <p:cNvSpPr txBox="1"/>
          <p:nvPr/>
        </p:nvSpPr>
        <p:spPr>
          <a:xfrm>
            <a:off x="6126480" y="3493008"/>
            <a:ext cx="365760" cy="274320"/>
          </a:xfrm>
          <a:prstGeom prst="rect">
            <a:avLst/>
          </a:prstGeom>
          <a:noFill/>
          <a:ln/>
        </p:spPr>
        <p:txBody>
          <a:bodyPr wrap="square" lIns="0" tIns="0" rIns="0" bIns="0" rtlCol="0" anchor="ctr"/>
          <a:lstStyle/>
          <a:p>
            <a:pPr indent="0" marL="0">
              <a:buNone/>
            </a:pPr>
            <a:r>
              <a:rPr lang="en-US" sz="1250" b="1" dirty="0">
                <a:solidFill>
                  <a:srgbClr val="E8792B"/>
                </a:solidFill>
                <a:latin typeface="Calibri" pitchFamily="34" charset="0"/>
                <a:ea typeface="Calibri" pitchFamily="34" charset="-122"/>
                <a:cs typeface="Calibri" pitchFamily="34" charset="-120"/>
              </a:rPr>
              <a:t>→</a:t>
            </a:r>
            <a:endParaRPr lang="en-US" sz="1250" dirty="0"/>
          </a:p>
        </p:txBody>
      </p:sp>
      <p:sp>
        <p:nvSpPr>
          <p:cNvPr id="16" name="Text 14"/>
          <p:cNvSpPr txBox="1"/>
          <p:nvPr/>
        </p:nvSpPr>
        <p:spPr>
          <a:xfrm>
            <a:off x="6583680" y="3493008"/>
            <a:ext cx="484632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Asset type + quantity</a:t>
            </a:r>
            <a:endParaRPr lang="en-US" sz="1250" dirty="0"/>
          </a:p>
        </p:txBody>
      </p:sp>
      <p:sp>
        <p:nvSpPr>
          <p:cNvPr id="17" name="Text 15"/>
          <p:cNvSpPr txBox="1"/>
          <p:nvPr/>
        </p:nvSpPr>
        <p:spPr>
          <a:xfrm>
            <a:off x="960120" y="3831336"/>
            <a:ext cx="5120640"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Block 5 — Delivery location</a:t>
            </a:r>
            <a:endParaRPr lang="en-US" sz="1250" dirty="0"/>
          </a:p>
        </p:txBody>
      </p:sp>
      <p:sp>
        <p:nvSpPr>
          <p:cNvPr id="18" name="Text 16"/>
          <p:cNvSpPr txBox="1"/>
          <p:nvPr/>
        </p:nvSpPr>
        <p:spPr>
          <a:xfrm>
            <a:off x="6126480" y="3831336"/>
            <a:ext cx="365760" cy="274320"/>
          </a:xfrm>
          <a:prstGeom prst="rect">
            <a:avLst/>
          </a:prstGeom>
          <a:noFill/>
          <a:ln/>
        </p:spPr>
        <p:txBody>
          <a:bodyPr wrap="square" lIns="0" tIns="0" rIns="0" bIns="0" rtlCol="0" anchor="ctr"/>
          <a:lstStyle/>
          <a:p>
            <a:pPr indent="0" marL="0">
              <a:buNone/>
            </a:pPr>
            <a:r>
              <a:rPr lang="en-US" sz="1250" b="1" dirty="0">
                <a:solidFill>
                  <a:srgbClr val="E8792B"/>
                </a:solidFill>
                <a:latin typeface="Calibri" pitchFamily="34" charset="0"/>
                <a:ea typeface="Calibri" pitchFamily="34" charset="-122"/>
                <a:cs typeface="Calibri" pitchFamily="34" charset="-120"/>
              </a:rPr>
              <a:t>→</a:t>
            </a:r>
            <a:endParaRPr lang="en-US" sz="1250" dirty="0"/>
          </a:p>
        </p:txBody>
      </p:sp>
      <p:sp>
        <p:nvSpPr>
          <p:cNvPr id="19" name="Text 17"/>
          <p:cNvSpPr txBox="1"/>
          <p:nvPr/>
        </p:nvSpPr>
        <p:spPr>
          <a:xfrm>
            <a:off x="6583680" y="3831336"/>
            <a:ext cx="484632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Grid / reporting location</a:t>
            </a:r>
            <a:endParaRPr lang="en-US" sz="1250" dirty="0"/>
          </a:p>
        </p:txBody>
      </p:sp>
      <p:sp>
        <p:nvSpPr>
          <p:cNvPr id="20" name="Text 18"/>
          <p:cNvSpPr txBox="1"/>
          <p:nvPr/>
        </p:nvSpPr>
        <p:spPr>
          <a:xfrm>
            <a:off x="960120" y="4169664"/>
            <a:ext cx="5120640"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Block 7 — Requested by</a:t>
            </a:r>
            <a:endParaRPr lang="en-US" sz="1250" dirty="0"/>
          </a:p>
        </p:txBody>
      </p:sp>
      <p:sp>
        <p:nvSpPr>
          <p:cNvPr id="21" name="Text 19"/>
          <p:cNvSpPr txBox="1"/>
          <p:nvPr/>
        </p:nvSpPr>
        <p:spPr>
          <a:xfrm>
            <a:off x="6126480" y="4169664"/>
            <a:ext cx="365760" cy="274320"/>
          </a:xfrm>
          <a:prstGeom prst="rect">
            <a:avLst/>
          </a:prstGeom>
          <a:noFill/>
          <a:ln/>
        </p:spPr>
        <p:txBody>
          <a:bodyPr wrap="square" lIns="0" tIns="0" rIns="0" bIns="0" rtlCol="0" anchor="ctr"/>
          <a:lstStyle/>
          <a:p>
            <a:pPr indent="0" marL="0">
              <a:buNone/>
            </a:pPr>
            <a:r>
              <a:rPr lang="en-US" sz="1250" b="1" dirty="0">
                <a:solidFill>
                  <a:srgbClr val="E8792B"/>
                </a:solidFill>
                <a:latin typeface="Calibri" pitchFamily="34" charset="0"/>
                <a:ea typeface="Calibri" pitchFamily="34" charset="-122"/>
                <a:cs typeface="Calibri" pitchFamily="34" charset="-120"/>
              </a:rPr>
              <a:t>→</a:t>
            </a:r>
            <a:endParaRPr lang="en-US" sz="1250" dirty="0"/>
          </a:p>
        </p:txBody>
      </p:sp>
      <p:sp>
        <p:nvSpPr>
          <p:cNvPr id="22" name="Text 20"/>
          <p:cNvSpPr txBox="1"/>
          <p:nvPr/>
        </p:nvSpPr>
        <p:spPr>
          <a:xfrm>
            <a:off x="6583680" y="4169664"/>
            <a:ext cx="484632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Requesting parish + POC</a:t>
            </a:r>
            <a:endParaRPr lang="en-US" sz="1250" dirty="0"/>
          </a:p>
        </p:txBody>
      </p:sp>
      <p:sp>
        <p:nvSpPr>
          <p:cNvPr id="23" name="Text 21"/>
          <p:cNvSpPr txBox="1"/>
          <p:nvPr/>
        </p:nvSpPr>
        <p:spPr>
          <a:xfrm>
            <a:off x="960120" y="4507992"/>
            <a:ext cx="5120640"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Block 8 — Priority</a:t>
            </a:r>
            <a:endParaRPr lang="en-US" sz="1250" dirty="0"/>
          </a:p>
        </p:txBody>
      </p:sp>
      <p:sp>
        <p:nvSpPr>
          <p:cNvPr id="24" name="Text 22"/>
          <p:cNvSpPr txBox="1"/>
          <p:nvPr/>
        </p:nvSpPr>
        <p:spPr>
          <a:xfrm>
            <a:off x="6126480" y="4507992"/>
            <a:ext cx="365760" cy="274320"/>
          </a:xfrm>
          <a:prstGeom prst="rect">
            <a:avLst/>
          </a:prstGeom>
          <a:noFill/>
          <a:ln/>
        </p:spPr>
        <p:txBody>
          <a:bodyPr wrap="square" lIns="0" tIns="0" rIns="0" bIns="0" rtlCol="0" anchor="ctr"/>
          <a:lstStyle/>
          <a:p>
            <a:pPr indent="0" marL="0">
              <a:buNone/>
            </a:pPr>
            <a:r>
              <a:rPr lang="en-US" sz="1250" b="1" dirty="0">
                <a:solidFill>
                  <a:srgbClr val="E8792B"/>
                </a:solidFill>
                <a:latin typeface="Calibri" pitchFamily="34" charset="0"/>
                <a:ea typeface="Calibri" pitchFamily="34" charset="-122"/>
                <a:cs typeface="Calibri" pitchFamily="34" charset="-120"/>
              </a:rPr>
              <a:t>→</a:t>
            </a:r>
            <a:endParaRPr lang="en-US" sz="1250" dirty="0"/>
          </a:p>
        </p:txBody>
      </p:sp>
      <p:sp>
        <p:nvSpPr>
          <p:cNvPr id="25" name="Text 23"/>
          <p:cNvSpPr txBox="1"/>
          <p:nvPr/>
        </p:nvSpPr>
        <p:spPr>
          <a:xfrm>
            <a:off x="6583680" y="4507992"/>
            <a:ext cx="484632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Priority choice field</a:t>
            </a:r>
            <a:endParaRPr lang="en-US" sz="1250" dirty="0"/>
          </a:p>
        </p:txBody>
      </p:sp>
      <p:sp>
        <p:nvSpPr>
          <p:cNvPr id="26" name="Text 24"/>
          <p:cNvSpPr txBox="1"/>
          <p:nvPr/>
        </p:nvSpPr>
        <p:spPr>
          <a:xfrm>
            <a:off x="960120" y="4846320"/>
            <a:ext cx="5120640"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Block 9 — Section chief approval</a:t>
            </a:r>
            <a:endParaRPr lang="en-US" sz="1250" dirty="0"/>
          </a:p>
        </p:txBody>
      </p:sp>
      <p:sp>
        <p:nvSpPr>
          <p:cNvPr id="27" name="Text 25"/>
          <p:cNvSpPr txBox="1"/>
          <p:nvPr/>
        </p:nvSpPr>
        <p:spPr>
          <a:xfrm>
            <a:off x="6126480" y="4846320"/>
            <a:ext cx="365760" cy="274320"/>
          </a:xfrm>
          <a:prstGeom prst="rect">
            <a:avLst/>
          </a:prstGeom>
          <a:noFill/>
          <a:ln/>
        </p:spPr>
        <p:txBody>
          <a:bodyPr wrap="square" lIns="0" tIns="0" rIns="0" bIns="0" rtlCol="0" anchor="ctr"/>
          <a:lstStyle/>
          <a:p>
            <a:pPr indent="0" marL="0">
              <a:buNone/>
            </a:pPr>
            <a:r>
              <a:rPr lang="en-US" sz="1250" b="1" dirty="0">
                <a:solidFill>
                  <a:srgbClr val="E8792B"/>
                </a:solidFill>
                <a:latin typeface="Calibri" pitchFamily="34" charset="0"/>
                <a:ea typeface="Calibri" pitchFamily="34" charset="-122"/>
                <a:cs typeface="Calibri" pitchFamily="34" charset="-120"/>
              </a:rPr>
              <a:t>→</a:t>
            </a:r>
            <a:endParaRPr lang="en-US" sz="1250" dirty="0"/>
          </a:p>
        </p:txBody>
      </p:sp>
      <p:sp>
        <p:nvSpPr>
          <p:cNvPr id="28" name="Text 26"/>
          <p:cNvSpPr txBox="1"/>
          <p:nvPr/>
        </p:nvSpPr>
        <p:spPr>
          <a:xfrm>
            <a:off x="6583680" y="4846320"/>
            <a:ext cx="484632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Validated by / status</a:t>
            </a:r>
            <a:endParaRPr lang="en-US" sz="1250" dirty="0"/>
          </a:p>
        </p:txBody>
      </p:sp>
      <p:sp>
        <p:nvSpPr>
          <p:cNvPr id="29" name="Text 27"/>
          <p:cNvSpPr txBox="1"/>
          <p:nvPr/>
        </p:nvSpPr>
        <p:spPr>
          <a:xfrm>
            <a:off x="960120" y="5184648"/>
            <a:ext cx="5120640"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Block 13 — Notes</a:t>
            </a:r>
            <a:endParaRPr lang="en-US" sz="1250" dirty="0"/>
          </a:p>
        </p:txBody>
      </p:sp>
      <p:sp>
        <p:nvSpPr>
          <p:cNvPr id="30" name="Text 28"/>
          <p:cNvSpPr txBox="1"/>
          <p:nvPr/>
        </p:nvSpPr>
        <p:spPr>
          <a:xfrm>
            <a:off x="6126480" y="5184648"/>
            <a:ext cx="365760" cy="274320"/>
          </a:xfrm>
          <a:prstGeom prst="rect">
            <a:avLst/>
          </a:prstGeom>
          <a:noFill/>
          <a:ln/>
        </p:spPr>
        <p:txBody>
          <a:bodyPr wrap="square" lIns="0" tIns="0" rIns="0" bIns="0" rtlCol="0" anchor="ctr"/>
          <a:lstStyle/>
          <a:p>
            <a:pPr indent="0" marL="0">
              <a:buNone/>
            </a:pPr>
            <a:r>
              <a:rPr lang="en-US" sz="1250" b="1" dirty="0">
                <a:solidFill>
                  <a:srgbClr val="E8792B"/>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583680" y="5184648"/>
            <a:ext cx="484632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Remarks</a:t>
            </a:r>
            <a:endParaRPr lang="en-US" sz="1250" dirty="0"/>
          </a:p>
        </p:txBody>
      </p:sp>
      <p:sp>
        <p:nvSpPr>
          <p:cNvPr id="32" name="Text 30"/>
          <p:cNvSpPr txBox="1"/>
          <p:nvPr/>
        </p:nvSpPr>
        <p:spPr>
          <a:xfrm>
            <a:off x="640080" y="6355080"/>
            <a:ext cx="6976872" cy="274320"/>
          </a:xfrm>
          <a:prstGeom prst="rect">
            <a:avLst/>
          </a:prstGeom>
          <a:noFill/>
          <a:ln/>
        </p:spPr>
        <p:txBody>
          <a:bodyPr wrap="square" lIns="0" tIns="0" rIns="0" bIns="0" rtlCol="0" anchor="ctr"/>
          <a:lstStyle/>
          <a:p>
            <a:pPr indent="0" marL="0">
              <a:buNone/>
            </a:pPr>
            <a:r>
              <a:rPr lang="en-US" sz="1000" i="1" dirty="0">
                <a:solidFill>
                  <a:srgbClr val="5E7185"/>
                </a:solidFill>
                <a:latin typeface="Calibri" pitchFamily="34" charset="0"/>
                <a:ea typeface="Calibri" pitchFamily="34" charset="-122"/>
                <a:cs typeface="Calibri" pitchFamily="34" charset="-120"/>
              </a:rPr>
              <a:t>Source: FEMA ICS Form 213 RR, Resource Request Message.</a:t>
            </a:r>
            <a:endParaRPr lang="en-US" sz="1000" dirty="0"/>
          </a:p>
        </p:txBody>
      </p:sp>
      <p:sp>
        <p:nvSpPr>
          <p:cNvPr id="33" name="Text 31"/>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DISCUSSION QUESTION 4</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What does each person actually open?</a:t>
            </a:r>
            <a:endParaRPr lang="en-US" sz="3000" dirty="0"/>
          </a:p>
        </p:txBody>
      </p:sp>
      <p:sp>
        <p:nvSpPr>
          <p:cNvPr id="4" name="Shape 2"/>
          <p:cNvSpPr/>
          <p:nvPr/>
        </p:nvSpPr>
        <p:spPr>
          <a:xfrm>
            <a:off x="640080" y="1828800"/>
            <a:ext cx="2624328" cy="3291840"/>
          </a:xfrm>
          <a:prstGeom prst="roundRect">
            <a:avLst>
              <a:gd name="adj" fmla="val 2091"/>
            </a:avLst>
          </a:prstGeom>
          <a:solidFill>
            <a:srgbClr val="F5F7F9"/>
          </a:solidFill>
          <a:ln/>
        </p:spPr>
      </p:sp>
      <p:sp>
        <p:nvSpPr>
          <p:cNvPr id="5" name="Shape 3"/>
          <p:cNvSpPr/>
          <p:nvPr/>
        </p:nvSpPr>
        <p:spPr>
          <a:xfrm>
            <a:off x="640080" y="1828800"/>
            <a:ext cx="2624328" cy="640080"/>
          </a:xfrm>
          <a:prstGeom prst="roundRect">
            <a:avLst>
              <a:gd name="adj" fmla="val 8571"/>
            </a:avLst>
          </a:prstGeom>
          <a:solidFill>
            <a:srgbClr val="17567A"/>
          </a:solidFill>
          <a:ln/>
        </p:spPr>
      </p:sp>
      <p:sp>
        <p:nvSpPr>
          <p:cNvPr id="6" name="Text 4"/>
          <p:cNvSpPr txBox="1"/>
          <p:nvPr/>
        </p:nvSpPr>
        <p:spPr>
          <a:xfrm>
            <a:off x="804672" y="1956816"/>
            <a:ext cx="2295144" cy="411480"/>
          </a:xfrm>
          <a:prstGeom prst="rect">
            <a:avLst/>
          </a:prstGeom>
          <a:noFill/>
          <a:ln/>
        </p:spPr>
        <p:txBody>
          <a:bodyPr wrap="square" lIns="0" tIns="0" rIns="0" bIns="0" rtlCol="0" anchor="ctr"/>
          <a:lstStyle/>
          <a:p>
            <a:pPr algn="ctr" indent="0" marL="0">
              <a:lnSpc>
                <a:spcPts val="1400"/>
              </a:lnSpc>
              <a:buNone/>
            </a:pPr>
            <a:r>
              <a:rPr lang="en-US" sz="1150" b="1" dirty="0">
                <a:solidFill>
                  <a:srgbClr val="FFFFFF"/>
                </a:solidFill>
                <a:latin typeface="Calibri" pitchFamily="34" charset="0"/>
                <a:ea typeface="Calibri" pitchFamily="34" charset="-122"/>
                <a:cs typeface="Calibri" pitchFamily="34" charset="-120"/>
              </a:rPr>
              <a:t>MODEL-DRIVEN APP</a:t>
            </a:r>
            <a:endParaRPr lang="en-US" sz="1150" dirty="0"/>
          </a:p>
        </p:txBody>
      </p:sp>
      <p:sp>
        <p:nvSpPr>
          <p:cNvPr id="7" name="Text 5"/>
          <p:cNvSpPr txBox="1"/>
          <p:nvPr/>
        </p:nvSpPr>
        <p:spPr>
          <a:xfrm>
            <a:off x="841248" y="2651760"/>
            <a:ext cx="2221992" cy="548640"/>
          </a:xfrm>
          <a:prstGeom prst="rect">
            <a:avLst/>
          </a:prstGeom>
          <a:noFill/>
          <a:ln/>
        </p:spPr>
        <p:txBody>
          <a:bodyPr wrap="square" lIns="0" tIns="0" rIns="0" bIns="0" rtlCol="0" anchor="ctr"/>
          <a:lstStyle/>
          <a:p>
            <a:pPr algn="ctr" indent="0" marL="0">
              <a:lnSpc>
                <a:spcPts val="1700"/>
              </a:lnSpc>
              <a:buNone/>
            </a:pPr>
            <a:r>
              <a:rPr lang="en-US" sz="1300" b="1" dirty="0">
                <a:solidFill>
                  <a:srgbClr val="0B2942"/>
                </a:solidFill>
                <a:latin typeface="Calibri" pitchFamily="34" charset="0"/>
                <a:ea typeface="Calibri" pitchFamily="34" charset="-122"/>
                <a:cs typeface="Calibri" pitchFamily="34" charset="-120"/>
              </a:rPr>
              <a:t>Watch NCO · Battle Captain</a:t>
            </a:r>
            <a:endParaRPr lang="en-US" sz="1300" dirty="0"/>
          </a:p>
        </p:txBody>
      </p:sp>
      <p:sp>
        <p:nvSpPr>
          <p:cNvPr id="8" name="Text 6"/>
          <p:cNvSpPr txBox="1"/>
          <p:nvPr/>
        </p:nvSpPr>
        <p:spPr>
          <a:xfrm>
            <a:off x="841248" y="3291840"/>
            <a:ext cx="2221992" cy="1463040"/>
          </a:xfrm>
          <a:prstGeom prst="rect">
            <a:avLst/>
          </a:prstGeom>
          <a:noFill/>
          <a:ln/>
        </p:spPr>
        <p:txBody>
          <a:bodyPr wrap="square" lIns="0" tIns="0" rIns="0" bIns="0" rtlCol="0" anchor="ctr"/>
          <a:lstStyle/>
          <a:p>
            <a:pPr algn="ctr" indent="0" marL="0">
              <a:lnSpc>
                <a:spcPts val="1600"/>
              </a:lnSpc>
              <a:buNone/>
            </a:pPr>
            <a:r>
              <a:rPr lang="en-US" sz="1200" dirty="0">
                <a:solidFill>
                  <a:srgbClr val="5E7185"/>
                </a:solidFill>
                <a:latin typeface="Calibri" pitchFamily="34" charset="0"/>
                <a:ea typeface="Calibri" pitchFamily="34" charset="-122"/>
                <a:cs typeface="Calibri" pitchFamily="34" charset="-120"/>
              </a:rPr>
              <a:t>Many records, queues, views, filters, dashboards. The JOC floor.</a:t>
            </a:r>
            <a:endParaRPr lang="en-US" sz="1200" dirty="0"/>
          </a:p>
        </p:txBody>
      </p:sp>
      <p:sp>
        <p:nvSpPr>
          <p:cNvPr id="9" name="Shape 7"/>
          <p:cNvSpPr/>
          <p:nvPr/>
        </p:nvSpPr>
        <p:spPr>
          <a:xfrm>
            <a:off x="3401568" y="1828800"/>
            <a:ext cx="2624328" cy="3291840"/>
          </a:xfrm>
          <a:prstGeom prst="roundRect">
            <a:avLst>
              <a:gd name="adj" fmla="val 2091"/>
            </a:avLst>
          </a:prstGeom>
          <a:solidFill>
            <a:srgbClr val="F5F7F9"/>
          </a:solidFill>
          <a:ln/>
        </p:spPr>
      </p:sp>
      <p:sp>
        <p:nvSpPr>
          <p:cNvPr id="10" name="Shape 8"/>
          <p:cNvSpPr/>
          <p:nvPr/>
        </p:nvSpPr>
        <p:spPr>
          <a:xfrm>
            <a:off x="3401568" y="1828800"/>
            <a:ext cx="2624328" cy="640080"/>
          </a:xfrm>
          <a:prstGeom prst="roundRect">
            <a:avLst>
              <a:gd name="adj" fmla="val 8571"/>
            </a:avLst>
          </a:prstGeom>
          <a:solidFill>
            <a:srgbClr val="E8792B"/>
          </a:solidFill>
          <a:ln/>
        </p:spPr>
      </p:sp>
      <p:sp>
        <p:nvSpPr>
          <p:cNvPr id="11" name="Text 9"/>
          <p:cNvSpPr txBox="1"/>
          <p:nvPr/>
        </p:nvSpPr>
        <p:spPr>
          <a:xfrm>
            <a:off x="3566160" y="1956816"/>
            <a:ext cx="2295144" cy="411480"/>
          </a:xfrm>
          <a:prstGeom prst="rect">
            <a:avLst/>
          </a:prstGeom>
          <a:noFill/>
          <a:ln/>
        </p:spPr>
        <p:txBody>
          <a:bodyPr wrap="square" lIns="0" tIns="0" rIns="0" bIns="0" rtlCol="0" anchor="ctr"/>
          <a:lstStyle/>
          <a:p>
            <a:pPr algn="ctr" indent="0" marL="0">
              <a:lnSpc>
                <a:spcPts val="1400"/>
              </a:lnSpc>
              <a:buNone/>
            </a:pPr>
            <a:r>
              <a:rPr lang="en-US" sz="1150" b="1" dirty="0">
                <a:solidFill>
                  <a:srgbClr val="FFFFFF"/>
                </a:solidFill>
                <a:latin typeface="Calibri" pitchFamily="34" charset="0"/>
                <a:ea typeface="Calibri" pitchFamily="34" charset="-122"/>
                <a:cs typeface="Calibri" pitchFamily="34" charset="-120"/>
              </a:rPr>
              <a:t>CANVAS APP — MOBILE</a:t>
            </a:r>
            <a:endParaRPr lang="en-US" sz="1150" dirty="0"/>
          </a:p>
        </p:txBody>
      </p:sp>
      <p:sp>
        <p:nvSpPr>
          <p:cNvPr id="12" name="Text 10"/>
          <p:cNvSpPr txBox="1"/>
          <p:nvPr/>
        </p:nvSpPr>
        <p:spPr>
          <a:xfrm>
            <a:off x="3602736" y="2651760"/>
            <a:ext cx="2221992" cy="548640"/>
          </a:xfrm>
          <a:prstGeom prst="rect">
            <a:avLst/>
          </a:prstGeom>
          <a:noFill/>
          <a:ln/>
        </p:spPr>
        <p:txBody>
          <a:bodyPr wrap="square" lIns="0" tIns="0" rIns="0" bIns="0" rtlCol="0" anchor="ctr"/>
          <a:lstStyle/>
          <a:p>
            <a:pPr algn="ctr" indent="0" marL="0">
              <a:lnSpc>
                <a:spcPts val="1700"/>
              </a:lnSpc>
              <a:buNone/>
            </a:pPr>
            <a:r>
              <a:rPr lang="en-US" sz="1300" b="1" dirty="0">
                <a:solidFill>
                  <a:srgbClr val="0B2942"/>
                </a:solidFill>
                <a:latin typeface="Calibri" pitchFamily="34" charset="0"/>
                <a:ea typeface="Calibri" pitchFamily="34" charset="-122"/>
                <a:cs typeface="Calibri" pitchFamily="34" charset="-120"/>
              </a:rPr>
              <a:t>Task Force Commander</a:t>
            </a:r>
            <a:endParaRPr lang="en-US" sz="1300" dirty="0"/>
          </a:p>
        </p:txBody>
      </p:sp>
      <p:sp>
        <p:nvSpPr>
          <p:cNvPr id="13" name="Text 11"/>
          <p:cNvSpPr txBox="1"/>
          <p:nvPr/>
        </p:nvSpPr>
        <p:spPr>
          <a:xfrm>
            <a:off x="3602736" y="3291840"/>
            <a:ext cx="2221992" cy="1463040"/>
          </a:xfrm>
          <a:prstGeom prst="rect">
            <a:avLst/>
          </a:prstGeom>
          <a:noFill/>
          <a:ln/>
        </p:spPr>
        <p:txBody>
          <a:bodyPr wrap="square" lIns="0" tIns="0" rIns="0" bIns="0" rtlCol="0" anchor="ctr"/>
          <a:lstStyle/>
          <a:p>
            <a:pPr algn="ctr" indent="0" marL="0">
              <a:lnSpc>
                <a:spcPts val="1600"/>
              </a:lnSpc>
              <a:buNone/>
            </a:pPr>
            <a:r>
              <a:rPr lang="en-US" sz="1200" dirty="0">
                <a:solidFill>
                  <a:srgbClr val="5E7185"/>
                </a:solidFill>
                <a:latin typeface="Calibri" pitchFamily="34" charset="0"/>
                <a:ea typeface="Calibri" pitchFamily="34" charset="-122"/>
                <a:cs typeface="Calibri" pitchFamily="34" charset="-120"/>
              </a:rPr>
              <a:t>One thumb, bad signal, gloves on. Three taps to update status.</a:t>
            </a:r>
            <a:endParaRPr lang="en-US" sz="1200" dirty="0"/>
          </a:p>
        </p:txBody>
      </p:sp>
      <p:sp>
        <p:nvSpPr>
          <p:cNvPr id="14" name="Shape 12"/>
          <p:cNvSpPr/>
          <p:nvPr/>
        </p:nvSpPr>
        <p:spPr>
          <a:xfrm>
            <a:off x="6163056" y="1828800"/>
            <a:ext cx="2624328" cy="3291840"/>
          </a:xfrm>
          <a:prstGeom prst="roundRect">
            <a:avLst>
              <a:gd name="adj" fmla="val 2091"/>
            </a:avLst>
          </a:prstGeom>
          <a:solidFill>
            <a:srgbClr val="F5F7F9"/>
          </a:solidFill>
          <a:ln/>
        </p:spPr>
      </p:sp>
      <p:sp>
        <p:nvSpPr>
          <p:cNvPr id="15" name="Shape 13"/>
          <p:cNvSpPr/>
          <p:nvPr/>
        </p:nvSpPr>
        <p:spPr>
          <a:xfrm>
            <a:off x="6163056" y="1828800"/>
            <a:ext cx="2624328" cy="640080"/>
          </a:xfrm>
          <a:prstGeom prst="roundRect">
            <a:avLst>
              <a:gd name="adj" fmla="val 8571"/>
            </a:avLst>
          </a:prstGeom>
          <a:solidFill>
            <a:srgbClr val="8C6239"/>
          </a:solidFill>
          <a:ln/>
        </p:spPr>
      </p:sp>
      <p:sp>
        <p:nvSpPr>
          <p:cNvPr id="16" name="Text 14"/>
          <p:cNvSpPr txBox="1"/>
          <p:nvPr/>
        </p:nvSpPr>
        <p:spPr>
          <a:xfrm>
            <a:off x="6327648" y="1956816"/>
            <a:ext cx="2295144" cy="411480"/>
          </a:xfrm>
          <a:prstGeom prst="rect">
            <a:avLst/>
          </a:prstGeom>
          <a:noFill/>
          <a:ln/>
        </p:spPr>
        <p:txBody>
          <a:bodyPr wrap="square" lIns="0" tIns="0" rIns="0" bIns="0" rtlCol="0" anchor="ctr"/>
          <a:lstStyle/>
          <a:p>
            <a:pPr algn="ctr" indent="0" marL="0">
              <a:lnSpc>
                <a:spcPts val="1400"/>
              </a:lnSpc>
              <a:buNone/>
            </a:pPr>
            <a:r>
              <a:rPr lang="en-US" sz="1150" b="1" dirty="0">
                <a:solidFill>
                  <a:srgbClr val="FFFFFF"/>
                </a:solidFill>
                <a:latin typeface="Calibri" pitchFamily="34" charset="0"/>
                <a:ea typeface="Calibri" pitchFamily="34" charset="-122"/>
                <a:cs typeface="Calibri" pitchFamily="34" charset="-120"/>
              </a:rPr>
              <a:t>POWER PAGES PORTAL</a:t>
            </a:r>
            <a:endParaRPr lang="en-US" sz="1150" dirty="0"/>
          </a:p>
        </p:txBody>
      </p:sp>
      <p:sp>
        <p:nvSpPr>
          <p:cNvPr id="17" name="Text 15"/>
          <p:cNvSpPr txBox="1"/>
          <p:nvPr/>
        </p:nvSpPr>
        <p:spPr>
          <a:xfrm>
            <a:off x="6364224" y="2651760"/>
            <a:ext cx="2221992" cy="548640"/>
          </a:xfrm>
          <a:prstGeom prst="rect">
            <a:avLst/>
          </a:prstGeom>
          <a:noFill/>
          <a:ln/>
        </p:spPr>
        <p:txBody>
          <a:bodyPr wrap="square" lIns="0" tIns="0" rIns="0" bIns="0" rtlCol="0" anchor="ctr"/>
          <a:lstStyle/>
          <a:p>
            <a:pPr algn="ctr" indent="0" marL="0">
              <a:lnSpc>
                <a:spcPts val="1700"/>
              </a:lnSpc>
              <a:buNone/>
            </a:pPr>
            <a:r>
              <a:rPr lang="en-US" sz="1300" b="1" dirty="0">
                <a:solidFill>
                  <a:srgbClr val="0B2942"/>
                </a:solidFill>
                <a:latin typeface="Calibri" pitchFamily="34" charset="0"/>
                <a:ea typeface="Calibri" pitchFamily="34" charset="-122"/>
                <a:cs typeface="Calibri" pitchFamily="34" charset="-120"/>
              </a:rPr>
              <a:t>Parish Emergency Manager</a:t>
            </a:r>
            <a:endParaRPr lang="en-US" sz="1300" dirty="0"/>
          </a:p>
        </p:txBody>
      </p:sp>
      <p:sp>
        <p:nvSpPr>
          <p:cNvPr id="18" name="Text 16"/>
          <p:cNvSpPr txBox="1"/>
          <p:nvPr/>
        </p:nvSpPr>
        <p:spPr>
          <a:xfrm>
            <a:off x="6364224" y="3291840"/>
            <a:ext cx="2221992" cy="1463040"/>
          </a:xfrm>
          <a:prstGeom prst="rect">
            <a:avLst/>
          </a:prstGeom>
          <a:noFill/>
          <a:ln/>
        </p:spPr>
        <p:txBody>
          <a:bodyPr wrap="square" lIns="0" tIns="0" rIns="0" bIns="0" rtlCol="0" anchor="ctr"/>
          <a:lstStyle/>
          <a:p>
            <a:pPr algn="ctr" indent="0" marL="0">
              <a:lnSpc>
                <a:spcPts val="1600"/>
              </a:lnSpc>
              <a:buNone/>
            </a:pPr>
            <a:r>
              <a:rPr lang="en-US" sz="1200" dirty="0">
                <a:solidFill>
                  <a:srgbClr val="5E7185"/>
                </a:solidFill>
                <a:latin typeface="Calibri" pitchFamily="34" charset="0"/>
                <a:ea typeface="Calibri" pitchFamily="34" charset="-122"/>
                <a:cs typeface="Calibri" pitchFamily="34" charset="-120"/>
              </a:rPr>
              <a:t>No Guard account. Submit a request, see only your parish's status.</a:t>
            </a:r>
            <a:endParaRPr lang="en-US" sz="1200" dirty="0"/>
          </a:p>
        </p:txBody>
      </p:sp>
      <p:sp>
        <p:nvSpPr>
          <p:cNvPr id="19" name="Shape 17"/>
          <p:cNvSpPr/>
          <p:nvPr/>
        </p:nvSpPr>
        <p:spPr>
          <a:xfrm>
            <a:off x="8924544" y="1828800"/>
            <a:ext cx="2624328" cy="3291840"/>
          </a:xfrm>
          <a:prstGeom prst="roundRect">
            <a:avLst>
              <a:gd name="adj" fmla="val 2091"/>
            </a:avLst>
          </a:prstGeom>
          <a:solidFill>
            <a:srgbClr val="F5F7F9"/>
          </a:solidFill>
          <a:ln/>
        </p:spPr>
      </p:sp>
      <p:sp>
        <p:nvSpPr>
          <p:cNvPr id="20" name="Shape 18"/>
          <p:cNvSpPr/>
          <p:nvPr/>
        </p:nvSpPr>
        <p:spPr>
          <a:xfrm>
            <a:off x="8924544" y="1828800"/>
            <a:ext cx="2624328" cy="640080"/>
          </a:xfrm>
          <a:prstGeom prst="roundRect">
            <a:avLst>
              <a:gd name="adj" fmla="val 8571"/>
            </a:avLst>
          </a:prstGeom>
          <a:solidFill>
            <a:srgbClr val="0B2942"/>
          </a:solidFill>
          <a:ln/>
        </p:spPr>
      </p:sp>
      <p:sp>
        <p:nvSpPr>
          <p:cNvPr id="21" name="Text 19"/>
          <p:cNvSpPr txBox="1"/>
          <p:nvPr/>
        </p:nvSpPr>
        <p:spPr>
          <a:xfrm>
            <a:off x="9089136" y="1956816"/>
            <a:ext cx="2295144" cy="411480"/>
          </a:xfrm>
          <a:prstGeom prst="rect">
            <a:avLst/>
          </a:prstGeom>
          <a:noFill/>
          <a:ln/>
        </p:spPr>
        <p:txBody>
          <a:bodyPr wrap="square" lIns="0" tIns="0" rIns="0" bIns="0" rtlCol="0" anchor="ctr"/>
          <a:lstStyle/>
          <a:p>
            <a:pPr algn="ctr" indent="0" marL="0">
              <a:lnSpc>
                <a:spcPts val="1400"/>
              </a:lnSpc>
              <a:buNone/>
            </a:pPr>
            <a:r>
              <a:rPr lang="en-US" sz="1150" b="1" dirty="0">
                <a:solidFill>
                  <a:srgbClr val="FFFFFF"/>
                </a:solidFill>
                <a:latin typeface="Calibri" pitchFamily="34" charset="0"/>
                <a:ea typeface="Calibri" pitchFamily="34" charset="-122"/>
                <a:cs typeface="Calibri" pitchFamily="34" charset="-120"/>
              </a:rPr>
              <a:t>DASHBOARD</a:t>
            </a:r>
            <a:endParaRPr lang="en-US" sz="1150" dirty="0"/>
          </a:p>
        </p:txBody>
      </p:sp>
      <p:sp>
        <p:nvSpPr>
          <p:cNvPr id="22" name="Text 20"/>
          <p:cNvSpPr txBox="1"/>
          <p:nvPr/>
        </p:nvSpPr>
        <p:spPr>
          <a:xfrm>
            <a:off x="9125712" y="2651760"/>
            <a:ext cx="2221992" cy="548640"/>
          </a:xfrm>
          <a:prstGeom prst="rect">
            <a:avLst/>
          </a:prstGeom>
          <a:noFill/>
          <a:ln/>
        </p:spPr>
        <p:txBody>
          <a:bodyPr wrap="square" lIns="0" tIns="0" rIns="0" bIns="0" rtlCol="0" anchor="ctr"/>
          <a:lstStyle/>
          <a:p>
            <a:pPr algn="ctr" indent="0" marL="0">
              <a:lnSpc>
                <a:spcPts val="1700"/>
              </a:lnSpc>
              <a:buNone/>
            </a:pPr>
            <a:r>
              <a:rPr lang="en-US" sz="1300" b="1" dirty="0">
                <a:solidFill>
                  <a:srgbClr val="0B2942"/>
                </a:solidFill>
                <a:latin typeface="Calibri" pitchFamily="34" charset="0"/>
                <a:ea typeface="Calibri" pitchFamily="34" charset="-122"/>
                <a:cs typeface="Calibri" pitchFamily="34" charset="-120"/>
              </a:rPr>
              <a:t>JTF Commander / TAG</a:t>
            </a:r>
            <a:endParaRPr lang="en-US" sz="1300" dirty="0"/>
          </a:p>
        </p:txBody>
      </p:sp>
      <p:sp>
        <p:nvSpPr>
          <p:cNvPr id="23" name="Text 21"/>
          <p:cNvSpPr txBox="1"/>
          <p:nvPr/>
        </p:nvSpPr>
        <p:spPr>
          <a:xfrm>
            <a:off x="9125712" y="3291840"/>
            <a:ext cx="2221992" cy="1463040"/>
          </a:xfrm>
          <a:prstGeom prst="rect">
            <a:avLst/>
          </a:prstGeom>
          <a:noFill/>
          <a:ln/>
        </p:spPr>
        <p:txBody>
          <a:bodyPr wrap="square" lIns="0" tIns="0" rIns="0" bIns="0" rtlCol="0" anchor="ctr"/>
          <a:lstStyle/>
          <a:p>
            <a:pPr algn="ctr" indent="0" marL="0">
              <a:lnSpc>
                <a:spcPts val="1600"/>
              </a:lnSpc>
              <a:buNone/>
            </a:pPr>
            <a:r>
              <a:rPr lang="en-US" sz="1200" dirty="0">
                <a:solidFill>
                  <a:srgbClr val="5E7185"/>
                </a:solidFill>
                <a:latin typeface="Calibri" pitchFamily="34" charset="0"/>
                <a:ea typeface="Calibri" pitchFamily="34" charset="-122"/>
                <a:cs typeface="Calibri" pitchFamily="34" charset="-120"/>
              </a:rPr>
              <a:t>One screen. Committed vs available. Open by priority. No drilling.</a:t>
            </a:r>
            <a:endParaRPr lang="en-US" sz="1200" dirty="0"/>
          </a:p>
        </p:txBody>
      </p:sp>
      <p:sp>
        <p:nvSpPr>
          <p:cNvPr id="24" name="Text 22"/>
          <p:cNvSpPr txBox="1"/>
          <p:nvPr/>
        </p:nvSpPr>
        <p:spPr>
          <a:xfrm>
            <a:off x="640080" y="6355080"/>
            <a:ext cx="6976872" cy="274320"/>
          </a:xfrm>
          <a:prstGeom prst="rect">
            <a:avLst/>
          </a:prstGeom>
          <a:noFill/>
          <a:ln/>
        </p:spPr>
        <p:txBody>
          <a:bodyPr wrap="square" lIns="0" tIns="0" rIns="0" bIns="0" rtlCol="0" anchor="ctr"/>
          <a:lstStyle/>
          <a:p>
            <a:pPr indent="0" marL="0">
              <a:buNone/>
            </a:pPr>
            <a:r>
              <a:rPr lang="en-US" sz="1000" i="1" dirty="0">
                <a:solidFill>
                  <a:srgbClr val="5E7185"/>
                </a:solidFill>
                <a:latin typeface="Calibri" pitchFamily="34" charset="0"/>
                <a:ea typeface="Calibri" pitchFamily="34" charset="-122"/>
                <a:cs typeface="Calibri" pitchFamily="34" charset="-120"/>
              </a:rPr>
              <a:t>Rule of thumb — model-driven: managing many records. Canvas: one task, done fast. Portal: no account.</a:t>
            </a:r>
            <a:endParaRPr lang="en-US" sz="1000" dirty="0"/>
          </a:p>
        </p:txBody>
      </p:sp>
      <p:sp>
        <p:nvSpPr>
          <p:cNvPr id="25" name="Text 23"/>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9966960" y="1005840"/>
            <a:ext cx="4754880" cy="4754880"/>
          </a:xfrm>
          <a:prstGeom prst="ellipse">
            <a:avLst/>
          </a:prstGeom>
          <a:solidFill>
            <a:srgbClr val="17567A"/>
          </a:solidFill>
          <a:ln/>
        </p:spPr>
      </p:sp>
      <p:sp>
        <p:nvSpPr>
          <p:cNvPr id="3" name="Text 1"/>
          <p:cNvSpPr txBox="1"/>
          <p:nvPr/>
        </p:nvSpPr>
        <p:spPr>
          <a:xfrm>
            <a:off x="640080" y="2514600"/>
            <a:ext cx="8229600" cy="320040"/>
          </a:xfrm>
          <a:prstGeom prst="rect">
            <a:avLst/>
          </a:prstGeom>
          <a:noFill/>
          <a:ln/>
        </p:spPr>
        <p:txBody>
          <a:bodyPr wrap="square" lIns="0" tIns="0" rIns="0" bIns="0" rtlCol="0" anchor="ctr"/>
          <a:lstStyle/>
          <a:p>
            <a:pPr indent="0" marL="0">
              <a:buNone/>
            </a:pPr>
            <a:r>
              <a:rPr lang="en-US" sz="1300" b="1" spc="300" kern="0" dirty="0">
                <a:solidFill>
                  <a:srgbClr val="E8792B"/>
                </a:solidFill>
                <a:latin typeface="Calibri" pitchFamily="34" charset="0"/>
                <a:ea typeface="Calibri" pitchFamily="34" charset="-122"/>
                <a:cs typeface="Calibri" pitchFamily="34" charset="-120"/>
              </a:rPr>
              <a:t>PHASE 2</a:t>
            </a:r>
            <a:endParaRPr lang="en-US" sz="1300" dirty="0"/>
          </a:p>
        </p:txBody>
      </p:sp>
      <p:sp>
        <p:nvSpPr>
          <p:cNvPr id="4" name="Text 2"/>
          <p:cNvSpPr txBox="1"/>
          <p:nvPr/>
        </p:nvSpPr>
        <p:spPr>
          <a:xfrm>
            <a:off x="640080" y="2880360"/>
            <a:ext cx="8229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Design</a:t>
            </a:r>
            <a:endParaRPr lang="en-US" sz="4600" dirty="0"/>
          </a:p>
        </p:txBody>
      </p:sp>
      <p:sp>
        <p:nvSpPr>
          <p:cNvPr id="5" name="Text 3"/>
          <p:cNvSpPr txBox="1"/>
          <p:nvPr/>
        </p:nvSpPr>
        <p:spPr>
          <a:xfrm>
            <a:off x="640080" y="3886200"/>
            <a:ext cx="8229600" cy="548640"/>
          </a:xfrm>
          <a:prstGeom prst="rect">
            <a:avLst/>
          </a:prstGeom>
          <a:noFill/>
          <a:ln/>
        </p:spPr>
        <p:txBody>
          <a:bodyPr wrap="square" lIns="0" tIns="0" rIns="0" bIns="0" rtlCol="0" anchor="ctr"/>
          <a:lstStyle/>
          <a:p>
            <a:pPr indent="0" marL="0">
              <a:lnSpc>
                <a:spcPts val="2100"/>
              </a:lnSpc>
              <a:buNone/>
            </a:pPr>
            <a:r>
              <a:rPr lang="en-US" sz="1600" dirty="0">
                <a:solidFill>
                  <a:srgbClr val="BFD2E0"/>
                </a:solidFill>
                <a:latin typeface="Calibri" pitchFamily="34" charset="0"/>
                <a:ea typeface="Calibri" pitchFamily="34" charset="-122"/>
                <a:cs typeface="Calibri" pitchFamily="34" charset="-120"/>
              </a:rPr>
              <a:t>Workflows, escalation, agent, reporting, and what happens when the network dies.</a:t>
            </a:r>
            <a:endParaRPr lang="en-US" sz="1600" dirty="0"/>
          </a:p>
        </p:txBody>
      </p:sp>
      <p:sp>
        <p:nvSpPr>
          <p:cNvPr id="6" name="Text 4"/>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6E8AA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DESIGN TOPIC 1 · WORKFLOWS</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What should happen without anyone remembering?</a:t>
            </a:r>
            <a:endParaRPr lang="en-US" sz="3000" dirty="0"/>
          </a:p>
        </p:txBody>
      </p:sp>
      <p:sp>
        <p:nvSpPr>
          <p:cNvPr id="4" name="Text 2"/>
          <p:cNvSpPr txBox="1"/>
          <p:nvPr/>
        </p:nvSpPr>
        <p:spPr>
          <a:xfrm>
            <a:off x="640080" y="1737360"/>
            <a:ext cx="10908792" cy="320040"/>
          </a:xfrm>
          <a:prstGeom prst="rect">
            <a:avLst/>
          </a:prstGeom>
          <a:noFill/>
          <a:ln/>
        </p:spPr>
        <p:txBody>
          <a:bodyPr wrap="square" lIns="0" tIns="0" rIns="0" bIns="0" rtlCol="0" anchor="ctr"/>
          <a:lstStyle/>
          <a:p>
            <a:pPr indent="0" marL="0">
              <a:buNone/>
            </a:pPr>
            <a:r>
              <a:rPr lang="en-US" sz="1400" i="1" dirty="0">
                <a:solidFill>
                  <a:srgbClr val="5E7185"/>
                </a:solidFill>
                <a:latin typeface="Calibri" pitchFamily="34" charset="0"/>
                <a:ea typeface="Calibri" pitchFamily="34" charset="-122"/>
                <a:cs typeface="Calibri" pitchFamily="34" charset="-120"/>
              </a:rPr>
              <a:t>Write every one as a trigger and an action. If you can't say it in that shape, it isn't ready.</a:t>
            </a:r>
            <a:endParaRPr lang="en-US" sz="1400" dirty="0"/>
          </a:p>
        </p:txBody>
      </p:sp>
      <p:sp>
        <p:nvSpPr>
          <p:cNvPr id="5" name="Shape 3"/>
          <p:cNvSpPr/>
          <p:nvPr/>
        </p:nvSpPr>
        <p:spPr>
          <a:xfrm>
            <a:off x="640080" y="2148840"/>
            <a:ext cx="10908792" cy="585216"/>
          </a:xfrm>
          <a:prstGeom prst="roundRect">
            <a:avLst>
              <a:gd name="adj" fmla="val 9375"/>
            </a:avLst>
          </a:prstGeom>
          <a:solidFill>
            <a:srgbClr val="F5F7F9"/>
          </a:solidFill>
          <a:ln/>
        </p:spPr>
      </p:sp>
      <p:sp>
        <p:nvSpPr>
          <p:cNvPr id="6" name="Text 4"/>
          <p:cNvSpPr txBox="1"/>
          <p:nvPr/>
        </p:nvSpPr>
        <p:spPr>
          <a:xfrm>
            <a:off x="868680" y="2340864"/>
            <a:ext cx="548640" cy="237744"/>
          </a:xfrm>
          <a:prstGeom prst="rect">
            <a:avLst/>
          </a:prstGeom>
          <a:noFill/>
          <a:ln/>
        </p:spPr>
        <p:txBody>
          <a:bodyPr wrap="square" lIns="0" tIns="0" rIns="0" bIns="0" rtlCol="0" anchor="ctr"/>
          <a:lstStyle/>
          <a:p>
            <a:pPr indent="0" marL="0">
              <a:buNone/>
            </a:pPr>
            <a:r>
              <a:rPr lang="en-US" sz="950" b="1" spc="100" kern="0" dirty="0">
                <a:solidFill>
                  <a:srgbClr val="E8792B"/>
                </a:solidFill>
                <a:latin typeface="Calibri" pitchFamily="34" charset="0"/>
                <a:ea typeface="Calibri" pitchFamily="34" charset="-122"/>
                <a:cs typeface="Calibri" pitchFamily="34" charset="-120"/>
              </a:rPr>
              <a:t>WHEN</a:t>
            </a:r>
            <a:endParaRPr lang="en-US" sz="950" dirty="0"/>
          </a:p>
        </p:txBody>
      </p:sp>
      <p:sp>
        <p:nvSpPr>
          <p:cNvPr id="7" name="Text 5"/>
          <p:cNvSpPr txBox="1"/>
          <p:nvPr/>
        </p:nvSpPr>
        <p:spPr>
          <a:xfrm>
            <a:off x="1463040" y="2322576"/>
            <a:ext cx="420624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Request arrives from a parish portal</a:t>
            </a:r>
            <a:endParaRPr lang="en-US" sz="1250" dirty="0"/>
          </a:p>
        </p:txBody>
      </p:sp>
      <p:sp>
        <p:nvSpPr>
          <p:cNvPr id="8" name="Text 6"/>
          <p:cNvSpPr txBox="1"/>
          <p:nvPr/>
        </p:nvSpPr>
        <p:spPr>
          <a:xfrm>
            <a:off x="5760720" y="2313432"/>
            <a:ext cx="320040" cy="274320"/>
          </a:xfrm>
          <a:prstGeom prst="rect">
            <a:avLst/>
          </a:prstGeom>
          <a:noFill/>
          <a:ln/>
        </p:spPr>
        <p:txBody>
          <a:bodyPr wrap="square" lIns="0" tIns="0" rIns="0" bIns="0" rtlCol="0" anchor="ctr"/>
          <a:lstStyle/>
          <a:p>
            <a:pPr indent="0" marL="0">
              <a:buNone/>
            </a:pPr>
            <a:r>
              <a:rPr lang="en-US" sz="1300" b="1" dirty="0">
                <a:solidFill>
                  <a:srgbClr val="E8792B"/>
                </a:solidFill>
                <a:latin typeface="Calibri" pitchFamily="34" charset="0"/>
                <a:ea typeface="Calibri" pitchFamily="34" charset="-122"/>
                <a:cs typeface="Calibri" pitchFamily="34" charset="-120"/>
              </a:rPr>
              <a:t>→</a:t>
            </a:r>
            <a:endParaRPr lang="en-US" sz="1300" dirty="0"/>
          </a:p>
        </p:txBody>
      </p:sp>
      <p:sp>
        <p:nvSpPr>
          <p:cNvPr id="9" name="Text 7"/>
          <p:cNvSpPr txBox="1"/>
          <p:nvPr/>
        </p:nvSpPr>
        <p:spPr>
          <a:xfrm>
            <a:off x="6172200" y="2322576"/>
            <a:ext cx="5148072"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Notify JOC watch · assign mission number · acknowledge to the parish</a:t>
            </a:r>
            <a:endParaRPr lang="en-US" sz="1250" dirty="0"/>
          </a:p>
        </p:txBody>
      </p:sp>
      <p:sp>
        <p:nvSpPr>
          <p:cNvPr id="10" name="Shape 8"/>
          <p:cNvSpPr/>
          <p:nvPr/>
        </p:nvSpPr>
        <p:spPr>
          <a:xfrm>
            <a:off x="640080" y="2807208"/>
            <a:ext cx="10908792" cy="585216"/>
          </a:xfrm>
          <a:prstGeom prst="roundRect">
            <a:avLst>
              <a:gd name="adj" fmla="val 9375"/>
            </a:avLst>
          </a:prstGeom>
          <a:solidFill>
            <a:srgbClr val="FFFFFF"/>
          </a:solidFill>
          <a:ln/>
        </p:spPr>
      </p:sp>
      <p:sp>
        <p:nvSpPr>
          <p:cNvPr id="11" name="Text 9"/>
          <p:cNvSpPr txBox="1"/>
          <p:nvPr/>
        </p:nvSpPr>
        <p:spPr>
          <a:xfrm>
            <a:off x="868680" y="2999232"/>
            <a:ext cx="548640" cy="237744"/>
          </a:xfrm>
          <a:prstGeom prst="rect">
            <a:avLst/>
          </a:prstGeom>
          <a:noFill/>
          <a:ln/>
        </p:spPr>
        <p:txBody>
          <a:bodyPr wrap="square" lIns="0" tIns="0" rIns="0" bIns="0" rtlCol="0" anchor="ctr"/>
          <a:lstStyle/>
          <a:p>
            <a:pPr indent="0" marL="0">
              <a:buNone/>
            </a:pPr>
            <a:r>
              <a:rPr lang="en-US" sz="950" b="1" spc="100" kern="0" dirty="0">
                <a:solidFill>
                  <a:srgbClr val="E8792B"/>
                </a:solidFill>
                <a:latin typeface="Calibri" pitchFamily="34" charset="0"/>
                <a:ea typeface="Calibri" pitchFamily="34" charset="-122"/>
                <a:cs typeface="Calibri" pitchFamily="34" charset="-120"/>
              </a:rPr>
              <a:t>WHEN</a:t>
            </a:r>
            <a:endParaRPr lang="en-US" sz="950" dirty="0"/>
          </a:p>
        </p:txBody>
      </p:sp>
      <p:sp>
        <p:nvSpPr>
          <p:cNvPr id="12" name="Text 10"/>
          <p:cNvSpPr txBox="1"/>
          <p:nvPr/>
        </p:nvSpPr>
        <p:spPr>
          <a:xfrm>
            <a:off x="1463040" y="2980944"/>
            <a:ext cx="420624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Mission validated and assigned</a:t>
            </a:r>
            <a:endParaRPr lang="en-US" sz="1250" dirty="0"/>
          </a:p>
        </p:txBody>
      </p:sp>
      <p:sp>
        <p:nvSpPr>
          <p:cNvPr id="13" name="Text 11"/>
          <p:cNvSpPr txBox="1"/>
          <p:nvPr/>
        </p:nvSpPr>
        <p:spPr>
          <a:xfrm>
            <a:off x="5760720" y="2971800"/>
            <a:ext cx="320040" cy="274320"/>
          </a:xfrm>
          <a:prstGeom prst="rect">
            <a:avLst/>
          </a:prstGeom>
          <a:noFill/>
          <a:ln/>
        </p:spPr>
        <p:txBody>
          <a:bodyPr wrap="square" lIns="0" tIns="0" rIns="0" bIns="0" rtlCol="0" anchor="ctr"/>
          <a:lstStyle/>
          <a:p>
            <a:pPr indent="0" marL="0">
              <a:buNone/>
            </a:pPr>
            <a:r>
              <a:rPr lang="en-US" sz="1300" b="1" dirty="0">
                <a:solidFill>
                  <a:srgbClr val="E8792B"/>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6172200" y="2980944"/>
            <a:ext cx="5148072"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Notify the task force commander AND the requesting parish</a:t>
            </a:r>
            <a:endParaRPr lang="en-US" sz="1250" dirty="0"/>
          </a:p>
        </p:txBody>
      </p:sp>
      <p:sp>
        <p:nvSpPr>
          <p:cNvPr id="15" name="Shape 13"/>
          <p:cNvSpPr/>
          <p:nvPr/>
        </p:nvSpPr>
        <p:spPr>
          <a:xfrm>
            <a:off x="640080" y="3465576"/>
            <a:ext cx="10908792" cy="585216"/>
          </a:xfrm>
          <a:prstGeom prst="roundRect">
            <a:avLst>
              <a:gd name="adj" fmla="val 9375"/>
            </a:avLst>
          </a:prstGeom>
          <a:solidFill>
            <a:srgbClr val="F5F7F9"/>
          </a:solidFill>
          <a:ln/>
        </p:spPr>
      </p:sp>
      <p:sp>
        <p:nvSpPr>
          <p:cNvPr id="16" name="Text 14"/>
          <p:cNvSpPr txBox="1"/>
          <p:nvPr/>
        </p:nvSpPr>
        <p:spPr>
          <a:xfrm>
            <a:off x="868680" y="3657600"/>
            <a:ext cx="548640" cy="237744"/>
          </a:xfrm>
          <a:prstGeom prst="rect">
            <a:avLst/>
          </a:prstGeom>
          <a:noFill/>
          <a:ln/>
        </p:spPr>
        <p:txBody>
          <a:bodyPr wrap="square" lIns="0" tIns="0" rIns="0" bIns="0" rtlCol="0" anchor="ctr"/>
          <a:lstStyle/>
          <a:p>
            <a:pPr indent="0" marL="0">
              <a:buNone/>
            </a:pPr>
            <a:r>
              <a:rPr lang="en-US" sz="950" b="1" spc="100" kern="0" dirty="0">
                <a:solidFill>
                  <a:srgbClr val="E8792B"/>
                </a:solidFill>
                <a:latin typeface="Calibri" pitchFamily="34" charset="0"/>
                <a:ea typeface="Calibri" pitchFamily="34" charset="-122"/>
                <a:cs typeface="Calibri" pitchFamily="34" charset="-120"/>
              </a:rPr>
              <a:t>WHEN</a:t>
            </a:r>
            <a:endParaRPr lang="en-US" sz="950" dirty="0"/>
          </a:p>
        </p:txBody>
      </p:sp>
      <p:sp>
        <p:nvSpPr>
          <p:cNvPr id="17" name="Text 15"/>
          <p:cNvSpPr txBox="1"/>
          <p:nvPr/>
        </p:nvSpPr>
        <p:spPr>
          <a:xfrm>
            <a:off x="1463040" y="3639312"/>
            <a:ext cx="420624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Status set to Complete</a:t>
            </a:r>
            <a:endParaRPr lang="en-US" sz="1250" dirty="0"/>
          </a:p>
        </p:txBody>
      </p:sp>
      <p:sp>
        <p:nvSpPr>
          <p:cNvPr id="18" name="Text 16"/>
          <p:cNvSpPr txBox="1"/>
          <p:nvPr/>
        </p:nvSpPr>
        <p:spPr>
          <a:xfrm>
            <a:off x="5760720" y="3630168"/>
            <a:ext cx="320040" cy="274320"/>
          </a:xfrm>
          <a:prstGeom prst="rect">
            <a:avLst/>
          </a:prstGeom>
          <a:noFill/>
          <a:ln/>
        </p:spPr>
        <p:txBody>
          <a:bodyPr wrap="square" lIns="0" tIns="0" rIns="0" bIns="0" rtlCol="0" anchor="ctr"/>
          <a:lstStyle/>
          <a:p>
            <a:pPr indent="0" marL="0">
              <a:buNone/>
            </a:pPr>
            <a:r>
              <a:rPr lang="en-US" sz="1300" b="1" dirty="0">
                <a:solidFill>
                  <a:srgbClr val="E8792B"/>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6172200" y="3639312"/>
            <a:ext cx="5148072"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Notify the parish · roll results into the running totals</a:t>
            </a:r>
            <a:endParaRPr lang="en-US" sz="1250" dirty="0"/>
          </a:p>
        </p:txBody>
      </p:sp>
      <p:sp>
        <p:nvSpPr>
          <p:cNvPr id="20" name="Shape 18"/>
          <p:cNvSpPr/>
          <p:nvPr/>
        </p:nvSpPr>
        <p:spPr>
          <a:xfrm>
            <a:off x="640080" y="4123944"/>
            <a:ext cx="10908792" cy="585216"/>
          </a:xfrm>
          <a:prstGeom prst="roundRect">
            <a:avLst>
              <a:gd name="adj" fmla="val 9375"/>
            </a:avLst>
          </a:prstGeom>
          <a:solidFill>
            <a:srgbClr val="FFFFFF"/>
          </a:solidFill>
          <a:ln/>
        </p:spPr>
      </p:sp>
      <p:sp>
        <p:nvSpPr>
          <p:cNvPr id="21" name="Text 19"/>
          <p:cNvSpPr txBox="1"/>
          <p:nvPr/>
        </p:nvSpPr>
        <p:spPr>
          <a:xfrm>
            <a:off x="868680" y="4315968"/>
            <a:ext cx="548640" cy="237744"/>
          </a:xfrm>
          <a:prstGeom prst="rect">
            <a:avLst/>
          </a:prstGeom>
          <a:noFill/>
          <a:ln/>
        </p:spPr>
        <p:txBody>
          <a:bodyPr wrap="square" lIns="0" tIns="0" rIns="0" bIns="0" rtlCol="0" anchor="ctr"/>
          <a:lstStyle/>
          <a:p>
            <a:pPr indent="0" marL="0">
              <a:buNone/>
            </a:pPr>
            <a:r>
              <a:rPr lang="en-US" sz="950" b="1" spc="100" kern="0" dirty="0">
                <a:solidFill>
                  <a:srgbClr val="E8792B"/>
                </a:solidFill>
                <a:latin typeface="Calibri" pitchFamily="34" charset="0"/>
                <a:ea typeface="Calibri" pitchFamily="34" charset="-122"/>
                <a:cs typeface="Calibri" pitchFamily="34" charset="-120"/>
              </a:rPr>
              <a:t>WHEN</a:t>
            </a:r>
            <a:endParaRPr lang="en-US" sz="950" dirty="0"/>
          </a:p>
        </p:txBody>
      </p:sp>
      <p:sp>
        <p:nvSpPr>
          <p:cNvPr id="22" name="Text 20"/>
          <p:cNvSpPr txBox="1"/>
          <p:nvPr/>
        </p:nvSpPr>
        <p:spPr>
          <a:xfrm>
            <a:off x="1463040" y="4297680"/>
            <a:ext cx="420624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No status update in 4 hours</a:t>
            </a:r>
            <a:endParaRPr lang="en-US" sz="1250" dirty="0"/>
          </a:p>
        </p:txBody>
      </p:sp>
      <p:sp>
        <p:nvSpPr>
          <p:cNvPr id="23" name="Text 21"/>
          <p:cNvSpPr txBox="1"/>
          <p:nvPr/>
        </p:nvSpPr>
        <p:spPr>
          <a:xfrm>
            <a:off x="5760720" y="4288536"/>
            <a:ext cx="320040" cy="274320"/>
          </a:xfrm>
          <a:prstGeom prst="rect">
            <a:avLst/>
          </a:prstGeom>
          <a:noFill/>
          <a:ln/>
        </p:spPr>
        <p:txBody>
          <a:bodyPr wrap="square" lIns="0" tIns="0" rIns="0" bIns="0" rtlCol="0" anchor="ctr"/>
          <a:lstStyle/>
          <a:p>
            <a:pPr indent="0" marL="0">
              <a:buNone/>
            </a:pPr>
            <a:r>
              <a:rPr lang="en-US" sz="1300" b="1" dirty="0">
                <a:solidFill>
                  <a:srgbClr val="E8792B"/>
                </a:solidFill>
                <a:latin typeface="Calibri" pitchFamily="34" charset="0"/>
                <a:ea typeface="Calibri" pitchFamily="34" charset="-122"/>
                <a:cs typeface="Calibri" pitchFamily="34" charset="-120"/>
              </a:rPr>
              <a:t>→</a:t>
            </a:r>
            <a:endParaRPr lang="en-US" sz="1300" dirty="0"/>
          </a:p>
        </p:txBody>
      </p:sp>
      <p:sp>
        <p:nvSpPr>
          <p:cNvPr id="24" name="Text 22"/>
          <p:cNvSpPr txBox="1"/>
          <p:nvPr/>
        </p:nvSpPr>
        <p:spPr>
          <a:xfrm>
            <a:off x="6172200" y="4297680"/>
            <a:ext cx="5148072"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Flag the mission stale · notify the TF commander, then the Battle Captain</a:t>
            </a:r>
            <a:endParaRPr lang="en-US" sz="1250" dirty="0"/>
          </a:p>
        </p:txBody>
      </p:sp>
      <p:sp>
        <p:nvSpPr>
          <p:cNvPr id="25" name="Shape 23"/>
          <p:cNvSpPr/>
          <p:nvPr/>
        </p:nvSpPr>
        <p:spPr>
          <a:xfrm>
            <a:off x="640080" y="4782312"/>
            <a:ext cx="10908792" cy="585216"/>
          </a:xfrm>
          <a:prstGeom prst="roundRect">
            <a:avLst>
              <a:gd name="adj" fmla="val 9375"/>
            </a:avLst>
          </a:prstGeom>
          <a:solidFill>
            <a:srgbClr val="F5F7F9"/>
          </a:solidFill>
          <a:ln/>
        </p:spPr>
      </p:sp>
      <p:sp>
        <p:nvSpPr>
          <p:cNvPr id="26" name="Text 24"/>
          <p:cNvSpPr txBox="1"/>
          <p:nvPr/>
        </p:nvSpPr>
        <p:spPr>
          <a:xfrm>
            <a:off x="868680" y="4974336"/>
            <a:ext cx="548640" cy="237744"/>
          </a:xfrm>
          <a:prstGeom prst="rect">
            <a:avLst/>
          </a:prstGeom>
          <a:noFill/>
          <a:ln/>
        </p:spPr>
        <p:txBody>
          <a:bodyPr wrap="square" lIns="0" tIns="0" rIns="0" bIns="0" rtlCol="0" anchor="ctr"/>
          <a:lstStyle/>
          <a:p>
            <a:pPr indent="0" marL="0">
              <a:buNone/>
            </a:pPr>
            <a:r>
              <a:rPr lang="en-US" sz="950" b="1" spc="100" kern="0" dirty="0">
                <a:solidFill>
                  <a:srgbClr val="E8792B"/>
                </a:solidFill>
                <a:latin typeface="Calibri" pitchFamily="34" charset="0"/>
                <a:ea typeface="Calibri" pitchFamily="34" charset="-122"/>
                <a:cs typeface="Calibri" pitchFamily="34" charset="-120"/>
              </a:rPr>
              <a:t>WHEN</a:t>
            </a:r>
            <a:endParaRPr lang="en-US" sz="950" dirty="0"/>
          </a:p>
        </p:txBody>
      </p:sp>
      <p:sp>
        <p:nvSpPr>
          <p:cNvPr id="27" name="Text 25"/>
          <p:cNvSpPr txBox="1"/>
          <p:nvPr/>
        </p:nvSpPr>
        <p:spPr>
          <a:xfrm>
            <a:off x="1463040" y="4956048"/>
            <a:ext cx="420624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Shift change at 0600 / 1800</a:t>
            </a:r>
            <a:endParaRPr lang="en-US" sz="1250" dirty="0"/>
          </a:p>
        </p:txBody>
      </p:sp>
      <p:sp>
        <p:nvSpPr>
          <p:cNvPr id="28" name="Text 26"/>
          <p:cNvSpPr txBox="1"/>
          <p:nvPr/>
        </p:nvSpPr>
        <p:spPr>
          <a:xfrm>
            <a:off x="5760720" y="4946904"/>
            <a:ext cx="320040" cy="274320"/>
          </a:xfrm>
          <a:prstGeom prst="rect">
            <a:avLst/>
          </a:prstGeom>
          <a:noFill/>
          <a:ln/>
        </p:spPr>
        <p:txBody>
          <a:bodyPr wrap="square" lIns="0" tIns="0" rIns="0" bIns="0" rtlCol="0" anchor="ctr"/>
          <a:lstStyle/>
          <a:p>
            <a:pPr indent="0" marL="0">
              <a:buNone/>
            </a:pPr>
            <a:r>
              <a:rPr lang="en-US" sz="1300" b="1" dirty="0">
                <a:solidFill>
                  <a:srgbClr val="E8792B"/>
                </a:solidFill>
                <a:latin typeface="Calibri" pitchFamily="34" charset="0"/>
                <a:ea typeface="Calibri" pitchFamily="34" charset="-122"/>
                <a:cs typeface="Calibri" pitchFamily="34" charset="-120"/>
              </a:rPr>
              <a:t>→</a:t>
            </a:r>
            <a:endParaRPr lang="en-US" sz="1300" dirty="0"/>
          </a:p>
        </p:txBody>
      </p:sp>
      <p:sp>
        <p:nvSpPr>
          <p:cNvPr id="29" name="Text 27"/>
          <p:cNvSpPr txBox="1"/>
          <p:nvPr/>
        </p:nvSpPr>
        <p:spPr>
          <a:xfrm>
            <a:off x="6172200" y="4956048"/>
            <a:ext cx="5148072"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Generate the handover packet — open missions, committed assets, stale items</a:t>
            </a:r>
            <a:endParaRPr lang="en-US" sz="1250" dirty="0"/>
          </a:p>
        </p:txBody>
      </p:sp>
      <p:sp>
        <p:nvSpPr>
          <p:cNvPr id="30" name="Shape 28"/>
          <p:cNvSpPr/>
          <p:nvPr/>
        </p:nvSpPr>
        <p:spPr>
          <a:xfrm>
            <a:off x="640080" y="5440680"/>
            <a:ext cx="10908792" cy="585216"/>
          </a:xfrm>
          <a:prstGeom prst="roundRect">
            <a:avLst>
              <a:gd name="adj" fmla="val 9375"/>
            </a:avLst>
          </a:prstGeom>
          <a:solidFill>
            <a:srgbClr val="FFFFFF"/>
          </a:solidFill>
          <a:ln/>
        </p:spPr>
      </p:sp>
      <p:sp>
        <p:nvSpPr>
          <p:cNvPr id="31" name="Text 29"/>
          <p:cNvSpPr txBox="1"/>
          <p:nvPr/>
        </p:nvSpPr>
        <p:spPr>
          <a:xfrm>
            <a:off x="868680" y="5632704"/>
            <a:ext cx="548640" cy="237744"/>
          </a:xfrm>
          <a:prstGeom prst="rect">
            <a:avLst/>
          </a:prstGeom>
          <a:noFill/>
          <a:ln/>
        </p:spPr>
        <p:txBody>
          <a:bodyPr wrap="square" lIns="0" tIns="0" rIns="0" bIns="0" rtlCol="0" anchor="ctr"/>
          <a:lstStyle/>
          <a:p>
            <a:pPr indent="0" marL="0">
              <a:buNone/>
            </a:pPr>
            <a:r>
              <a:rPr lang="en-US" sz="950" b="1" spc="100" kern="0" dirty="0">
                <a:solidFill>
                  <a:srgbClr val="E8792B"/>
                </a:solidFill>
                <a:latin typeface="Calibri" pitchFamily="34" charset="0"/>
                <a:ea typeface="Calibri" pitchFamily="34" charset="-122"/>
                <a:cs typeface="Calibri" pitchFamily="34" charset="-120"/>
              </a:rPr>
              <a:t>WHEN</a:t>
            </a:r>
            <a:endParaRPr lang="en-US" sz="950" dirty="0"/>
          </a:p>
        </p:txBody>
      </p:sp>
      <p:sp>
        <p:nvSpPr>
          <p:cNvPr id="32" name="Text 30"/>
          <p:cNvSpPr txBox="1"/>
          <p:nvPr/>
        </p:nvSpPr>
        <p:spPr>
          <a:xfrm>
            <a:off x="1463040" y="5614416"/>
            <a:ext cx="4206240" cy="274320"/>
          </a:xfrm>
          <a:prstGeom prst="rect">
            <a:avLst/>
          </a:prstGeom>
          <a:noFill/>
          <a:ln/>
        </p:spPr>
        <p:txBody>
          <a:bodyPr wrap="square" lIns="0" tIns="0" rIns="0" bIns="0" rtlCol="0" anchor="ctr"/>
          <a:lstStyle/>
          <a:p>
            <a:pPr indent="0" marL="0">
              <a:buNone/>
            </a:pPr>
            <a:r>
              <a:rPr lang="en-US" sz="1250" b="1" dirty="0">
                <a:solidFill>
                  <a:srgbClr val="0B2942"/>
                </a:solidFill>
                <a:latin typeface="Calibri" pitchFamily="34" charset="0"/>
                <a:ea typeface="Calibri" pitchFamily="34" charset="-122"/>
                <a:cs typeface="Calibri" pitchFamily="34" charset="-120"/>
              </a:rPr>
              <a:t>Asset goes deadlined</a:t>
            </a:r>
            <a:endParaRPr lang="en-US" sz="1250" dirty="0"/>
          </a:p>
        </p:txBody>
      </p:sp>
      <p:sp>
        <p:nvSpPr>
          <p:cNvPr id="33" name="Text 31"/>
          <p:cNvSpPr txBox="1"/>
          <p:nvPr/>
        </p:nvSpPr>
        <p:spPr>
          <a:xfrm>
            <a:off x="5760720" y="5605272"/>
            <a:ext cx="320040" cy="274320"/>
          </a:xfrm>
          <a:prstGeom prst="rect">
            <a:avLst/>
          </a:prstGeom>
          <a:noFill/>
          <a:ln/>
        </p:spPr>
        <p:txBody>
          <a:bodyPr wrap="square" lIns="0" tIns="0" rIns="0" bIns="0" rtlCol="0" anchor="ctr"/>
          <a:lstStyle/>
          <a:p>
            <a:pPr indent="0" marL="0">
              <a:buNone/>
            </a:pPr>
            <a:r>
              <a:rPr lang="en-US" sz="1300" b="1" dirty="0">
                <a:solidFill>
                  <a:srgbClr val="E8792B"/>
                </a:solidFill>
                <a:latin typeface="Calibri" pitchFamily="34" charset="0"/>
                <a:ea typeface="Calibri" pitchFamily="34" charset="-122"/>
                <a:cs typeface="Calibri" pitchFamily="34" charset="-120"/>
              </a:rPr>
              <a:t>→</a:t>
            </a:r>
            <a:endParaRPr lang="en-US" sz="1300" dirty="0"/>
          </a:p>
        </p:txBody>
      </p:sp>
      <p:sp>
        <p:nvSpPr>
          <p:cNvPr id="34" name="Text 32"/>
          <p:cNvSpPr txBox="1"/>
          <p:nvPr/>
        </p:nvSpPr>
        <p:spPr>
          <a:xfrm>
            <a:off x="6172200" y="5614416"/>
            <a:ext cx="5148072" cy="274320"/>
          </a:xfrm>
          <a:prstGeom prst="rect">
            <a:avLst/>
          </a:prstGeom>
          <a:noFill/>
          <a:ln/>
        </p:spPr>
        <p:txBody>
          <a:bodyPr wrap="square" lIns="0" tIns="0" rIns="0" bIns="0" rtlCol="0" anchor="ctr"/>
          <a:lstStyle/>
          <a:p>
            <a:pPr indent="0" marL="0">
              <a:buNone/>
            </a:pPr>
            <a:r>
              <a:rPr lang="en-US" sz="1250" dirty="0">
                <a:solidFill>
                  <a:srgbClr val="16202B"/>
                </a:solidFill>
                <a:latin typeface="Calibri" pitchFamily="34" charset="0"/>
                <a:ea typeface="Calibri" pitchFamily="34" charset="-122"/>
                <a:cs typeface="Calibri" pitchFamily="34" charset="-120"/>
              </a:rPr>
              <a:t>Notify support operations · flag every mission that asset is committed to</a:t>
            </a:r>
            <a:endParaRPr lang="en-US" sz="1250" dirty="0"/>
          </a:p>
        </p:txBody>
      </p:sp>
      <p:sp>
        <p:nvSpPr>
          <p:cNvPr id="35" name="Text 33"/>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DESIGN TOPIC 1 · ESCALATION</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Escalation: when 'urgent' means somebody is on a roof</a:t>
            </a:r>
            <a:endParaRPr lang="en-US" sz="3000" dirty="0"/>
          </a:p>
        </p:txBody>
      </p:sp>
      <p:sp>
        <p:nvSpPr>
          <p:cNvPr id="4" name="Text 2"/>
          <p:cNvSpPr txBox="1"/>
          <p:nvPr/>
        </p:nvSpPr>
        <p:spPr>
          <a:xfrm>
            <a:off x="640080" y="1737360"/>
            <a:ext cx="10908792" cy="320040"/>
          </a:xfrm>
          <a:prstGeom prst="rect">
            <a:avLst/>
          </a:prstGeom>
          <a:noFill/>
          <a:ln/>
        </p:spPr>
        <p:txBody>
          <a:bodyPr wrap="square" lIns="0" tIns="0" rIns="0" bIns="0" rtlCol="0" anchor="ctr"/>
          <a:lstStyle/>
          <a:p>
            <a:pPr indent="0" marL="0">
              <a:buNone/>
            </a:pPr>
            <a:r>
              <a:rPr lang="en-US" sz="1400" dirty="0">
                <a:solidFill>
                  <a:srgbClr val="16202B"/>
                </a:solidFill>
                <a:latin typeface="Calibri" pitchFamily="34" charset="0"/>
                <a:ea typeface="Calibri" pitchFamily="34" charset="-122"/>
                <a:cs typeface="Calibri" pitchFamily="34" charset="-120"/>
              </a:rPr>
              <a:t>Immediate life-safety missions need a timer and a named next person — not a hope that somebody notices.</a:t>
            </a:r>
            <a:endParaRPr lang="en-US" sz="1400" dirty="0"/>
          </a:p>
        </p:txBody>
      </p:sp>
      <p:sp>
        <p:nvSpPr>
          <p:cNvPr id="5" name="Shape 3"/>
          <p:cNvSpPr/>
          <p:nvPr/>
        </p:nvSpPr>
        <p:spPr>
          <a:xfrm>
            <a:off x="640080" y="2377440"/>
            <a:ext cx="2624328" cy="2468880"/>
          </a:xfrm>
          <a:prstGeom prst="roundRect">
            <a:avLst>
              <a:gd name="adj" fmla="val 2222"/>
            </a:avLst>
          </a:prstGeom>
          <a:solidFill>
            <a:srgbClr val="F5F7F9"/>
          </a:solidFill>
          <a:ln/>
        </p:spPr>
      </p:sp>
      <p:sp>
        <p:nvSpPr>
          <p:cNvPr id="6" name="Shape 4"/>
          <p:cNvSpPr/>
          <p:nvPr/>
        </p:nvSpPr>
        <p:spPr>
          <a:xfrm>
            <a:off x="640080" y="2377440"/>
            <a:ext cx="2624328" cy="566928"/>
          </a:xfrm>
          <a:prstGeom prst="roundRect">
            <a:avLst>
              <a:gd name="adj" fmla="val 9677"/>
            </a:avLst>
          </a:prstGeom>
          <a:solidFill>
            <a:srgbClr val="17567A"/>
          </a:solidFill>
          <a:ln/>
        </p:spPr>
      </p:sp>
      <p:sp>
        <p:nvSpPr>
          <p:cNvPr id="7" name="Text 5"/>
          <p:cNvSpPr txBox="1"/>
          <p:nvPr/>
        </p:nvSpPr>
        <p:spPr>
          <a:xfrm>
            <a:off x="640080" y="2514600"/>
            <a:ext cx="2624328"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 + 0</a:t>
            </a:r>
            <a:endParaRPr lang="en-US" sz="1400" dirty="0"/>
          </a:p>
        </p:txBody>
      </p:sp>
      <p:sp>
        <p:nvSpPr>
          <p:cNvPr id="8" name="Text 6"/>
          <p:cNvSpPr txBox="1"/>
          <p:nvPr/>
        </p:nvSpPr>
        <p:spPr>
          <a:xfrm>
            <a:off x="822960" y="3127248"/>
            <a:ext cx="2258568" cy="502920"/>
          </a:xfrm>
          <a:prstGeom prst="rect">
            <a:avLst/>
          </a:prstGeom>
          <a:noFill/>
          <a:ln/>
        </p:spPr>
        <p:txBody>
          <a:bodyPr wrap="square" lIns="0" tIns="0" rIns="0" bIns="0" rtlCol="0" anchor="ctr"/>
          <a:lstStyle/>
          <a:p>
            <a:pPr algn="ctr" indent="0" marL="0">
              <a:lnSpc>
                <a:spcPts val="1700"/>
              </a:lnSpc>
              <a:buNone/>
            </a:pPr>
            <a:r>
              <a:rPr lang="en-US" sz="1300" b="1" dirty="0">
                <a:solidFill>
                  <a:srgbClr val="0B2942"/>
                </a:solidFill>
                <a:latin typeface="Calibri" pitchFamily="34" charset="0"/>
                <a:ea typeface="Calibri" pitchFamily="34" charset="-122"/>
                <a:cs typeface="Calibri" pitchFamily="34" charset="-120"/>
              </a:rPr>
              <a:t>Request received</a:t>
            </a:r>
            <a:endParaRPr lang="en-US" sz="1300" dirty="0"/>
          </a:p>
        </p:txBody>
      </p:sp>
      <p:sp>
        <p:nvSpPr>
          <p:cNvPr id="9" name="Text 7"/>
          <p:cNvSpPr txBox="1"/>
          <p:nvPr/>
        </p:nvSpPr>
        <p:spPr>
          <a:xfrm>
            <a:off x="822960" y="3675888"/>
            <a:ext cx="2258568" cy="1005840"/>
          </a:xfrm>
          <a:prstGeom prst="rect">
            <a:avLst/>
          </a:prstGeom>
          <a:noFill/>
          <a:ln/>
        </p:spPr>
        <p:txBody>
          <a:bodyPr wrap="square" lIns="0" tIns="0" rIns="0" bIns="0" rtlCol="0" anchor="ctr"/>
          <a:lstStyle/>
          <a:p>
            <a:pPr algn="ctr" indent="0" marL="0">
              <a:lnSpc>
                <a:spcPts val="1600"/>
              </a:lnSpc>
              <a:buNone/>
            </a:pPr>
            <a:r>
              <a:rPr lang="en-US" sz="1200" dirty="0">
                <a:solidFill>
                  <a:srgbClr val="5E7185"/>
                </a:solidFill>
                <a:latin typeface="Calibri" pitchFamily="34" charset="0"/>
                <a:ea typeface="Calibri" pitchFamily="34" charset="-122"/>
                <a:cs typeface="Calibri" pitchFamily="34" charset="-120"/>
              </a:rPr>
              <a:t>Auto-acknowledge to parish.</a:t>
            </a:r>
            <a:endParaRPr lang="en-US" sz="1200" dirty="0"/>
          </a:p>
          <a:p>
            <a:pPr algn="ctr" indent="0" marL="0">
              <a:lnSpc>
                <a:spcPts val="1600"/>
              </a:lnSpc>
              <a:buNone/>
            </a:pPr>
            <a:r>
              <a:rPr lang="en-US" sz="1200" dirty="0">
                <a:solidFill>
                  <a:srgbClr val="5E7185"/>
                </a:solidFill>
                <a:latin typeface="Calibri" pitchFamily="34" charset="0"/>
                <a:ea typeface="Calibri" pitchFamily="34" charset="-122"/>
                <a:cs typeface="Calibri" pitchFamily="34" charset="-120"/>
              </a:rPr>
              <a:t>Alert JOC Watch NCO.</a:t>
            </a:r>
            <a:endParaRPr lang="en-US" sz="1200" dirty="0"/>
          </a:p>
        </p:txBody>
      </p:sp>
      <p:sp>
        <p:nvSpPr>
          <p:cNvPr id="10" name="Shape 8"/>
          <p:cNvSpPr/>
          <p:nvPr/>
        </p:nvSpPr>
        <p:spPr>
          <a:xfrm>
            <a:off x="3401568" y="2377440"/>
            <a:ext cx="2624328" cy="2468880"/>
          </a:xfrm>
          <a:prstGeom prst="roundRect">
            <a:avLst>
              <a:gd name="adj" fmla="val 2222"/>
            </a:avLst>
          </a:prstGeom>
          <a:solidFill>
            <a:srgbClr val="F5F7F9"/>
          </a:solidFill>
          <a:ln/>
        </p:spPr>
      </p:sp>
      <p:sp>
        <p:nvSpPr>
          <p:cNvPr id="11" name="Shape 9"/>
          <p:cNvSpPr/>
          <p:nvPr/>
        </p:nvSpPr>
        <p:spPr>
          <a:xfrm>
            <a:off x="3401568" y="2377440"/>
            <a:ext cx="2624328" cy="566928"/>
          </a:xfrm>
          <a:prstGeom prst="roundRect">
            <a:avLst>
              <a:gd name="adj" fmla="val 9677"/>
            </a:avLst>
          </a:prstGeom>
          <a:solidFill>
            <a:srgbClr val="E8792B"/>
          </a:solidFill>
          <a:ln/>
        </p:spPr>
      </p:sp>
      <p:sp>
        <p:nvSpPr>
          <p:cNvPr id="12" name="Text 10"/>
          <p:cNvSpPr txBox="1"/>
          <p:nvPr/>
        </p:nvSpPr>
        <p:spPr>
          <a:xfrm>
            <a:off x="3401568" y="2514600"/>
            <a:ext cx="2624328"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 + 10 min</a:t>
            </a:r>
            <a:endParaRPr lang="en-US" sz="1400" dirty="0"/>
          </a:p>
        </p:txBody>
      </p:sp>
      <p:sp>
        <p:nvSpPr>
          <p:cNvPr id="13" name="Text 11"/>
          <p:cNvSpPr txBox="1"/>
          <p:nvPr/>
        </p:nvSpPr>
        <p:spPr>
          <a:xfrm>
            <a:off x="3584448" y="3127248"/>
            <a:ext cx="2258568" cy="502920"/>
          </a:xfrm>
          <a:prstGeom prst="rect">
            <a:avLst/>
          </a:prstGeom>
          <a:noFill/>
          <a:ln/>
        </p:spPr>
        <p:txBody>
          <a:bodyPr wrap="square" lIns="0" tIns="0" rIns="0" bIns="0" rtlCol="0" anchor="ctr"/>
          <a:lstStyle/>
          <a:p>
            <a:pPr algn="ctr" indent="0" marL="0">
              <a:lnSpc>
                <a:spcPts val="1700"/>
              </a:lnSpc>
              <a:buNone/>
            </a:pPr>
            <a:r>
              <a:rPr lang="en-US" sz="1300" b="1" dirty="0">
                <a:solidFill>
                  <a:srgbClr val="0B2942"/>
                </a:solidFill>
                <a:latin typeface="Calibri" pitchFamily="34" charset="0"/>
                <a:ea typeface="Calibri" pitchFamily="34" charset="-122"/>
                <a:cs typeface="Calibri" pitchFamily="34" charset="-120"/>
              </a:rPr>
              <a:t>Not acknowledged</a:t>
            </a:r>
            <a:endParaRPr lang="en-US" sz="1300" dirty="0"/>
          </a:p>
        </p:txBody>
      </p:sp>
      <p:sp>
        <p:nvSpPr>
          <p:cNvPr id="14" name="Text 12"/>
          <p:cNvSpPr txBox="1"/>
          <p:nvPr/>
        </p:nvSpPr>
        <p:spPr>
          <a:xfrm>
            <a:off x="3584448" y="3675888"/>
            <a:ext cx="2258568" cy="1005840"/>
          </a:xfrm>
          <a:prstGeom prst="rect">
            <a:avLst/>
          </a:prstGeom>
          <a:noFill/>
          <a:ln/>
        </p:spPr>
        <p:txBody>
          <a:bodyPr wrap="square" lIns="0" tIns="0" rIns="0" bIns="0" rtlCol="0" anchor="ctr"/>
          <a:lstStyle/>
          <a:p>
            <a:pPr algn="ctr" indent="0" marL="0">
              <a:lnSpc>
                <a:spcPts val="1600"/>
              </a:lnSpc>
              <a:buNone/>
            </a:pPr>
            <a:r>
              <a:rPr lang="en-US" sz="1200" dirty="0">
                <a:solidFill>
                  <a:srgbClr val="5E7185"/>
                </a:solidFill>
                <a:latin typeface="Calibri" pitchFamily="34" charset="0"/>
                <a:ea typeface="Calibri" pitchFamily="34" charset="-122"/>
                <a:cs typeface="Calibri" pitchFamily="34" charset="-120"/>
              </a:rPr>
              <a:t>Page the J3 Battle Captain.</a:t>
            </a:r>
            <a:endParaRPr lang="en-US" sz="1200" dirty="0"/>
          </a:p>
        </p:txBody>
      </p:sp>
      <p:sp>
        <p:nvSpPr>
          <p:cNvPr id="15" name="Shape 13"/>
          <p:cNvSpPr/>
          <p:nvPr/>
        </p:nvSpPr>
        <p:spPr>
          <a:xfrm>
            <a:off x="6163056" y="2377440"/>
            <a:ext cx="2624328" cy="2468880"/>
          </a:xfrm>
          <a:prstGeom prst="roundRect">
            <a:avLst>
              <a:gd name="adj" fmla="val 2222"/>
            </a:avLst>
          </a:prstGeom>
          <a:solidFill>
            <a:srgbClr val="F5F7F9"/>
          </a:solidFill>
          <a:ln/>
        </p:spPr>
      </p:sp>
      <p:sp>
        <p:nvSpPr>
          <p:cNvPr id="16" name="Shape 14"/>
          <p:cNvSpPr/>
          <p:nvPr/>
        </p:nvSpPr>
        <p:spPr>
          <a:xfrm>
            <a:off x="6163056" y="2377440"/>
            <a:ext cx="2624328" cy="566928"/>
          </a:xfrm>
          <a:prstGeom prst="roundRect">
            <a:avLst>
              <a:gd name="adj" fmla="val 9677"/>
            </a:avLst>
          </a:prstGeom>
          <a:solidFill>
            <a:srgbClr val="C25A18"/>
          </a:solidFill>
          <a:ln/>
        </p:spPr>
      </p:sp>
      <p:sp>
        <p:nvSpPr>
          <p:cNvPr id="17" name="Text 15"/>
          <p:cNvSpPr txBox="1"/>
          <p:nvPr/>
        </p:nvSpPr>
        <p:spPr>
          <a:xfrm>
            <a:off x="6163056" y="2514600"/>
            <a:ext cx="2624328"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 + 20 min</a:t>
            </a:r>
            <a:endParaRPr lang="en-US" sz="1400" dirty="0"/>
          </a:p>
        </p:txBody>
      </p:sp>
      <p:sp>
        <p:nvSpPr>
          <p:cNvPr id="18" name="Text 16"/>
          <p:cNvSpPr txBox="1"/>
          <p:nvPr/>
        </p:nvSpPr>
        <p:spPr>
          <a:xfrm>
            <a:off x="6345936" y="3127248"/>
            <a:ext cx="2258568" cy="502920"/>
          </a:xfrm>
          <a:prstGeom prst="rect">
            <a:avLst/>
          </a:prstGeom>
          <a:noFill/>
          <a:ln/>
        </p:spPr>
        <p:txBody>
          <a:bodyPr wrap="square" lIns="0" tIns="0" rIns="0" bIns="0" rtlCol="0" anchor="ctr"/>
          <a:lstStyle/>
          <a:p>
            <a:pPr algn="ctr" indent="0" marL="0">
              <a:lnSpc>
                <a:spcPts val="1700"/>
              </a:lnSpc>
              <a:buNone/>
            </a:pPr>
            <a:r>
              <a:rPr lang="en-US" sz="1300" b="1" dirty="0">
                <a:solidFill>
                  <a:srgbClr val="0B2942"/>
                </a:solidFill>
                <a:latin typeface="Calibri" pitchFamily="34" charset="0"/>
                <a:ea typeface="Calibri" pitchFamily="34" charset="-122"/>
                <a:cs typeface="Calibri" pitchFamily="34" charset="-120"/>
              </a:rPr>
              <a:t>Still not assigned</a:t>
            </a:r>
            <a:endParaRPr lang="en-US" sz="1300" dirty="0"/>
          </a:p>
        </p:txBody>
      </p:sp>
      <p:sp>
        <p:nvSpPr>
          <p:cNvPr id="19" name="Text 17"/>
          <p:cNvSpPr txBox="1"/>
          <p:nvPr/>
        </p:nvSpPr>
        <p:spPr>
          <a:xfrm>
            <a:off x="6345936" y="3675888"/>
            <a:ext cx="2258568" cy="1005840"/>
          </a:xfrm>
          <a:prstGeom prst="rect">
            <a:avLst/>
          </a:prstGeom>
          <a:noFill/>
          <a:ln/>
        </p:spPr>
        <p:txBody>
          <a:bodyPr wrap="square" lIns="0" tIns="0" rIns="0" bIns="0" rtlCol="0" anchor="ctr"/>
          <a:lstStyle/>
          <a:p>
            <a:pPr algn="ctr" indent="0" marL="0">
              <a:lnSpc>
                <a:spcPts val="1600"/>
              </a:lnSpc>
              <a:buNone/>
            </a:pPr>
            <a:r>
              <a:rPr lang="en-US" sz="1200" dirty="0">
                <a:solidFill>
                  <a:srgbClr val="5E7185"/>
                </a:solidFill>
                <a:latin typeface="Calibri" pitchFamily="34" charset="0"/>
                <a:ea typeface="Calibri" pitchFamily="34" charset="-122"/>
                <a:cs typeface="Calibri" pitchFamily="34" charset="-120"/>
              </a:rPr>
              <a:t>Notify the J3 Operations SGM.</a:t>
            </a:r>
            <a:endParaRPr lang="en-US" sz="1200" dirty="0"/>
          </a:p>
        </p:txBody>
      </p:sp>
      <p:sp>
        <p:nvSpPr>
          <p:cNvPr id="20" name="Shape 18"/>
          <p:cNvSpPr/>
          <p:nvPr/>
        </p:nvSpPr>
        <p:spPr>
          <a:xfrm>
            <a:off x="8924544" y="2377440"/>
            <a:ext cx="2624328" cy="2468880"/>
          </a:xfrm>
          <a:prstGeom prst="roundRect">
            <a:avLst>
              <a:gd name="adj" fmla="val 2222"/>
            </a:avLst>
          </a:prstGeom>
          <a:solidFill>
            <a:srgbClr val="F5F7F9"/>
          </a:solidFill>
          <a:ln/>
        </p:spPr>
      </p:sp>
      <p:sp>
        <p:nvSpPr>
          <p:cNvPr id="21" name="Shape 19"/>
          <p:cNvSpPr/>
          <p:nvPr/>
        </p:nvSpPr>
        <p:spPr>
          <a:xfrm>
            <a:off x="8924544" y="2377440"/>
            <a:ext cx="2624328" cy="566928"/>
          </a:xfrm>
          <a:prstGeom prst="roundRect">
            <a:avLst>
              <a:gd name="adj" fmla="val 9677"/>
            </a:avLst>
          </a:prstGeom>
          <a:solidFill>
            <a:srgbClr val="8A1E10"/>
          </a:solidFill>
          <a:ln/>
        </p:spPr>
      </p:sp>
      <p:sp>
        <p:nvSpPr>
          <p:cNvPr id="22" name="Text 20"/>
          <p:cNvSpPr txBox="1"/>
          <p:nvPr/>
        </p:nvSpPr>
        <p:spPr>
          <a:xfrm>
            <a:off x="8924544" y="2514600"/>
            <a:ext cx="2624328"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 + 30 min</a:t>
            </a:r>
            <a:endParaRPr lang="en-US" sz="1400" dirty="0"/>
          </a:p>
        </p:txBody>
      </p:sp>
      <p:sp>
        <p:nvSpPr>
          <p:cNvPr id="23" name="Text 21"/>
          <p:cNvSpPr txBox="1"/>
          <p:nvPr/>
        </p:nvSpPr>
        <p:spPr>
          <a:xfrm>
            <a:off x="9107424" y="3127248"/>
            <a:ext cx="2258568" cy="502920"/>
          </a:xfrm>
          <a:prstGeom prst="rect">
            <a:avLst/>
          </a:prstGeom>
          <a:noFill/>
          <a:ln/>
        </p:spPr>
        <p:txBody>
          <a:bodyPr wrap="square" lIns="0" tIns="0" rIns="0" bIns="0" rtlCol="0" anchor="ctr"/>
          <a:lstStyle/>
          <a:p>
            <a:pPr algn="ctr" indent="0" marL="0">
              <a:lnSpc>
                <a:spcPts val="1700"/>
              </a:lnSpc>
              <a:buNone/>
            </a:pPr>
            <a:r>
              <a:rPr lang="en-US" sz="1300" b="1" dirty="0">
                <a:solidFill>
                  <a:srgbClr val="0B2942"/>
                </a:solidFill>
                <a:latin typeface="Calibri" pitchFamily="34" charset="0"/>
                <a:ea typeface="Calibri" pitchFamily="34" charset="-122"/>
                <a:cs typeface="Calibri" pitchFamily="34" charset="-120"/>
              </a:rPr>
              <a:t>Still not assigned</a:t>
            </a:r>
            <a:endParaRPr lang="en-US" sz="1300" dirty="0"/>
          </a:p>
        </p:txBody>
      </p:sp>
      <p:sp>
        <p:nvSpPr>
          <p:cNvPr id="24" name="Text 22"/>
          <p:cNvSpPr txBox="1"/>
          <p:nvPr/>
        </p:nvSpPr>
        <p:spPr>
          <a:xfrm>
            <a:off x="9107424" y="3675888"/>
            <a:ext cx="2258568" cy="1005840"/>
          </a:xfrm>
          <a:prstGeom prst="rect">
            <a:avLst/>
          </a:prstGeom>
          <a:noFill/>
          <a:ln/>
        </p:spPr>
        <p:txBody>
          <a:bodyPr wrap="square" lIns="0" tIns="0" rIns="0" bIns="0" rtlCol="0" anchor="ctr"/>
          <a:lstStyle/>
          <a:p>
            <a:pPr algn="ctr" indent="0" marL="0">
              <a:lnSpc>
                <a:spcPts val="1600"/>
              </a:lnSpc>
              <a:buNone/>
            </a:pPr>
            <a:r>
              <a:rPr lang="en-US" sz="1200" dirty="0">
                <a:solidFill>
                  <a:srgbClr val="5E7185"/>
                </a:solidFill>
                <a:latin typeface="Calibri" pitchFamily="34" charset="0"/>
                <a:ea typeface="Calibri" pitchFamily="34" charset="-122"/>
                <a:cs typeface="Calibri" pitchFamily="34" charset="-120"/>
              </a:rPr>
              <a:t>Notify the JTF Commander.</a:t>
            </a:r>
            <a:endParaRPr lang="en-US" sz="1200" dirty="0"/>
          </a:p>
          <a:p>
            <a:pPr algn="ctr" indent="0" marL="0">
              <a:lnSpc>
                <a:spcPts val="1600"/>
              </a:lnSpc>
              <a:buNone/>
            </a:pPr>
            <a:r>
              <a:rPr lang="en-US" sz="1200" dirty="0">
                <a:solidFill>
                  <a:srgbClr val="5E7185"/>
                </a:solidFill>
                <a:latin typeface="Calibri" pitchFamily="34" charset="0"/>
                <a:ea typeface="Calibri" pitchFamily="34" charset="-122"/>
                <a:cs typeface="Calibri" pitchFamily="34" charset="-120"/>
              </a:rPr>
              <a:t>Log as a reportable delay.</a:t>
            </a:r>
            <a:endParaRPr lang="en-US" sz="1200" dirty="0"/>
          </a:p>
        </p:txBody>
      </p:sp>
      <p:sp>
        <p:nvSpPr>
          <p:cNvPr id="25" name="Text 23"/>
          <p:cNvSpPr txBox="1"/>
          <p:nvPr/>
        </p:nvSpPr>
        <p:spPr>
          <a:xfrm>
            <a:off x="640080" y="5120640"/>
            <a:ext cx="10908792" cy="365760"/>
          </a:xfrm>
          <a:prstGeom prst="rect">
            <a:avLst/>
          </a:prstGeom>
          <a:noFill/>
          <a:ln/>
        </p:spPr>
        <p:txBody>
          <a:bodyPr wrap="square" lIns="0" tIns="0" rIns="0" bIns="0" rtlCol="0" anchor="ctr"/>
          <a:lstStyle/>
          <a:p>
            <a:pPr indent="0" marL="0">
              <a:buNone/>
            </a:pPr>
            <a:r>
              <a:rPr lang="en-US" sz="1400" b="1" dirty="0">
                <a:solidFill>
                  <a:srgbClr val="E8792B"/>
                </a:solidFill>
                <a:latin typeface="Calibri" pitchFamily="34" charset="0"/>
                <a:ea typeface="Calibri" pitchFamily="34" charset="-122"/>
                <a:cs typeface="Calibri" pitchFamily="34" charset="-120"/>
              </a:rPr>
              <a:t>Your team sets the clock. Defend the numbers you pick.</a:t>
            </a:r>
            <a:endParaRPr lang="en-US" sz="1400" dirty="0"/>
          </a:p>
        </p:txBody>
      </p:sp>
      <p:sp>
        <p:nvSpPr>
          <p:cNvPr id="26" name="Text 24"/>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DESIGN TOPIC 2 · AGENT</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Does a conversation beat a form here?</a:t>
            </a:r>
            <a:endParaRPr lang="en-US" sz="3000" dirty="0"/>
          </a:p>
        </p:txBody>
      </p:sp>
      <p:sp>
        <p:nvSpPr>
          <p:cNvPr id="4" name="Shape 2"/>
          <p:cNvSpPr/>
          <p:nvPr/>
        </p:nvSpPr>
        <p:spPr>
          <a:xfrm>
            <a:off x="640080" y="1783080"/>
            <a:ext cx="5317236" cy="3566160"/>
          </a:xfrm>
          <a:prstGeom prst="roundRect">
            <a:avLst>
              <a:gd name="adj" fmla="val 1538"/>
            </a:avLst>
          </a:prstGeom>
          <a:solidFill>
            <a:srgbClr val="F5F7F9"/>
          </a:solidFill>
          <a:ln/>
        </p:spPr>
      </p:sp>
      <p:sp>
        <p:nvSpPr>
          <p:cNvPr id="5" name="Text 3"/>
          <p:cNvSpPr txBox="1"/>
          <p:nvPr/>
        </p:nvSpPr>
        <p:spPr>
          <a:xfrm>
            <a:off x="960120" y="2011680"/>
            <a:ext cx="4677156" cy="274320"/>
          </a:xfrm>
          <a:prstGeom prst="rect">
            <a:avLst/>
          </a:prstGeom>
          <a:noFill/>
          <a:ln/>
        </p:spPr>
        <p:txBody>
          <a:bodyPr wrap="square" lIns="0" tIns="0" rIns="0" bIns="0" rtlCol="0" anchor="ctr"/>
          <a:lstStyle/>
          <a:p>
            <a:pPr indent="0" marL="0">
              <a:buNone/>
            </a:pPr>
            <a:r>
              <a:rPr lang="en-US" sz="1150" b="1" spc="120" kern="0" dirty="0">
                <a:solidFill>
                  <a:srgbClr val="E8792B"/>
                </a:solidFill>
                <a:latin typeface="Calibri" pitchFamily="34" charset="0"/>
                <a:ea typeface="Calibri" pitchFamily="34" charset="-122"/>
                <a:cs typeface="Calibri" pitchFamily="34" charset="-120"/>
              </a:rPr>
              <a:t>PARISH INTAKE AGENT</a:t>
            </a:r>
            <a:endParaRPr lang="en-US" sz="1150" dirty="0"/>
          </a:p>
        </p:txBody>
      </p:sp>
      <p:sp>
        <p:nvSpPr>
          <p:cNvPr id="6" name="Text 4"/>
          <p:cNvSpPr txBox="1"/>
          <p:nvPr/>
        </p:nvSpPr>
        <p:spPr>
          <a:xfrm>
            <a:off x="960120" y="2331720"/>
            <a:ext cx="4677156" cy="548640"/>
          </a:xfrm>
          <a:prstGeom prst="rect">
            <a:avLst/>
          </a:prstGeom>
          <a:noFill/>
          <a:ln/>
        </p:spPr>
        <p:txBody>
          <a:bodyPr wrap="square" lIns="0" tIns="0" rIns="0" bIns="0" rtlCol="0" anchor="ctr"/>
          <a:lstStyle/>
          <a:p>
            <a:pPr indent="0" marL="0">
              <a:lnSpc>
                <a:spcPts val="1800"/>
              </a:lnSpc>
              <a:buNone/>
            </a:pPr>
            <a:r>
              <a:rPr lang="en-US" sz="1300" dirty="0">
                <a:solidFill>
                  <a:srgbClr val="16202B"/>
                </a:solidFill>
                <a:latin typeface="Calibri" pitchFamily="34" charset="0"/>
                <a:ea typeface="Calibri" pitchFamily="34" charset="-122"/>
                <a:cs typeface="Calibri" pitchFamily="34" charset="-120"/>
              </a:rPr>
              <a:t>On the parish portal. Instead of a static form, it asks the questions a dispatcher would ask:</a:t>
            </a:r>
            <a:endParaRPr lang="en-US" sz="1300" dirty="0"/>
          </a:p>
        </p:txBody>
      </p:sp>
      <p:sp>
        <p:nvSpPr>
          <p:cNvPr id="7" name="Text 5"/>
          <p:cNvSpPr txBox="1"/>
          <p:nvPr/>
        </p:nvSpPr>
        <p:spPr>
          <a:xfrm>
            <a:off x="960120" y="2926080"/>
            <a:ext cx="4677156" cy="219456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250" dirty="0">
                <a:solidFill>
                  <a:srgbClr val="16202B"/>
                </a:solidFill>
                <a:latin typeface="Calibri" pitchFamily="34" charset="0"/>
                <a:ea typeface="Calibri" pitchFamily="34" charset="-122"/>
                <a:cs typeface="Calibri" pitchFamily="34" charset="-120"/>
              </a:rPr>
              <a:t>How many people, and where exactly?</a:t>
            </a:r>
            <a:endParaRPr lang="en-US" sz="1250" dirty="0"/>
          </a:p>
          <a:p>
            <a:pPr marL="342900" indent="-342900">
              <a:lnSpc>
                <a:spcPts val="2000"/>
              </a:lnSpc>
              <a:spcAft>
                <a:spcPts val="800"/>
              </a:spcAft>
              <a:buSzPct val="100000"/>
              <a:buChar char="•"/>
            </a:pPr>
            <a:r>
              <a:rPr lang="en-US" sz="1250" dirty="0">
                <a:solidFill>
                  <a:srgbClr val="16202B"/>
                </a:solidFill>
                <a:latin typeface="Calibri" pitchFamily="34" charset="0"/>
                <a:ea typeface="Calibri" pitchFamily="34" charset="-122"/>
                <a:cs typeface="Calibri" pitchFamily="34" charset="-120"/>
              </a:rPr>
              <a:t>How deep is the water at the access point?</a:t>
            </a:r>
            <a:endParaRPr lang="en-US" sz="1250" dirty="0"/>
          </a:p>
          <a:p>
            <a:pPr marL="342900" indent="-342900">
              <a:lnSpc>
                <a:spcPts val="2000"/>
              </a:lnSpc>
              <a:spcAft>
                <a:spcPts val="800"/>
              </a:spcAft>
              <a:buSzPct val="100000"/>
              <a:buChar char="•"/>
            </a:pPr>
            <a:r>
              <a:rPr lang="en-US" sz="1250" dirty="0">
                <a:solidFill>
                  <a:srgbClr val="16202B"/>
                </a:solidFill>
                <a:latin typeface="Calibri" pitchFamily="34" charset="0"/>
                <a:ea typeface="Calibri" pitchFamily="34" charset="-122"/>
                <a:cs typeface="Calibri" pitchFamily="34" charset="-120"/>
              </a:rPr>
              <a:t>Is the road passable? Which route?</a:t>
            </a:r>
            <a:endParaRPr lang="en-US" sz="1250" dirty="0"/>
          </a:p>
          <a:p>
            <a:pPr marL="342900" indent="-342900">
              <a:lnSpc>
                <a:spcPts val="2000"/>
              </a:lnSpc>
              <a:spcAft>
                <a:spcPts val="800"/>
              </a:spcAft>
              <a:buSzPct val="100000"/>
              <a:buChar char="•"/>
            </a:pPr>
            <a:r>
              <a:rPr lang="en-US" sz="1250" dirty="0">
                <a:solidFill>
                  <a:srgbClr val="16202B"/>
                </a:solidFill>
                <a:latin typeface="Calibri" pitchFamily="34" charset="0"/>
                <a:ea typeface="Calibri" pitchFamily="34" charset="-122"/>
                <a:cs typeface="Calibri" pitchFamily="34" charset="-120"/>
              </a:rPr>
              <a:t>Anyone injured or medically fragile?</a:t>
            </a:r>
            <a:endParaRPr lang="en-US" sz="1250" dirty="0"/>
          </a:p>
          <a:p>
            <a:pPr marL="342900" indent="-342900">
              <a:lnSpc>
                <a:spcPts val="2000"/>
              </a:lnSpc>
              <a:spcAft>
                <a:spcPts val="800"/>
              </a:spcAft>
              <a:buSzPct val="100000"/>
              <a:buChar char="•"/>
            </a:pPr>
            <a:r>
              <a:rPr lang="en-US" sz="1250" dirty="0">
                <a:solidFill>
                  <a:srgbClr val="16202B"/>
                </a:solidFill>
                <a:latin typeface="Calibri" pitchFamily="34" charset="0"/>
                <a:ea typeface="Calibri" pitchFamily="34" charset="-122"/>
                <a:cs typeface="Calibri" pitchFamily="34" charset="-120"/>
              </a:rPr>
              <a:t>Animals or livestock on site?</a:t>
            </a:r>
            <a:endParaRPr lang="en-US" sz="1250" dirty="0"/>
          </a:p>
          <a:p>
            <a:pPr marL="342900" indent="-342900">
              <a:lnSpc>
                <a:spcPts val="2000"/>
              </a:lnSpc>
              <a:spcAft>
                <a:spcPts val="800"/>
              </a:spcAft>
              <a:buSzPct val="100000"/>
              <a:buChar char="•"/>
            </a:pPr>
            <a:r>
              <a:rPr lang="en-US" sz="1250" dirty="0">
                <a:solidFill>
                  <a:srgbClr val="16202B"/>
                </a:solidFill>
                <a:latin typeface="Calibri" pitchFamily="34" charset="0"/>
                <a:ea typeface="Calibri" pitchFamily="34" charset="-122"/>
                <a:cs typeface="Calibri" pitchFamily="34" charset="-120"/>
              </a:rPr>
              <a:t>Best callback number right now?</a:t>
            </a:r>
            <a:endParaRPr lang="en-US" sz="1250" dirty="0"/>
          </a:p>
        </p:txBody>
      </p:sp>
      <p:sp>
        <p:nvSpPr>
          <p:cNvPr id="8" name="Shape 6"/>
          <p:cNvSpPr/>
          <p:nvPr/>
        </p:nvSpPr>
        <p:spPr>
          <a:xfrm>
            <a:off x="6231636" y="1783080"/>
            <a:ext cx="5317236" cy="3566160"/>
          </a:xfrm>
          <a:prstGeom prst="roundRect">
            <a:avLst>
              <a:gd name="adj" fmla="val 1538"/>
            </a:avLst>
          </a:prstGeom>
          <a:solidFill>
            <a:srgbClr val="0B2942"/>
          </a:solidFill>
          <a:ln/>
        </p:spPr>
      </p:sp>
      <p:sp>
        <p:nvSpPr>
          <p:cNvPr id="9" name="Text 7"/>
          <p:cNvSpPr txBox="1"/>
          <p:nvPr/>
        </p:nvSpPr>
        <p:spPr>
          <a:xfrm>
            <a:off x="6551676" y="2011680"/>
            <a:ext cx="4677156" cy="274320"/>
          </a:xfrm>
          <a:prstGeom prst="rect">
            <a:avLst/>
          </a:prstGeom>
          <a:noFill/>
          <a:ln/>
        </p:spPr>
        <p:txBody>
          <a:bodyPr wrap="square" lIns="0" tIns="0" rIns="0" bIns="0" rtlCol="0" anchor="ctr"/>
          <a:lstStyle/>
          <a:p>
            <a:pPr indent="0" marL="0">
              <a:buNone/>
            </a:pPr>
            <a:r>
              <a:rPr lang="en-US" sz="1150" b="1" spc="120" kern="0" dirty="0">
                <a:solidFill>
                  <a:srgbClr val="E8792B"/>
                </a:solidFill>
                <a:latin typeface="Calibri" pitchFamily="34" charset="0"/>
                <a:ea typeface="Calibri" pitchFamily="34" charset="-122"/>
                <a:cs typeface="Calibri" pitchFamily="34" charset="-120"/>
              </a:rPr>
              <a:t>COMMANDER QUERY AGENT</a:t>
            </a:r>
            <a:endParaRPr lang="en-US" sz="1150" dirty="0"/>
          </a:p>
        </p:txBody>
      </p:sp>
      <p:sp>
        <p:nvSpPr>
          <p:cNvPr id="10" name="Text 8"/>
          <p:cNvSpPr txBox="1"/>
          <p:nvPr/>
        </p:nvSpPr>
        <p:spPr>
          <a:xfrm>
            <a:off x="6551676" y="2331720"/>
            <a:ext cx="4677156" cy="548640"/>
          </a:xfrm>
          <a:prstGeom prst="rect">
            <a:avLst/>
          </a:prstGeom>
          <a:noFill/>
          <a:ln/>
        </p:spPr>
        <p:txBody>
          <a:bodyPr wrap="square" lIns="0" tIns="0" rIns="0" bIns="0" rtlCol="0" anchor="ctr"/>
          <a:lstStyle/>
          <a:p>
            <a:pPr indent="0" marL="0">
              <a:lnSpc>
                <a:spcPts val="1800"/>
              </a:lnSpc>
              <a:buNone/>
            </a:pPr>
            <a:r>
              <a:rPr lang="en-US" sz="1300" dirty="0">
                <a:solidFill>
                  <a:srgbClr val="BFD2E0"/>
                </a:solidFill>
                <a:latin typeface="Calibri" pitchFamily="34" charset="0"/>
                <a:ea typeface="Calibri" pitchFamily="34" charset="-122"/>
                <a:cs typeface="Calibri" pitchFamily="34" charset="-120"/>
              </a:rPr>
              <a:t>Plain-language questions against live mission data, without opening a report:</a:t>
            </a:r>
            <a:endParaRPr lang="en-US" sz="1300" dirty="0"/>
          </a:p>
        </p:txBody>
      </p:sp>
      <p:sp>
        <p:nvSpPr>
          <p:cNvPr id="11" name="Text 9"/>
          <p:cNvSpPr txBox="1"/>
          <p:nvPr/>
        </p:nvSpPr>
        <p:spPr>
          <a:xfrm>
            <a:off x="6551676" y="2971800"/>
            <a:ext cx="4677156" cy="2011680"/>
          </a:xfrm>
          <a:prstGeom prst="rect">
            <a:avLst/>
          </a:prstGeom>
          <a:noFill/>
          <a:ln/>
        </p:spPr>
        <p:txBody>
          <a:bodyPr wrap="square" lIns="0" tIns="0" rIns="0" bIns="0" rtlCol="0" anchor="ctr"/>
          <a:lstStyle/>
          <a:p>
            <a:pPr indent="0" marL="0">
              <a:lnSpc>
                <a:spcPts val="2600"/>
              </a:lnSpc>
              <a:buNone/>
            </a:pPr>
            <a:r>
              <a:rPr lang="en-US" sz="1350" i="1" dirty="0">
                <a:solidFill>
                  <a:srgbClr val="FFFFFF"/>
                </a:solidFill>
                <a:latin typeface="Calibri" pitchFamily="34" charset="0"/>
                <a:ea typeface="Calibri" pitchFamily="34" charset="-122"/>
                <a:cs typeface="Calibri" pitchFamily="34" charset="-120"/>
              </a:rPr>
              <a:t>“How many boats are uncommitted in Region 2?”</a:t>
            </a:r>
            <a:endParaRPr lang="en-US" sz="1350" dirty="0"/>
          </a:p>
          <a:p>
            <a:pPr indent="0" marL="0">
              <a:lnSpc>
                <a:spcPts val="2600"/>
              </a:lnSpc>
              <a:buNone/>
            </a:pPr>
            <a:r>
              <a:rPr lang="en-US" sz="1350" i="1" dirty="0">
                <a:solidFill>
                  <a:srgbClr val="FFFFFF"/>
                </a:solidFill>
                <a:latin typeface="Calibri" pitchFamily="34" charset="0"/>
                <a:ea typeface="Calibri" pitchFamily="34" charset="-122"/>
                <a:cs typeface="Calibri" pitchFamily="34" charset="-120"/>
              </a:rPr>
              <a:t>“Which Immediate missions are past 30 minutes?”</a:t>
            </a:r>
            <a:endParaRPr lang="en-US" sz="1350" dirty="0"/>
          </a:p>
          <a:p>
            <a:pPr indent="0" marL="0">
              <a:lnSpc>
                <a:spcPts val="2600"/>
              </a:lnSpc>
              <a:buNone/>
            </a:pPr>
            <a:r>
              <a:rPr lang="en-US" sz="1350" i="1" dirty="0">
                <a:solidFill>
                  <a:srgbClr val="FFFFFF"/>
                </a:solidFill>
                <a:latin typeface="Calibri" pitchFamily="34" charset="0"/>
                <a:ea typeface="Calibri" pitchFamily="34" charset="-122"/>
                <a:cs typeface="Calibri" pitchFamily="34" charset="-120"/>
              </a:rPr>
              <a:t>“What is Livingston Parish still waiting on?”</a:t>
            </a:r>
            <a:endParaRPr lang="en-US" sz="1350" dirty="0"/>
          </a:p>
          <a:p>
            <a:pPr indent="0" marL="0">
              <a:lnSpc>
                <a:spcPts val="2600"/>
              </a:lnSpc>
              <a:buNone/>
            </a:pPr>
            <a:r>
              <a:rPr lang="en-US" sz="1350" i="1" dirty="0">
                <a:solidFill>
                  <a:srgbClr val="FFFFFF"/>
                </a:solidFill>
                <a:latin typeface="Calibri" pitchFamily="34" charset="0"/>
                <a:ea typeface="Calibri" pitchFamily="34" charset="-122"/>
                <a:cs typeface="Calibri" pitchFamily="34" charset="-120"/>
              </a:rPr>
              <a:t>“Which units are under 80 percent accountability?”</a:t>
            </a:r>
            <a:endParaRPr lang="en-US" sz="1350" dirty="0"/>
          </a:p>
        </p:txBody>
      </p:sp>
      <p:sp>
        <p:nvSpPr>
          <p:cNvPr id="12" name="Text 10"/>
          <p:cNvSpPr txBox="1"/>
          <p:nvPr/>
        </p:nvSpPr>
        <p:spPr>
          <a:xfrm>
            <a:off x="640080" y="6355080"/>
            <a:ext cx="6976872" cy="274320"/>
          </a:xfrm>
          <a:prstGeom prst="rect">
            <a:avLst/>
          </a:prstGeom>
          <a:noFill/>
          <a:ln/>
        </p:spPr>
        <p:txBody>
          <a:bodyPr wrap="square" lIns="0" tIns="0" rIns="0" bIns="0" rtlCol="0" anchor="ctr"/>
          <a:lstStyle/>
          <a:p>
            <a:pPr indent="0" marL="0">
              <a:buNone/>
            </a:pPr>
            <a:r>
              <a:rPr lang="en-US" sz="1000" i="1" dirty="0">
                <a:solidFill>
                  <a:srgbClr val="5E7185"/>
                </a:solidFill>
                <a:latin typeface="Calibri" pitchFamily="34" charset="0"/>
                <a:ea typeface="Calibri" pitchFamily="34" charset="-122"/>
                <a:cs typeface="Calibri" pitchFamily="34" charset="-120"/>
              </a:rPr>
              <a:t>"No agent" is an acceptable answer — if your team can defend it.</a:t>
            </a:r>
            <a:endParaRPr lang="en-US" sz="1000" dirty="0"/>
          </a:p>
        </p:txBody>
      </p:sp>
      <p:sp>
        <p:nvSpPr>
          <p:cNvPr id="13" name="Text 11"/>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DESIGN TOPIC 3 · REPORTING</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What does the Commander need at 0500?</a:t>
            </a:r>
            <a:endParaRPr lang="en-US" sz="3000" dirty="0"/>
          </a:p>
        </p:txBody>
      </p:sp>
      <p:sp>
        <p:nvSpPr>
          <p:cNvPr id="4" name="Shape 2"/>
          <p:cNvSpPr/>
          <p:nvPr/>
        </p:nvSpPr>
        <p:spPr>
          <a:xfrm>
            <a:off x="640080" y="1874520"/>
            <a:ext cx="2072030" cy="2331720"/>
          </a:xfrm>
          <a:prstGeom prst="roundRect">
            <a:avLst>
              <a:gd name="adj" fmla="val 2648"/>
            </a:avLst>
          </a:prstGeom>
          <a:solidFill>
            <a:srgbClr val="F5F7F9"/>
          </a:solidFill>
          <a:ln/>
        </p:spPr>
      </p:sp>
      <p:sp>
        <p:nvSpPr>
          <p:cNvPr id="5" name="Shape 3"/>
          <p:cNvSpPr/>
          <p:nvPr/>
        </p:nvSpPr>
        <p:spPr>
          <a:xfrm>
            <a:off x="1465783" y="2103120"/>
            <a:ext cx="420624" cy="420624"/>
          </a:xfrm>
          <a:prstGeom prst="ellipse">
            <a:avLst/>
          </a:prstGeom>
          <a:solidFill>
            <a:srgbClr val="E8792B"/>
          </a:solidFill>
          <a:ln/>
        </p:spPr>
      </p:sp>
      <p:sp>
        <p:nvSpPr>
          <p:cNvPr id="6" name="Text 4"/>
          <p:cNvSpPr txBox="1"/>
          <p:nvPr/>
        </p:nvSpPr>
        <p:spPr>
          <a:xfrm>
            <a:off x="1465783" y="21031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777240" y="2670048"/>
            <a:ext cx="1797710" cy="548640"/>
          </a:xfrm>
          <a:prstGeom prst="rect">
            <a:avLst/>
          </a:prstGeom>
          <a:noFill/>
          <a:ln/>
        </p:spPr>
        <p:txBody>
          <a:bodyPr wrap="square" lIns="0" tIns="0" rIns="0" bIns="0" rtlCol="0" anchor="ctr"/>
          <a:lstStyle/>
          <a:p>
            <a:pPr algn="ctr" indent="0" marL="0">
              <a:lnSpc>
                <a:spcPts val="1700"/>
              </a:lnSpc>
              <a:buNone/>
            </a:pPr>
            <a:r>
              <a:rPr lang="en-US" sz="1350" b="1" dirty="0">
                <a:solidFill>
                  <a:srgbClr val="0B2942"/>
                </a:solidFill>
                <a:latin typeface="Calibri" pitchFamily="34" charset="0"/>
                <a:ea typeface="Calibri" pitchFamily="34" charset="-122"/>
                <a:cs typeface="Calibri" pitchFamily="34" charset="-120"/>
              </a:rPr>
              <a:t>Open missions</a:t>
            </a:r>
            <a:endParaRPr lang="en-US" sz="1350" dirty="0"/>
          </a:p>
        </p:txBody>
      </p:sp>
      <p:sp>
        <p:nvSpPr>
          <p:cNvPr id="8" name="Text 6"/>
          <p:cNvSpPr txBox="1"/>
          <p:nvPr/>
        </p:nvSpPr>
        <p:spPr>
          <a:xfrm>
            <a:off x="777240" y="3246120"/>
            <a:ext cx="1797710" cy="868680"/>
          </a:xfrm>
          <a:prstGeom prst="rect">
            <a:avLst/>
          </a:prstGeom>
          <a:noFill/>
          <a:ln/>
        </p:spPr>
        <p:txBody>
          <a:bodyPr wrap="square" lIns="0" tIns="0" rIns="0" bIns="0" rtlCol="0" anchor="ctr"/>
          <a:lstStyle/>
          <a:p>
            <a:pPr algn="ctr" indent="0" marL="0">
              <a:lnSpc>
                <a:spcPts val="1500"/>
              </a:lnSpc>
              <a:buNone/>
            </a:pPr>
            <a:r>
              <a:rPr lang="en-US" sz="1150" dirty="0">
                <a:solidFill>
                  <a:srgbClr val="5E7185"/>
                </a:solidFill>
                <a:latin typeface="Calibri" pitchFamily="34" charset="0"/>
                <a:ea typeface="Calibri" pitchFamily="34" charset="-122"/>
                <a:cs typeface="Calibri" pitchFamily="34" charset="-120"/>
              </a:rPr>
              <a:t>By status and by parish. Who is waiting, and for what.</a:t>
            </a:r>
            <a:endParaRPr lang="en-US" sz="1150" dirty="0"/>
          </a:p>
        </p:txBody>
      </p:sp>
      <p:sp>
        <p:nvSpPr>
          <p:cNvPr id="9" name="Shape 7"/>
          <p:cNvSpPr/>
          <p:nvPr/>
        </p:nvSpPr>
        <p:spPr>
          <a:xfrm>
            <a:off x="2849270" y="1874520"/>
            <a:ext cx="2072030" cy="2331720"/>
          </a:xfrm>
          <a:prstGeom prst="roundRect">
            <a:avLst>
              <a:gd name="adj" fmla="val 2648"/>
            </a:avLst>
          </a:prstGeom>
          <a:solidFill>
            <a:srgbClr val="F5F7F9"/>
          </a:solidFill>
          <a:ln/>
        </p:spPr>
      </p:sp>
      <p:sp>
        <p:nvSpPr>
          <p:cNvPr id="10" name="Shape 8"/>
          <p:cNvSpPr/>
          <p:nvPr/>
        </p:nvSpPr>
        <p:spPr>
          <a:xfrm>
            <a:off x="3674974" y="2103120"/>
            <a:ext cx="420624" cy="420624"/>
          </a:xfrm>
          <a:prstGeom prst="ellipse">
            <a:avLst/>
          </a:prstGeom>
          <a:solidFill>
            <a:srgbClr val="E8792B"/>
          </a:solidFill>
          <a:ln/>
        </p:spPr>
      </p:sp>
      <p:sp>
        <p:nvSpPr>
          <p:cNvPr id="11" name="Text 9"/>
          <p:cNvSpPr txBox="1"/>
          <p:nvPr/>
        </p:nvSpPr>
        <p:spPr>
          <a:xfrm>
            <a:off x="3674974" y="21031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2986430" y="2670048"/>
            <a:ext cx="1797710" cy="548640"/>
          </a:xfrm>
          <a:prstGeom prst="rect">
            <a:avLst/>
          </a:prstGeom>
          <a:noFill/>
          <a:ln/>
        </p:spPr>
        <p:txBody>
          <a:bodyPr wrap="square" lIns="0" tIns="0" rIns="0" bIns="0" rtlCol="0" anchor="ctr"/>
          <a:lstStyle/>
          <a:p>
            <a:pPr algn="ctr" indent="0" marL="0">
              <a:lnSpc>
                <a:spcPts val="1700"/>
              </a:lnSpc>
              <a:buNone/>
            </a:pPr>
            <a:r>
              <a:rPr lang="en-US" sz="1350" b="1" dirty="0">
                <a:solidFill>
                  <a:srgbClr val="0B2942"/>
                </a:solidFill>
                <a:latin typeface="Calibri" pitchFamily="34" charset="0"/>
                <a:ea typeface="Calibri" pitchFamily="34" charset="-122"/>
                <a:cs typeface="Calibri" pitchFamily="34" charset="-120"/>
              </a:rPr>
              <a:t>Asset availability</a:t>
            </a:r>
            <a:endParaRPr lang="en-US" sz="1350" dirty="0"/>
          </a:p>
        </p:txBody>
      </p:sp>
      <p:sp>
        <p:nvSpPr>
          <p:cNvPr id="13" name="Text 11"/>
          <p:cNvSpPr txBox="1"/>
          <p:nvPr/>
        </p:nvSpPr>
        <p:spPr>
          <a:xfrm>
            <a:off x="2986430" y="3246120"/>
            <a:ext cx="1797710" cy="868680"/>
          </a:xfrm>
          <a:prstGeom prst="rect">
            <a:avLst/>
          </a:prstGeom>
          <a:noFill/>
          <a:ln/>
        </p:spPr>
        <p:txBody>
          <a:bodyPr wrap="square" lIns="0" tIns="0" rIns="0" bIns="0" rtlCol="0" anchor="ctr"/>
          <a:lstStyle/>
          <a:p>
            <a:pPr algn="ctr" indent="0" marL="0">
              <a:lnSpc>
                <a:spcPts val="1500"/>
              </a:lnSpc>
              <a:buNone/>
            </a:pPr>
            <a:r>
              <a:rPr lang="en-US" sz="1150" dirty="0">
                <a:solidFill>
                  <a:srgbClr val="5E7185"/>
                </a:solidFill>
                <a:latin typeface="Calibri" pitchFamily="34" charset="0"/>
                <a:ea typeface="Calibri" pitchFamily="34" charset="-122"/>
                <a:cs typeface="Calibri" pitchFamily="34" charset="-120"/>
              </a:rPr>
              <a:t>Committed vs available by type. The boats question, answered.</a:t>
            </a:r>
            <a:endParaRPr lang="en-US" sz="1150" dirty="0"/>
          </a:p>
        </p:txBody>
      </p:sp>
      <p:sp>
        <p:nvSpPr>
          <p:cNvPr id="14" name="Shape 12"/>
          <p:cNvSpPr/>
          <p:nvPr/>
        </p:nvSpPr>
        <p:spPr>
          <a:xfrm>
            <a:off x="5058461" y="1874520"/>
            <a:ext cx="2072030" cy="2331720"/>
          </a:xfrm>
          <a:prstGeom prst="roundRect">
            <a:avLst>
              <a:gd name="adj" fmla="val 2648"/>
            </a:avLst>
          </a:prstGeom>
          <a:solidFill>
            <a:srgbClr val="F5F7F9"/>
          </a:solidFill>
          <a:ln/>
        </p:spPr>
      </p:sp>
      <p:sp>
        <p:nvSpPr>
          <p:cNvPr id="15" name="Shape 13"/>
          <p:cNvSpPr/>
          <p:nvPr/>
        </p:nvSpPr>
        <p:spPr>
          <a:xfrm>
            <a:off x="5884164" y="2103120"/>
            <a:ext cx="420624" cy="420624"/>
          </a:xfrm>
          <a:prstGeom prst="ellipse">
            <a:avLst/>
          </a:prstGeom>
          <a:solidFill>
            <a:srgbClr val="E8792B"/>
          </a:solidFill>
          <a:ln/>
        </p:spPr>
      </p:sp>
      <p:sp>
        <p:nvSpPr>
          <p:cNvPr id="16" name="Text 14"/>
          <p:cNvSpPr txBox="1"/>
          <p:nvPr/>
        </p:nvSpPr>
        <p:spPr>
          <a:xfrm>
            <a:off x="5884164" y="21031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5195621" y="2670048"/>
            <a:ext cx="1797710" cy="548640"/>
          </a:xfrm>
          <a:prstGeom prst="rect">
            <a:avLst/>
          </a:prstGeom>
          <a:noFill/>
          <a:ln/>
        </p:spPr>
        <p:txBody>
          <a:bodyPr wrap="square" lIns="0" tIns="0" rIns="0" bIns="0" rtlCol="0" anchor="ctr"/>
          <a:lstStyle/>
          <a:p>
            <a:pPr algn="ctr" indent="0" marL="0">
              <a:lnSpc>
                <a:spcPts val="1700"/>
              </a:lnSpc>
              <a:buNone/>
            </a:pPr>
            <a:r>
              <a:rPr lang="en-US" sz="1350" b="1" dirty="0">
                <a:solidFill>
                  <a:srgbClr val="0B2942"/>
                </a:solidFill>
                <a:latin typeface="Calibri" pitchFamily="34" charset="0"/>
                <a:ea typeface="Calibri" pitchFamily="34" charset="-122"/>
                <a:cs typeface="Calibri" pitchFamily="34" charset="-120"/>
              </a:rPr>
              <a:t>Personnel accountability</a:t>
            </a:r>
            <a:endParaRPr lang="en-US" sz="1350" dirty="0"/>
          </a:p>
        </p:txBody>
      </p:sp>
      <p:sp>
        <p:nvSpPr>
          <p:cNvPr id="18" name="Text 16"/>
          <p:cNvSpPr txBox="1"/>
          <p:nvPr/>
        </p:nvSpPr>
        <p:spPr>
          <a:xfrm>
            <a:off x="5195621" y="3246120"/>
            <a:ext cx="1797710" cy="868680"/>
          </a:xfrm>
          <a:prstGeom prst="rect">
            <a:avLst/>
          </a:prstGeom>
          <a:noFill/>
          <a:ln/>
        </p:spPr>
        <p:txBody>
          <a:bodyPr wrap="square" lIns="0" tIns="0" rIns="0" bIns="0" rtlCol="0" anchor="ctr"/>
          <a:lstStyle/>
          <a:p>
            <a:pPr algn="ctr" indent="0" marL="0">
              <a:lnSpc>
                <a:spcPts val="1500"/>
              </a:lnSpc>
              <a:buNone/>
            </a:pPr>
            <a:r>
              <a:rPr lang="en-US" sz="1150" dirty="0">
                <a:solidFill>
                  <a:srgbClr val="5E7185"/>
                </a:solidFill>
                <a:latin typeface="Calibri" pitchFamily="34" charset="0"/>
                <a:ea typeface="Calibri" pitchFamily="34" charset="-122"/>
                <a:cs typeface="Calibri" pitchFamily="34" charset="-120"/>
              </a:rPr>
              <a:t>Assigned, present, and duty status by unit.</a:t>
            </a:r>
            <a:endParaRPr lang="en-US" sz="1150" dirty="0"/>
          </a:p>
        </p:txBody>
      </p:sp>
      <p:sp>
        <p:nvSpPr>
          <p:cNvPr id="19" name="Shape 17"/>
          <p:cNvSpPr/>
          <p:nvPr/>
        </p:nvSpPr>
        <p:spPr>
          <a:xfrm>
            <a:off x="7267651" y="1874520"/>
            <a:ext cx="2072030" cy="2331720"/>
          </a:xfrm>
          <a:prstGeom prst="roundRect">
            <a:avLst>
              <a:gd name="adj" fmla="val 2648"/>
            </a:avLst>
          </a:prstGeom>
          <a:solidFill>
            <a:srgbClr val="F5F7F9"/>
          </a:solidFill>
          <a:ln/>
        </p:spPr>
      </p:sp>
      <p:sp>
        <p:nvSpPr>
          <p:cNvPr id="20" name="Shape 18"/>
          <p:cNvSpPr/>
          <p:nvPr/>
        </p:nvSpPr>
        <p:spPr>
          <a:xfrm>
            <a:off x="8093354" y="2103120"/>
            <a:ext cx="420624" cy="420624"/>
          </a:xfrm>
          <a:prstGeom prst="ellipse">
            <a:avLst/>
          </a:prstGeom>
          <a:solidFill>
            <a:srgbClr val="E8792B"/>
          </a:solidFill>
          <a:ln/>
        </p:spPr>
      </p:sp>
      <p:sp>
        <p:nvSpPr>
          <p:cNvPr id="21" name="Text 19"/>
          <p:cNvSpPr txBox="1"/>
          <p:nvPr/>
        </p:nvSpPr>
        <p:spPr>
          <a:xfrm>
            <a:off x="8093354" y="21031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7404811" y="2670048"/>
            <a:ext cx="1797710" cy="548640"/>
          </a:xfrm>
          <a:prstGeom prst="rect">
            <a:avLst/>
          </a:prstGeom>
          <a:noFill/>
          <a:ln/>
        </p:spPr>
        <p:txBody>
          <a:bodyPr wrap="square" lIns="0" tIns="0" rIns="0" bIns="0" rtlCol="0" anchor="ctr"/>
          <a:lstStyle/>
          <a:p>
            <a:pPr algn="ctr" indent="0" marL="0">
              <a:lnSpc>
                <a:spcPts val="1700"/>
              </a:lnSpc>
              <a:buNone/>
            </a:pPr>
            <a:r>
              <a:rPr lang="en-US" sz="1350" b="1" dirty="0">
                <a:solidFill>
                  <a:srgbClr val="0B2942"/>
                </a:solidFill>
                <a:latin typeface="Calibri" pitchFamily="34" charset="0"/>
                <a:ea typeface="Calibri" pitchFamily="34" charset="-122"/>
                <a:cs typeface="Calibri" pitchFamily="34" charset="-120"/>
              </a:rPr>
              <a:t>Response time by priority</a:t>
            </a:r>
            <a:endParaRPr lang="en-US" sz="1350" dirty="0"/>
          </a:p>
        </p:txBody>
      </p:sp>
      <p:sp>
        <p:nvSpPr>
          <p:cNvPr id="23" name="Text 21"/>
          <p:cNvSpPr txBox="1"/>
          <p:nvPr/>
        </p:nvSpPr>
        <p:spPr>
          <a:xfrm>
            <a:off x="7404811" y="3246120"/>
            <a:ext cx="1797710" cy="868680"/>
          </a:xfrm>
          <a:prstGeom prst="rect">
            <a:avLst/>
          </a:prstGeom>
          <a:noFill/>
          <a:ln/>
        </p:spPr>
        <p:txBody>
          <a:bodyPr wrap="square" lIns="0" tIns="0" rIns="0" bIns="0" rtlCol="0" anchor="ctr"/>
          <a:lstStyle/>
          <a:p>
            <a:pPr algn="ctr" indent="0" marL="0">
              <a:lnSpc>
                <a:spcPts val="1500"/>
              </a:lnSpc>
              <a:buNone/>
            </a:pPr>
            <a:r>
              <a:rPr lang="en-US" sz="1150" dirty="0">
                <a:solidFill>
                  <a:srgbClr val="5E7185"/>
                </a:solidFill>
                <a:latin typeface="Calibri" pitchFamily="34" charset="0"/>
                <a:ea typeface="Calibri" pitchFamily="34" charset="-122"/>
                <a:cs typeface="Calibri" pitchFamily="34" charset="-120"/>
              </a:rPr>
              <a:t>Are we meeting the standard on Immediate missions?</a:t>
            </a:r>
            <a:endParaRPr lang="en-US" sz="1150" dirty="0"/>
          </a:p>
        </p:txBody>
      </p:sp>
      <p:sp>
        <p:nvSpPr>
          <p:cNvPr id="24" name="Shape 22"/>
          <p:cNvSpPr/>
          <p:nvPr/>
        </p:nvSpPr>
        <p:spPr>
          <a:xfrm>
            <a:off x="9476842" y="1874520"/>
            <a:ext cx="2072030" cy="2331720"/>
          </a:xfrm>
          <a:prstGeom prst="roundRect">
            <a:avLst>
              <a:gd name="adj" fmla="val 2648"/>
            </a:avLst>
          </a:prstGeom>
          <a:solidFill>
            <a:srgbClr val="F5F7F9"/>
          </a:solidFill>
          <a:ln/>
        </p:spPr>
      </p:sp>
      <p:sp>
        <p:nvSpPr>
          <p:cNvPr id="25" name="Shape 23"/>
          <p:cNvSpPr/>
          <p:nvPr/>
        </p:nvSpPr>
        <p:spPr>
          <a:xfrm>
            <a:off x="10302545" y="2103120"/>
            <a:ext cx="420624" cy="420624"/>
          </a:xfrm>
          <a:prstGeom prst="ellipse">
            <a:avLst/>
          </a:prstGeom>
          <a:solidFill>
            <a:srgbClr val="E8792B"/>
          </a:solidFill>
          <a:ln/>
        </p:spPr>
      </p:sp>
      <p:sp>
        <p:nvSpPr>
          <p:cNvPr id="26" name="Text 24"/>
          <p:cNvSpPr txBox="1"/>
          <p:nvPr/>
        </p:nvSpPr>
        <p:spPr>
          <a:xfrm>
            <a:off x="10302545" y="21031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9614002" y="2670048"/>
            <a:ext cx="1797710" cy="548640"/>
          </a:xfrm>
          <a:prstGeom prst="rect">
            <a:avLst/>
          </a:prstGeom>
          <a:noFill/>
          <a:ln/>
        </p:spPr>
        <p:txBody>
          <a:bodyPr wrap="square" lIns="0" tIns="0" rIns="0" bIns="0" rtlCol="0" anchor="ctr"/>
          <a:lstStyle/>
          <a:p>
            <a:pPr algn="ctr" indent="0" marL="0">
              <a:lnSpc>
                <a:spcPts val="1700"/>
              </a:lnSpc>
              <a:buNone/>
            </a:pPr>
            <a:r>
              <a:rPr lang="en-US" sz="1350" b="1" dirty="0">
                <a:solidFill>
                  <a:srgbClr val="0B2942"/>
                </a:solidFill>
                <a:latin typeface="Calibri" pitchFamily="34" charset="0"/>
                <a:ea typeface="Calibri" pitchFamily="34" charset="-122"/>
                <a:cs typeface="Calibri" pitchFamily="34" charset="-120"/>
              </a:rPr>
              <a:t>Cumulative results</a:t>
            </a:r>
            <a:endParaRPr lang="en-US" sz="1350" dirty="0"/>
          </a:p>
        </p:txBody>
      </p:sp>
      <p:sp>
        <p:nvSpPr>
          <p:cNvPr id="28" name="Text 26"/>
          <p:cNvSpPr txBox="1"/>
          <p:nvPr/>
        </p:nvSpPr>
        <p:spPr>
          <a:xfrm>
            <a:off x="9614002" y="3246120"/>
            <a:ext cx="1797710" cy="868680"/>
          </a:xfrm>
          <a:prstGeom prst="rect">
            <a:avLst/>
          </a:prstGeom>
          <a:noFill/>
          <a:ln/>
        </p:spPr>
        <p:txBody>
          <a:bodyPr wrap="square" lIns="0" tIns="0" rIns="0" bIns="0" rtlCol="0" anchor="ctr"/>
          <a:lstStyle/>
          <a:p>
            <a:pPr algn="ctr" indent="0" marL="0">
              <a:lnSpc>
                <a:spcPts val="1500"/>
              </a:lnSpc>
              <a:buNone/>
            </a:pPr>
            <a:r>
              <a:rPr lang="en-US" sz="1150" dirty="0">
                <a:solidFill>
                  <a:srgbClr val="5E7185"/>
                </a:solidFill>
                <a:latin typeface="Calibri" pitchFamily="34" charset="0"/>
                <a:ea typeface="Calibri" pitchFamily="34" charset="-122"/>
                <a:cs typeface="Calibri" pitchFamily="34" charset="-120"/>
              </a:rPr>
              <a:t>Rescues, assists, commodities, sandbags. The storyboard numbers.</a:t>
            </a:r>
            <a:endParaRPr lang="en-US" sz="1150" dirty="0"/>
          </a:p>
        </p:txBody>
      </p:sp>
      <p:sp>
        <p:nvSpPr>
          <p:cNvPr id="29" name="Shape 27"/>
          <p:cNvSpPr/>
          <p:nvPr/>
        </p:nvSpPr>
        <p:spPr>
          <a:xfrm>
            <a:off x="640080" y="4434840"/>
            <a:ext cx="10908792" cy="914400"/>
          </a:xfrm>
          <a:prstGeom prst="roundRect">
            <a:avLst>
              <a:gd name="adj" fmla="val 6000"/>
            </a:avLst>
          </a:prstGeom>
          <a:solidFill>
            <a:srgbClr val="FDF0E6"/>
          </a:solidFill>
          <a:ln/>
        </p:spPr>
      </p:sp>
      <p:sp>
        <p:nvSpPr>
          <p:cNvPr id="30" name="Text 28"/>
          <p:cNvSpPr txBox="1"/>
          <p:nvPr/>
        </p:nvSpPr>
        <p:spPr>
          <a:xfrm>
            <a:off x="960120" y="4645152"/>
            <a:ext cx="10268712" cy="548640"/>
          </a:xfrm>
          <a:prstGeom prst="rect">
            <a:avLst/>
          </a:prstGeom>
          <a:noFill/>
          <a:ln/>
        </p:spPr>
        <p:txBody>
          <a:bodyPr wrap="square" lIns="0" tIns="0" rIns="0" bIns="0" rtlCol="0" anchor="ctr"/>
          <a:lstStyle/>
          <a:p>
            <a:pPr indent="0" marL="0">
              <a:lnSpc>
                <a:spcPts val="1900"/>
              </a:lnSpc>
              <a:buNone/>
            </a:pPr>
            <a:r>
              <a:rPr lang="en-US" sz="1400" b="1" dirty="0">
                <a:solidFill>
                  <a:srgbClr val="8A4A12"/>
                </a:solidFill>
                <a:latin typeface="Calibri" pitchFamily="34" charset="0"/>
                <a:ea typeface="Calibri" pitchFamily="34" charset="-122"/>
                <a:cs typeface="Calibri" pitchFamily="34" charset="-120"/>
              </a:rPr>
              <a:t>For every metric, answer this: which columns produce that number? If the column isn't on your table, the report can't exist.</a:t>
            </a:r>
            <a:endParaRPr lang="en-US" sz="1400" dirty="0"/>
          </a:p>
        </p:txBody>
      </p:sp>
      <p:sp>
        <p:nvSpPr>
          <p:cNvPr id="31" name="Text 29"/>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DESIGN TOPIC 4 · FALLBACK</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What happens when the network goes down?</a:t>
            </a:r>
            <a:endParaRPr lang="en-US" sz="3000" dirty="0"/>
          </a:p>
        </p:txBody>
      </p:sp>
      <p:sp>
        <p:nvSpPr>
          <p:cNvPr id="4" name="Text 2"/>
          <p:cNvSpPr txBox="1"/>
          <p:nvPr/>
        </p:nvSpPr>
        <p:spPr>
          <a:xfrm>
            <a:off x="640080" y="1737360"/>
            <a:ext cx="10908792" cy="320040"/>
          </a:xfrm>
          <a:prstGeom prst="rect">
            <a:avLst/>
          </a:prstGeom>
          <a:noFill/>
          <a:ln/>
        </p:spPr>
        <p:txBody>
          <a:bodyPr wrap="square" lIns="0" tIns="0" rIns="0" bIns="0" rtlCol="0" anchor="ctr"/>
          <a:lstStyle/>
          <a:p>
            <a:pPr indent="0" marL="0">
              <a:buNone/>
            </a:pPr>
            <a:r>
              <a:rPr lang="en-US" sz="1400" dirty="0">
                <a:solidFill>
                  <a:srgbClr val="16202B"/>
                </a:solidFill>
                <a:latin typeface="Calibri" pitchFamily="34" charset="0"/>
                <a:ea typeface="Calibri" pitchFamily="34" charset="-122"/>
                <a:cs typeface="Calibri" pitchFamily="34" charset="-120"/>
              </a:rPr>
              <a:t>It will. Build the degraded mode on purpose instead of discovering it at 0200.</a:t>
            </a:r>
            <a:endParaRPr lang="en-US" sz="1400" dirty="0"/>
          </a:p>
        </p:txBody>
      </p:sp>
      <p:sp>
        <p:nvSpPr>
          <p:cNvPr id="5" name="Shape 3"/>
          <p:cNvSpPr/>
          <p:nvPr/>
        </p:nvSpPr>
        <p:spPr>
          <a:xfrm>
            <a:off x="640080" y="2148840"/>
            <a:ext cx="10908792" cy="768096"/>
          </a:xfrm>
          <a:prstGeom prst="roundRect">
            <a:avLst>
              <a:gd name="adj" fmla="val 7143"/>
            </a:avLst>
          </a:prstGeom>
          <a:solidFill>
            <a:srgbClr val="F5F7F9"/>
          </a:solidFill>
          <a:ln/>
        </p:spPr>
      </p:sp>
      <p:sp>
        <p:nvSpPr>
          <p:cNvPr id="6" name="Shape 4"/>
          <p:cNvSpPr/>
          <p:nvPr/>
        </p:nvSpPr>
        <p:spPr>
          <a:xfrm>
            <a:off x="640080" y="2148840"/>
            <a:ext cx="658368" cy="768096"/>
          </a:xfrm>
          <a:prstGeom prst="roundRect">
            <a:avLst>
              <a:gd name="adj" fmla="val 8333"/>
            </a:avLst>
          </a:prstGeom>
          <a:solidFill>
            <a:srgbClr val="17567A"/>
          </a:solidFill>
          <a:ln/>
        </p:spPr>
      </p:sp>
      <p:sp>
        <p:nvSpPr>
          <p:cNvPr id="7" name="Text 5"/>
          <p:cNvSpPr txBox="1"/>
          <p:nvPr/>
        </p:nvSpPr>
        <p:spPr>
          <a:xfrm>
            <a:off x="640080" y="2148840"/>
            <a:ext cx="658368" cy="768096"/>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P</a:t>
            </a:r>
            <a:endParaRPr lang="en-US" sz="2600" dirty="0"/>
          </a:p>
        </p:txBody>
      </p:sp>
      <p:sp>
        <p:nvSpPr>
          <p:cNvPr id="8" name="Text 6"/>
          <p:cNvSpPr txBox="1"/>
          <p:nvPr/>
        </p:nvSpPr>
        <p:spPr>
          <a:xfrm>
            <a:off x="1508760" y="2286000"/>
            <a:ext cx="2377440" cy="274320"/>
          </a:xfrm>
          <a:prstGeom prst="rect">
            <a:avLst/>
          </a:prstGeom>
          <a:noFill/>
          <a:ln/>
        </p:spPr>
        <p:txBody>
          <a:bodyPr wrap="square" lIns="0" tIns="0" rIns="0" bIns="0" rtlCol="0" anchor="ctr"/>
          <a:lstStyle/>
          <a:p>
            <a:pPr indent="0" marL="0">
              <a:buNone/>
            </a:pPr>
            <a:r>
              <a:rPr lang="en-US" sz="1250" b="1" spc="100" kern="0" dirty="0">
                <a:solidFill>
                  <a:srgbClr val="0B2942"/>
                </a:solidFill>
                <a:latin typeface="Calibri" pitchFamily="34" charset="0"/>
                <a:ea typeface="Calibri" pitchFamily="34" charset="-122"/>
                <a:cs typeface="Calibri" pitchFamily="34" charset="-120"/>
              </a:rPr>
              <a:t>PRIMARY</a:t>
            </a:r>
            <a:endParaRPr lang="en-US" sz="1250" dirty="0"/>
          </a:p>
        </p:txBody>
      </p:sp>
      <p:sp>
        <p:nvSpPr>
          <p:cNvPr id="9" name="Text 7"/>
          <p:cNvSpPr txBox="1"/>
          <p:nvPr/>
        </p:nvSpPr>
        <p:spPr>
          <a:xfrm>
            <a:off x="1508760" y="2560320"/>
            <a:ext cx="9720072" cy="292608"/>
          </a:xfrm>
          <a:prstGeom prst="rect">
            <a:avLst/>
          </a:prstGeom>
          <a:noFill/>
          <a:ln/>
        </p:spPr>
        <p:txBody>
          <a:bodyPr wrap="square" lIns="0" tIns="0" rIns="0" bIns="0" rtlCol="0" anchor="ctr"/>
          <a:lstStyle/>
          <a:p>
            <a:pPr indent="0" marL="0">
              <a:buNone/>
            </a:pPr>
            <a:r>
              <a:rPr lang="en-US" sz="1250" dirty="0">
                <a:solidFill>
                  <a:srgbClr val="5E7185"/>
                </a:solidFill>
                <a:latin typeface="Calibri" pitchFamily="34" charset="0"/>
                <a:ea typeface="Calibri" pitchFamily="34" charset="-122"/>
                <a:cs typeface="Calibri" pitchFamily="34" charset="-120"/>
              </a:rPr>
              <a:t>Mission Tracker app over the state network or cellular data.</a:t>
            </a:r>
            <a:endParaRPr lang="en-US" sz="1250" dirty="0"/>
          </a:p>
        </p:txBody>
      </p:sp>
      <p:sp>
        <p:nvSpPr>
          <p:cNvPr id="10" name="Shape 8"/>
          <p:cNvSpPr/>
          <p:nvPr/>
        </p:nvSpPr>
        <p:spPr>
          <a:xfrm>
            <a:off x="640080" y="3017520"/>
            <a:ext cx="10908792" cy="768096"/>
          </a:xfrm>
          <a:prstGeom prst="roundRect">
            <a:avLst>
              <a:gd name="adj" fmla="val 7143"/>
            </a:avLst>
          </a:prstGeom>
          <a:solidFill>
            <a:srgbClr val="F5F7F9"/>
          </a:solidFill>
          <a:ln/>
        </p:spPr>
      </p:sp>
      <p:sp>
        <p:nvSpPr>
          <p:cNvPr id="11" name="Shape 9"/>
          <p:cNvSpPr/>
          <p:nvPr/>
        </p:nvSpPr>
        <p:spPr>
          <a:xfrm>
            <a:off x="640080" y="3017520"/>
            <a:ext cx="658368" cy="768096"/>
          </a:xfrm>
          <a:prstGeom prst="roundRect">
            <a:avLst>
              <a:gd name="adj" fmla="val 8333"/>
            </a:avLst>
          </a:prstGeom>
          <a:solidFill>
            <a:srgbClr val="1E7A8C"/>
          </a:solidFill>
          <a:ln/>
        </p:spPr>
      </p:sp>
      <p:sp>
        <p:nvSpPr>
          <p:cNvPr id="12" name="Text 10"/>
          <p:cNvSpPr txBox="1"/>
          <p:nvPr/>
        </p:nvSpPr>
        <p:spPr>
          <a:xfrm>
            <a:off x="640080" y="3017520"/>
            <a:ext cx="658368" cy="768096"/>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a:t>
            </a:r>
            <a:endParaRPr lang="en-US" sz="2600" dirty="0"/>
          </a:p>
        </p:txBody>
      </p:sp>
      <p:sp>
        <p:nvSpPr>
          <p:cNvPr id="13" name="Text 11"/>
          <p:cNvSpPr txBox="1"/>
          <p:nvPr/>
        </p:nvSpPr>
        <p:spPr>
          <a:xfrm>
            <a:off x="1508760" y="3154680"/>
            <a:ext cx="2377440" cy="274320"/>
          </a:xfrm>
          <a:prstGeom prst="rect">
            <a:avLst/>
          </a:prstGeom>
          <a:noFill/>
          <a:ln/>
        </p:spPr>
        <p:txBody>
          <a:bodyPr wrap="square" lIns="0" tIns="0" rIns="0" bIns="0" rtlCol="0" anchor="ctr"/>
          <a:lstStyle/>
          <a:p>
            <a:pPr indent="0" marL="0">
              <a:buNone/>
            </a:pPr>
            <a:r>
              <a:rPr lang="en-US" sz="1250" b="1" spc="100" kern="0" dirty="0">
                <a:solidFill>
                  <a:srgbClr val="0B2942"/>
                </a:solidFill>
                <a:latin typeface="Calibri" pitchFamily="34" charset="0"/>
                <a:ea typeface="Calibri" pitchFamily="34" charset="-122"/>
                <a:cs typeface="Calibri" pitchFamily="34" charset="-120"/>
              </a:rPr>
              <a:t>ALTERNATE</a:t>
            </a:r>
            <a:endParaRPr lang="en-US" sz="1250" dirty="0"/>
          </a:p>
        </p:txBody>
      </p:sp>
      <p:sp>
        <p:nvSpPr>
          <p:cNvPr id="14" name="Text 12"/>
          <p:cNvSpPr txBox="1"/>
          <p:nvPr/>
        </p:nvSpPr>
        <p:spPr>
          <a:xfrm>
            <a:off x="1508760" y="3429000"/>
            <a:ext cx="9720072" cy="292608"/>
          </a:xfrm>
          <a:prstGeom prst="rect">
            <a:avLst/>
          </a:prstGeom>
          <a:noFill/>
          <a:ln/>
        </p:spPr>
        <p:txBody>
          <a:bodyPr wrap="square" lIns="0" tIns="0" rIns="0" bIns="0" rtlCol="0" anchor="ctr"/>
          <a:lstStyle/>
          <a:p>
            <a:pPr indent="0" marL="0">
              <a:buNone/>
            </a:pPr>
            <a:r>
              <a:rPr lang="en-US" sz="1250" dirty="0">
                <a:solidFill>
                  <a:srgbClr val="5E7185"/>
                </a:solidFill>
                <a:latin typeface="Calibri" pitchFamily="34" charset="0"/>
                <a:ea typeface="Calibri" pitchFamily="34" charset="-122"/>
                <a:cs typeface="Calibri" pitchFamily="34" charset="-120"/>
              </a:rPr>
              <a:t>Parish portal over any commercial internet; JOC works from the model-driven app.</a:t>
            </a:r>
            <a:endParaRPr lang="en-US" sz="1250" dirty="0"/>
          </a:p>
        </p:txBody>
      </p:sp>
      <p:sp>
        <p:nvSpPr>
          <p:cNvPr id="15" name="Shape 13"/>
          <p:cNvSpPr/>
          <p:nvPr/>
        </p:nvSpPr>
        <p:spPr>
          <a:xfrm>
            <a:off x="640080" y="3886200"/>
            <a:ext cx="10908792" cy="768096"/>
          </a:xfrm>
          <a:prstGeom prst="roundRect">
            <a:avLst>
              <a:gd name="adj" fmla="val 7143"/>
            </a:avLst>
          </a:prstGeom>
          <a:solidFill>
            <a:srgbClr val="F5F7F9"/>
          </a:solidFill>
          <a:ln/>
        </p:spPr>
      </p:sp>
      <p:sp>
        <p:nvSpPr>
          <p:cNvPr id="16" name="Shape 14"/>
          <p:cNvSpPr/>
          <p:nvPr/>
        </p:nvSpPr>
        <p:spPr>
          <a:xfrm>
            <a:off x="640080" y="3886200"/>
            <a:ext cx="658368" cy="768096"/>
          </a:xfrm>
          <a:prstGeom prst="roundRect">
            <a:avLst>
              <a:gd name="adj" fmla="val 8333"/>
            </a:avLst>
          </a:prstGeom>
          <a:solidFill>
            <a:srgbClr val="E8792B"/>
          </a:solidFill>
          <a:ln/>
        </p:spPr>
      </p:sp>
      <p:sp>
        <p:nvSpPr>
          <p:cNvPr id="17" name="Text 15"/>
          <p:cNvSpPr txBox="1"/>
          <p:nvPr/>
        </p:nvSpPr>
        <p:spPr>
          <a:xfrm>
            <a:off x="640080" y="3886200"/>
            <a:ext cx="658368" cy="768096"/>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C</a:t>
            </a:r>
            <a:endParaRPr lang="en-US" sz="2600" dirty="0"/>
          </a:p>
        </p:txBody>
      </p:sp>
      <p:sp>
        <p:nvSpPr>
          <p:cNvPr id="18" name="Text 16"/>
          <p:cNvSpPr txBox="1"/>
          <p:nvPr/>
        </p:nvSpPr>
        <p:spPr>
          <a:xfrm>
            <a:off x="1508760" y="4023360"/>
            <a:ext cx="2377440" cy="274320"/>
          </a:xfrm>
          <a:prstGeom prst="rect">
            <a:avLst/>
          </a:prstGeom>
          <a:noFill/>
          <a:ln/>
        </p:spPr>
        <p:txBody>
          <a:bodyPr wrap="square" lIns="0" tIns="0" rIns="0" bIns="0" rtlCol="0" anchor="ctr"/>
          <a:lstStyle/>
          <a:p>
            <a:pPr indent="0" marL="0">
              <a:buNone/>
            </a:pPr>
            <a:r>
              <a:rPr lang="en-US" sz="1250" b="1" spc="100" kern="0" dirty="0">
                <a:solidFill>
                  <a:srgbClr val="0B2942"/>
                </a:solidFill>
                <a:latin typeface="Calibri" pitchFamily="34" charset="0"/>
                <a:ea typeface="Calibri" pitchFamily="34" charset="-122"/>
                <a:cs typeface="Calibri" pitchFamily="34" charset="-120"/>
              </a:rPr>
              <a:t>CONTINGENCY</a:t>
            </a:r>
            <a:endParaRPr lang="en-US" sz="1250" dirty="0"/>
          </a:p>
        </p:txBody>
      </p:sp>
      <p:sp>
        <p:nvSpPr>
          <p:cNvPr id="19" name="Text 17"/>
          <p:cNvSpPr txBox="1"/>
          <p:nvPr/>
        </p:nvSpPr>
        <p:spPr>
          <a:xfrm>
            <a:off x="1508760" y="4297680"/>
            <a:ext cx="9720072" cy="292608"/>
          </a:xfrm>
          <a:prstGeom prst="rect">
            <a:avLst/>
          </a:prstGeom>
          <a:noFill/>
          <a:ln/>
        </p:spPr>
        <p:txBody>
          <a:bodyPr wrap="square" lIns="0" tIns="0" rIns="0" bIns="0" rtlCol="0" anchor="ctr"/>
          <a:lstStyle/>
          <a:p>
            <a:pPr indent="0" marL="0">
              <a:buNone/>
            </a:pPr>
            <a:r>
              <a:rPr lang="en-US" sz="1250" dirty="0">
                <a:solidFill>
                  <a:srgbClr val="5E7185"/>
                </a:solidFill>
                <a:latin typeface="Calibri" pitchFamily="34" charset="0"/>
                <a:ea typeface="Calibri" pitchFamily="34" charset="-122"/>
                <a:cs typeface="Calibri" pitchFamily="34" charset="-120"/>
              </a:rPr>
              <a:t>Voice or radio to the JOC. Watch NCO enters the mission on the requester's behalf.</a:t>
            </a:r>
            <a:endParaRPr lang="en-US" sz="1250" dirty="0"/>
          </a:p>
        </p:txBody>
      </p:sp>
      <p:sp>
        <p:nvSpPr>
          <p:cNvPr id="20" name="Shape 18"/>
          <p:cNvSpPr/>
          <p:nvPr/>
        </p:nvSpPr>
        <p:spPr>
          <a:xfrm>
            <a:off x="640080" y="4754880"/>
            <a:ext cx="10908792" cy="768096"/>
          </a:xfrm>
          <a:prstGeom prst="roundRect">
            <a:avLst>
              <a:gd name="adj" fmla="val 7143"/>
            </a:avLst>
          </a:prstGeom>
          <a:solidFill>
            <a:srgbClr val="F5F7F9"/>
          </a:solidFill>
          <a:ln/>
        </p:spPr>
      </p:sp>
      <p:sp>
        <p:nvSpPr>
          <p:cNvPr id="21" name="Shape 19"/>
          <p:cNvSpPr/>
          <p:nvPr/>
        </p:nvSpPr>
        <p:spPr>
          <a:xfrm>
            <a:off x="640080" y="4754880"/>
            <a:ext cx="658368" cy="768096"/>
          </a:xfrm>
          <a:prstGeom prst="roundRect">
            <a:avLst>
              <a:gd name="adj" fmla="val 8333"/>
            </a:avLst>
          </a:prstGeom>
          <a:solidFill>
            <a:srgbClr val="8A1E10"/>
          </a:solidFill>
          <a:ln/>
        </p:spPr>
      </p:sp>
      <p:sp>
        <p:nvSpPr>
          <p:cNvPr id="22" name="Text 20"/>
          <p:cNvSpPr txBox="1"/>
          <p:nvPr/>
        </p:nvSpPr>
        <p:spPr>
          <a:xfrm>
            <a:off x="640080" y="4754880"/>
            <a:ext cx="658368" cy="768096"/>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E</a:t>
            </a:r>
            <a:endParaRPr lang="en-US" sz="2600" dirty="0"/>
          </a:p>
        </p:txBody>
      </p:sp>
      <p:sp>
        <p:nvSpPr>
          <p:cNvPr id="23" name="Text 21"/>
          <p:cNvSpPr txBox="1"/>
          <p:nvPr/>
        </p:nvSpPr>
        <p:spPr>
          <a:xfrm>
            <a:off x="1508760" y="4892040"/>
            <a:ext cx="2377440" cy="274320"/>
          </a:xfrm>
          <a:prstGeom prst="rect">
            <a:avLst/>
          </a:prstGeom>
          <a:noFill/>
          <a:ln/>
        </p:spPr>
        <p:txBody>
          <a:bodyPr wrap="square" lIns="0" tIns="0" rIns="0" bIns="0" rtlCol="0" anchor="ctr"/>
          <a:lstStyle/>
          <a:p>
            <a:pPr indent="0" marL="0">
              <a:buNone/>
            </a:pPr>
            <a:r>
              <a:rPr lang="en-US" sz="1250" b="1" spc="100" kern="0" dirty="0">
                <a:solidFill>
                  <a:srgbClr val="0B2942"/>
                </a:solidFill>
                <a:latin typeface="Calibri" pitchFamily="34" charset="0"/>
                <a:ea typeface="Calibri" pitchFamily="34" charset="-122"/>
                <a:cs typeface="Calibri" pitchFamily="34" charset="-120"/>
              </a:rPr>
              <a:t>EMERGENCY</a:t>
            </a:r>
            <a:endParaRPr lang="en-US" sz="1250" dirty="0"/>
          </a:p>
        </p:txBody>
      </p:sp>
      <p:sp>
        <p:nvSpPr>
          <p:cNvPr id="24" name="Text 22"/>
          <p:cNvSpPr txBox="1"/>
          <p:nvPr/>
        </p:nvSpPr>
        <p:spPr>
          <a:xfrm>
            <a:off x="1508760" y="5166360"/>
            <a:ext cx="9720072" cy="292608"/>
          </a:xfrm>
          <a:prstGeom prst="rect">
            <a:avLst/>
          </a:prstGeom>
          <a:noFill/>
          <a:ln/>
        </p:spPr>
        <p:txBody>
          <a:bodyPr wrap="square" lIns="0" tIns="0" rIns="0" bIns="0" rtlCol="0" anchor="ctr"/>
          <a:lstStyle/>
          <a:p>
            <a:pPr indent="0" marL="0">
              <a:buNone/>
            </a:pPr>
            <a:r>
              <a:rPr lang="en-US" sz="1250" dirty="0">
                <a:solidFill>
                  <a:srgbClr val="5E7185"/>
                </a:solidFill>
                <a:latin typeface="Calibri" pitchFamily="34" charset="0"/>
                <a:ea typeface="Calibri" pitchFamily="34" charset="-122"/>
                <a:cs typeface="Calibri" pitchFamily="34" charset="-120"/>
              </a:rPr>
              <a:t>Paper ICS 213RR by runner or radio relay. Back-entered when connectivity returns.</a:t>
            </a:r>
            <a:endParaRPr lang="en-US" sz="1250" dirty="0"/>
          </a:p>
        </p:txBody>
      </p:sp>
      <p:sp>
        <p:nvSpPr>
          <p:cNvPr id="25" name="Text 23"/>
          <p:cNvSpPr txBox="1"/>
          <p:nvPr/>
        </p:nvSpPr>
        <p:spPr>
          <a:xfrm>
            <a:off x="640080" y="5715000"/>
            <a:ext cx="6976872" cy="502920"/>
          </a:xfrm>
          <a:prstGeom prst="rect">
            <a:avLst/>
          </a:prstGeom>
          <a:noFill/>
          <a:ln/>
        </p:spPr>
        <p:txBody>
          <a:bodyPr wrap="square" lIns="0" tIns="0" rIns="0" bIns="0" rtlCol="0" anchor="ctr"/>
          <a:lstStyle/>
          <a:p>
            <a:pPr indent="0" marL="0">
              <a:lnSpc>
                <a:spcPts val="1700"/>
              </a:lnSpc>
              <a:buNone/>
            </a:pPr>
            <a:r>
              <a:rPr lang="en-US" sz="1300" b="1" dirty="0">
                <a:solidFill>
                  <a:srgbClr val="E8792B"/>
                </a:solidFill>
                <a:latin typeface="Calibri" pitchFamily="34" charset="0"/>
                <a:ea typeface="Calibri" pitchFamily="34" charset="-122"/>
                <a:cs typeface="Calibri" pitchFamily="34" charset="-120"/>
              </a:rPr>
              <a:t>Design question: when the system comes back up, who reconciles the paper against the database — and how do you stop double-tasking in the meantime?</a:t>
            </a:r>
            <a:endParaRPr lang="en-US" sz="1300" dirty="0"/>
          </a:p>
        </p:txBody>
      </p:sp>
      <p:sp>
        <p:nvSpPr>
          <p:cNvPr id="26" name="Text 24"/>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9509760" y="-822960"/>
            <a:ext cx="4023360" cy="4023360"/>
          </a:xfrm>
          <a:prstGeom prst="ellipse">
            <a:avLst/>
          </a:prstGeom>
          <a:solidFill>
            <a:srgbClr val="17567A"/>
          </a:solidFill>
          <a:ln/>
        </p:spPr>
      </p:sp>
      <p:sp>
        <p:nvSpPr>
          <p:cNvPr id="3" name="Text 1"/>
          <p:cNvSpPr txBox="1"/>
          <p:nvPr/>
        </p:nvSpPr>
        <p:spPr>
          <a:xfrm>
            <a:off x="640080" y="1234440"/>
            <a:ext cx="8412480" cy="320040"/>
          </a:xfrm>
          <a:prstGeom prst="rect">
            <a:avLst/>
          </a:prstGeom>
          <a:noFill/>
          <a:ln/>
        </p:spPr>
        <p:txBody>
          <a:bodyPr wrap="square" lIns="0" tIns="0" rIns="0" bIns="0" rtlCol="0" anchor="ctr"/>
          <a:lstStyle/>
          <a:p>
            <a:pPr indent="0" marL="0">
              <a:buNone/>
            </a:pPr>
            <a:r>
              <a:rPr lang="en-US" sz="1250" b="1" spc="250" kern="0" dirty="0">
                <a:solidFill>
                  <a:srgbClr val="E8792B"/>
                </a:solidFill>
                <a:latin typeface="Calibri" pitchFamily="34" charset="0"/>
                <a:ea typeface="Calibri" pitchFamily="34" charset="-122"/>
                <a:cs typeface="Calibri" pitchFamily="34" charset="-120"/>
              </a:rPr>
              <a:t>GROUP ACTIVITY</a:t>
            </a:r>
            <a:endParaRPr lang="en-US" sz="1250" dirty="0"/>
          </a:p>
        </p:txBody>
      </p:sp>
      <p:sp>
        <p:nvSpPr>
          <p:cNvPr id="4" name="Text 2"/>
          <p:cNvSpPr txBox="1"/>
          <p:nvPr/>
        </p:nvSpPr>
        <p:spPr>
          <a:xfrm>
            <a:off x="640080" y="1600200"/>
            <a:ext cx="841248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Document your solution design</a:t>
            </a:r>
            <a:endParaRPr lang="en-US" sz="3400" dirty="0"/>
          </a:p>
        </p:txBody>
      </p:sp>
      <p:sp>
        <p:nvSpPr>
          <p:cNvPr id="5" name="Text 3"/>
          <p:cNvSpPr txBox="1"/>
          <p:nvPr/>
        </p:nvSpPr>
        <p:spPr>
          <a:xfrm>
            <a:off x="640080" y="2468880"/>
            <a:ext cx="8412480" cy="640080"/>
          </a:xfrm>
          <a:prstGeom prst="rect">
            <a:avLst/>
          </a:prstGeom>
          <a:noFill/>
          <a:ln/>
        </p:spPr>
        <p:txBody>
          <a:bodyPr wrap="square" lIns="0" tIns="0" rIns="0" bIns="0" rtlCol="0" anchor="ctr"/>
          <a:lstStyle/>
          <a:p>
            <a:pPr indent="0" marL="0">
              <a:lnSpc>
                <a:spcPts val="2100"/>
              </a:lnSpc>
              <a:buNone/>
            </a:pPr>
            <a:r>
              <a:rPr lang="en-US" sz="1500" dirty="0">
                <a:solidFill>
                  <a:srgbClr val="BFD2E0"/>
                </a:solidFill>
                <a:latin typeface="Calibri" pitchFamily="34" charset="0"/>
                <a:ea typeface="Calibri" pitchFamily="34" charset="-122"/>
                <a:cs typeface="Calibri" pitchFamily="34" charset="-120"/>
              </a:rPr>
              <a:t>Before anyone opens a browser, complete the Solution Design Worksheet as a team. You will write your prompt directly from it.</a:t>
            </a:r>
            <a:endParaRPr lang="en-US" sz="1500" dirty="0"/>
          </a:p>
        </p:txBody>
      </p:sp>
      <p:sp>
        <p:nvSpPr>
          <p:cNvPr id="6" name="Text 4"/>
          <p:cNvSpPr txBox="1"/>
          <p:nvPr/>
        </p:nvSpPr>
        <p:spPr>
          <a:xfrm>
            <a:off x="731520" y="3337560"/>
            <a:ext cx="8412480" cy="1737360"/>
          </a:xfrm>
          <a:prstGeom prst="rect">
            <a:avLst/>
          </a:prstGeom>
          <a:noFill/>
          <a:ln/>
        </p:spPr>
        <p:txBody>
          <a:bodyPr wrap="square" lIns="0" tIns="0" rIns="0" bIns="0" rtlCol="0" anchor="ctr"/>
          <a:lstStyle/>
          <a:p>
            <a:pPr marL="342900" indent="-342900">
              <a:lnSpc>
                <a:spcPts val="2400"/>
              </a:lnSpc>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Section A — Workflows and escalation timers</a:t>
            </a:r>
            <a:endParaRPr lang="en-US" sz="1450" dirty="0"/>
          </a:p>
          <a:p>
            <a:pPr marL="342900" indent="-342900">
              <a:lnSpc>
                <a:spcPts val="2400"/>
              </a:lnSpc>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Section B — Agent scenario, or a defended decision not to</a:t>
            </a:r>
            <a:endParaRPr lang="en-US" sz="1450" dirty="0"/>
          </a:p>
          <a:p>
            <a:pPr marL="342900" indent="-342900">
              <a:lnSpc>
                <a:spcPts val="2400"/>
              </a:lnSpc>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Section C — Reporting metrics and who reads them</a:t>
            </a:r>
            <a:endParaRPr lang="en-US" sz="1450" dirty="0"/>
          </a:p>
          <a:p>
            <a:pPr marL="342900" indent="-342900">
              <a:lnSpc>
                <a:spcPts val="2400"/>
              </a:lnSpc>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Section D — PACE fallback and reconciliation</a:t>
            </a:r>
            <a:endParaRPr lang="en-US" sz="1450" dirty="0"/>
          </a:p>
        </p:txBody>
      </p:sp>
      <p:sp>
        <p:nvSpPr>
          <p:cNvPr id="7" name="Text 5"/>
          <p:cNvSpPr txBox="1"/>
          <p:nvPr/>
        </p:nvSpPr>
        <p:spPr>
          <a:xfrm>
            <a:off x="640080" y="5349240"/>
            <a:ext cx="8412480" cy="365760"/>
          </a:xfrm>
          <a:prstGeom prst="rect">
            <a:avLst/>
          </a:prstGeom>
          <a:noFill/>
          <a:ln/>
        </p:spPr>
        <p:txBody>
          <a:bodyPr wrap="square" lIns="0" tIns="0" rIns="0" bIns="0" rtlCol="0" anchor="ctr"/>
          <a:lstStyle/>
          <a:p>
            <a:pPr indent="0" marL="0">
              <a:buNone/>
            </a:pPr>
            <a:r>
              <a:rPr lang="en-US" sz="1600" b="1" dirty="0">
                <a:solidFill>
                  <a:srgbClr val="E8792B"/>
                </a:solidFill>
                <a:latin typeface="Calibri" pitchFamily="34" charset="0"/>
                <a:ea typeface="Calibri" pitchFamily="34" charset="-122"/>
                <a:cs typeface="Calibri" pitchFamily="34" charset="-120"/>
              </a:rPr>
              <a:t>45 minutes  ·  then a 10-minute share-out</a:t>
            </a:r>
            <a:endParaRPr lang="en-US" sz="1600" dirty="0"/>
          </a:p>
        </p:txBody>
      </p:sp>
      <p:sp>
        <p:nvSpPr>
          <p:cNvPr id="8" name="Text 6"/>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6E8AA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9966960" y="1005840"/>
            <a:ext cx="4754880" cy="4754880"/>
          </a:xfrm>
          <a:prstGeom prst="ellipse">
            <a:avLst/>
          </a:prstGeom>
          <a:solidFill>
            <a:srgbClr val="17567A"/>
          </a:solidFill>
          <a:ln/>
        </p:spPr>
      </p:sp>
      <p:sp>
        <p:nvSpPr>
          <p:cNvPr id="3" name="Text 1"/>
          <p:cNvSpPr txBox="1"/>
          <p:nvPr/>
        </p:nvSpPr>
        <p:spPr>
          <a:xfrm>
            <a:off x="640080" y="2514600"/>
            <a:ext cx="8229600" cy="320040"/>
          </a:xfrm>
          <a:prstGeom prst="rect">
            <a:avLst/>
          </a:prstGeom>
          <a:noFill/>
          <a:ln/>
        </p:spPr>
        <p:txBody>
          <a:bodyPr wrap="square" lIns="0" tIns="0" rIns="0" bIns="0" rtlCol="0" anchor="ctr"/>
          <a:lstStyle/>
          <a:p>
            <a:pPr indent="0" marL="0">
              <a:buNone/>
            </a:pPr>
            <a:r>
              <a:rPr lang="en-US" sz="1300" b="1" spc="300" kern="0" dirty="0">
                <a:solidFill>
                  <a:srgbClr val="E8792B"/>
                </a:solidFill>
                <a:latin typeface="Calibri" pitchFamily="34" charset="0"/>
                <a:ea typeface="Calibri" pitchFamily="34" charset="-122"/>
                <a:cs typeface="Calibri" pitchFamily="34" charset="-120"/>
              </a:rPr>
              <a:t>PHASE 3</a:t>
            </a:r>
            <a:endParaRPr lang="en-US" sz="1300" dirty="0"/>
          </a:p>
        </p:txBody>
      </p:sp>
      <p:sp>
        <p:nvSpPr>
          <p:cNvPr id="4" name="Text 2"/>
          <p:cNvSpPr txBox="1"/>
          <p:nvPr/>
        </p:nvSpPr>
        <p:spPr>
          <a:xfrm>
            <a:off x="640080" y="2880360"/>
            <a:ext cx="8229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Build</a:t>
            </a:r>
            <a:endParaRPr lang="en-US" sz="4600" dirty="0"/>
          </a:p>
        </p:txBody>
      </p:sp>
      <p:sp>
        <p:nvSpPr>
          <p:cNvPr id="5" name="Text 3"/>
          <p:cNvSpPr txBox="1"/>
          <p:nvPr/>
        </p:nvSpPr>
        <p:spPr>
          <a:xfrm>
            <a:off x="640080" y="3886200"/>
            <a:ext cx="8229600" cy="365760"/>
          </a:xfrm>
          <a:prstGeom prst="rect">
            <a:avLst/>
          </a:prstGeom>
          <a:noFill/>
          <a:ln/>
        </p:spPr>
        <p:txBody>
          <a:bodyPr wrap="square" lIns="0" tIns="0" rIns="0" bIns="0" rtlCol="0" anchor="ctr"/>
          <a:lstStyle/>
          <a:p>
            <a:pPr indent="0" marL="0">
              <a:buNone/>
            </a:pPr>
            <a:r>
              <a:rPr lang="en-US" sz="1600" dirty="0">
                <a:solidFill>
                  <a:srgbClr val="BFD2E0"/>
                </a:solidFill>
                <a:latin typeface="Calibri" pitchFamily="34" charset="0"/>
                <a:ea typeface="Calibri" pitchFamily="34" charset="-122"/>
                <a:cs typeface="Calibri" pitchFamily="34" charset="-120"/>
              </a:rPr>
              <a:t>You've done the hard thinking. Now let the tool do the typing.</a:t>
            </a:r>
            <a:endParaRPr lang="en-US" sz="1600" dirty="0"/>
          </a:p>
        </p:txBody>
      </p:sp>
      <p:sp>
        <p:nvSpPr>
          <p:cNvPr id="6" name="Text 4"/>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6E8AA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PLAN DESIGNER · STEP 1</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Describe the problem</a:t>
            </a:r>
            <a:endParaRPr lang="en-US" sz="3000" dirty="0"/>
          </a:p>
        </p:txBody>
      </p:sp>
      <p:sp>
        <p:nvSpPr>
          <p:cNvPr id="4" name="Shape 2"/>
          <p:cNvSpPr/>
          <p:nvPr/>
        </p:nvSpPr>
        <p:spPr>
          <a:xfrm>
            <a:off x="640080" y="1783080"/>
            <a:ext cx="4799868" cy="3657600"/>
          </a:xfrm>
          <a:prstGeom prst="roundRect">
            <a:avLst>
              <a:gd name="adj" fmla="val 1500"/>
            </a:avLst>
          </a:prstGeom>
          <a:solidFill>
            <a:srgbClr val="F5F7F9"/>
          </a:solidFill>
          <a:ln/>
        </p:spPr>
      </p:sp>
      <p:sp>
        <p:nvSpPr>
          <p:cNvPr id="5" name="Text 3"/>
          <p:cNvSpPr txBox="1"/>
          <p:nvPr/>
        </p:nvSpPr>
        <p:spPr>
          <a:xfrm>
            <a:off x="914400" y="2057400"/>
            <a:ext cx="4251228" cy="32004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300" dirty="0">
                <a:solidFill>
                  <a:srgbClr val="16202B"/>
                </a:solidFill>
                <a:latin typeface="Calibri" pitchFamily="34" charset="0"/>
                <a:ea typeface="Calibri" pitchFamily="34" charset="-122"/>
                <a:cs typeface="Calibri" pitchFamily="34" charset="-120"/>
              </a:rPr>
              <a:t>Sign in at make.powerapps.com and confirm your environment.</a:t>
            </a:r>
            <a:endParaRPr lang="en-US" sz="1300" dirty="0"/>
          </a:p>
          <a:p>
            <a:pPr marL="342900" indent="-342900">
              <a:lnSpc>
                <a:spcPts val="2000"/>
              </a:lnSpc>
              <a:spcAft>
                <a:spcPts val="800"/>
              </a:spcAft>
              <a:buSzPct val="100000"/>
              <a:buChar char="•"/>
            </a:pPr>
            <a:r>
              <a:rPr lang="en-US" sz="1300" dirty="0">
                <a:solidFill>
                  <a:srgbClr val="16202B"/>
                </a:solidFill>
                <a:latin typeface="Calibri" pitchFamily="34" charset="0"/>
                <a:ea typeface="Calibri" pitchFamily="34" charset="-122"/>
                <a:cs typeface="Calibri" pitchFamily="34" charset="-120"/>
              </a:rPr>
              <a:t>Start a new plan. Your instructor will show today's exact path.</a:t>
            </a:r>
            <a:endParaRPr lang="en-US" sz="1300" dirty="0"/>
          </a:p>
          <a:p>
            <a:pPr marL="342900" indent="-342900">
              <a:lnSpc>
                <a:spcPts val="2000"/>
              </a:lnSpc>
              <a:spcAft>
                <a:spcPts val="800"/>
              </a:spcAft>
              <a:buSzPct val="100000"/>
              <a:buChar char="•"/>
            </a:pPr>
            <a:r>
              <a:rPr lang="en-US" sz="1300" dirty="0">
                <a:solidFill>
                  <a:srgbClr val="16202B"/>
                </a:solidFill>
                <a:latin typeface="Calibri" pitchFamily="34" charset="0"/>
                <a:ea typeface="Calibri" pitchFamily="34" charset="-122"/>
                <a:cs typeface="Calibri" pitchFamily="34" charset="-120"/>
              </a:rPr>
              <a:t>Type your description in plain language — no special syntax.</a:t>
            </a:r>
            <a:endParaRPr lang="en-US" sz="1300" dirty="0"/>
          </a:p>
          <a:p>
            <a:pPr marL="342900" indent="-342900">
              <a:lnSpc>
                <a:spcPts val="2000"/>
              </a:lnSpc>
              <a:spcAft>
                <a:spcPts val="800"/>
              </a:spcAft>
              <a:buSzPct val="100000"/>
              <a:buChar char="•"/>
            </a:pPr>
            <a:r>
              <a:rPr lang="en-US" sz="1300" dirty="0">
                <a:solidFill>
                  <a:srgbClr val="16202B"/>
                </a:solidFill>
                <a:latin typeface="Calibri" pitchFamily="34" charset="0"/>
                <a:ea typeface="Calibri" pitchFamily="34" charset="-122"/>
                <a:cs typeface="Calibri" pitchFamily="34" charset="-120"/>
              </a:rPr>
              <a:t>Optionally attach an image: a process diagram, a 213RR, a screenshot.</a:t>
            </a:r>
            <a:endParaRPr lang="en-US" sz="1300" dirty="0"/>
          </a:p>
          <a:p>
            <a:pPr marL="342900" indent="-342900">
              <a:lnSpc>
                <a:spcPts val="2000"/>
              </a:lnSpc>
              <a:spcAft>
                <a:spcPts val="800"/>
              </a:spcAft>
              <a:buSzPct val="100000"/>
              <a:buChar char="•"/>
            </a:pPr>
            <a:r>
              <a:rPr lang="en-US" sz="1300" dirty="0">
                <a:solidFill>
                  <a:srgbClr val="16202B"/>
                </a:solidFill>
                <a:latin typeface="Calibri" pitchFamily="34" charset="0"/>
                <a:ea typeface="Calibri" pitchFamily="34" charset="-122"/>
                <a:cs typeface="Calibri" pitchFamily="34" charset="-120"/>
              </a:rPr>
              <a:t>If you attach one, say what it is and tell the tool to use it.</a:t>
            </a:r>
            <a:endParaRPr lang="en-US" sz="1300" dirty="0"/>
          </a:p>
          <a:p>
            <a:pPr marL="342900" indent="-342900">
              <a:lnSpc>
                <a:spcPts val="2000"/>
              </a:lnSpc>
              <a:spcAft>
                <a:spcPts val="800"/>
              </a:spcAft>
              <a:buSzPct val="100000"/>
              <a:buChar char="•"/>
            </a:pPr>
            <a:r>
              <a:rPr lang="en-US" sz="1300" dirty="0">
                <a:solidFill>
                  <a:srgbClr val="16202B"/>
                </a:solidFill>
                <a:latin typeface="Calibri" pitchFamily="34" charset="0"/>
                <a:ea typeface="Calibri" pitchFamily="34" charset="-122"/>
                <a:cs typeface="Calibri" pitchFamily="34" charset="-120"/>
              </a:rPr>
              <a:t>Select Generate.</a:t>
            </a:r>
            <a:endParaRPr lang="en-US" sz="1300" dirty="0"/>
          </a:p>
        </p:txBody>
      </p:sp>
      <p:sp>
        <p:nvSpPr>
          <p:cNvPr id="6" name="Shape 4"/>
          <p:cNvSpPr/>
          <p:nvPr/>
        </p:nvSpPr>
        <p:spPr>
          <a:xfrm>
            <a:off x="5658124" y="1783080"/>
            <a:ext cx="5890748" cy="3657600"/>
          </a:xfrm>
          <a:prstGeom prst="roundRect">
            <a:avLst>
              <a:gd name="adj" fmla="val 1500"/>
            </a:avLst>
          </a:prstGeom>
          <a:solidFill>
            <a:srgbClr val="0B2942"/>
          </a:solidFill>
          <a:ln/>
        </p:spPr>
      </p:sp>
      <p:sp>
        <p:nvSpPr>
          <p:cNvPr id="7" name="Text 5"/>
          <p:cNvSpPr txBox="1"/>
          <p:nvPr/>
        </p:nvSpPr>
        <p:spPr>
          <a:xfrm>
            <a:off x="5978164" y="2011680"/>
            <a:ext cx="5250668" cy="274320"/>
          </a:xfrm>
          <a:prstGeom prst="rect">
            <a:avLst/>
          </a:prstGeom>
          <a:noFill/>
          <a:ln/>
        </p:spPr>
        <p:txBody>
          <a:bodyPr wrap="square" lIns="0" tIns="0" rIns="0" bIns="0" rtlCol="0" anchor="ctr"/>
          <a:lstStyle/>
          <a:p>
            <a:pPr indent="0" marL="0">
              <a:buNone/>
            </a:pPr>
            <a:r>
              <a:rPr lang="en-US" sz="1150" b="1" spc="120" kern="0" dirty="0">
                <a:solidFill>
                  <a:srgbClr val="E8792B"/>
                </a:solidFill>
                <a:latin typeface="Calibri" pitchFamily="34" charset="0"/>
                <a:ea typeface="Calibri" pitchFamily="34" charset="-122"/>
                <a:cs typeface="Calibri" pitchFamily="34" charset="-120"/>
              </a:rPr>
              <a:t>YOUR DESCRIPTION SHOULD CONTAIN</a:t>
            </a:r>
            <a:endParaRPr lang="en-US" sz="1150" dirty="0"/>
          </a:p>
        </p:txBody>
      </p:sp>
      <p:sp>
        <p:nvSpPr>
          <p:cNvPr id="8" name="Text 6"/>
          <p:cNvSpPr txBox="1"/>
          <p:nvPr/>
        </p:nvSpPr>
        <p:spPr>
          <a:xfrm>
            <a:off x="5978164" y="2395728"/>
            <a:ext cx="5250668" cy="2834640"/>
          </a:xfrm>
          <a:prstGeom prst="rect">
            <a:avLst/>
          </a:prstGeom>
          <a:noFill/>
          <a:ln/>
        </p:spPr>
        <p:txBody>
          <a:bodyPr wrap="square" lIns="0" tIns="0" rIns="0" bIns="0" rtlCol="0" anchor="ctr"/>
          <a:lstStyle/>
          <a:p>
            <a:pPr marL="342900" indent="-342900">
              <a:lnSpc>
                <a:spcPts val="19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The problem, in two sentences</a:t>
            </a:r>
            <a:endParaRPr lang="en-US" sz="1250" dirty="0"/>
          </a:p>
          <a:p>
            <a:pPr marL="342900" indent="-342900">
              <a:lnSpc>
                <a:spcPts val="19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Every user role, and what each one does</a:t>
            </a:r>
            <a:endParaRPr lang="en-US" sz="1250" dirty="0"/>
          </a:p>
          <a:p>
            <a:pPr marL="342900" indent="-342900">
              <a:lnSpc>
                <a:spcPts val="19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The app type for each role</a:t>
            </a:r>
            <a:endParaRPr lang="en-US" sz="1250" dirty="0"/>
          </a:p>
          <a:p>
            <a:pPr marL="342900" indent="-342900">
              <a:lnSpc>
                <a:spcPts val="19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Your tables, columns, and choice values spelled out</a:t>
            </a:r>
            <a:endParaRPr lang="en-US" sz="1250" dirty="0"/>
          </a:p>
          <a:p>
            <a:pPr marL="342900" indent="-342900">
              <a:lnSpc>
                <a:spcPts val="19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How the tables relate to each other</a:t>
            </a:r>
            <a:endParaRPr lang="en-US" sz="1250" dirty="0"/>
          </a:p>
          <a:p>
            <a:pPr marL="342900" indent="-342900">
              <a:lnSpc>
                <a:spcPts val="19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Each workflow as a trigger and an action</a:t>
            </a:r>
            <a:endParaRPr lang="en-US" sz="1250" dirty="0"/>
          </a:p>
          <a:p>
            <a:pPr marL="342900" indent="-342900">
              <a:lnSpc>
                <a:spcPts val="19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The agent, and what it is for</a:t>
            </a:r>
            <a:endParaRPr lang="en-US" sz="1250" dirty="0"/>
          </a:p>
          <a:p>
            <a:pPr marL="342900" indent="-342900">
              <a:lnSpc>
                <a:spcPts val="1900"/>
              </a:lnSpc>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The reporting metrics you need</a:t>
            </a:r>
            <a:endParaRPr lang="en-US" sz="1250" dirty="0"/>
          </a:p>
        </p:txBody>
      </p:sp>
      <p:sp>
        <p:nvSpPr>
          <p:cNvPr id="9" name="Text 7"/>
          <p:cNvSpPr txBox="1"/>
          <p:nvPr/>
        </p:nvSpPr>
        <p:spPr>
          <a:xfrm>
            <a:off x="640080" y="6355080"/>
            <a:ext cx="6976872" cy="274320"/>
          </a:xfrm>
          <a:prstGeom prst="rect">
            <a:avLst/>
          </a:prstGeom>
          <a:noFill/>
          <a:ln/>
        </p:spPr>
        <p:txBody>
          <a:bodyPr wrap="square" lIns="0" tIns="0" rIns="0" bIns="0" rtlCol="0" anchor="ctr"/>
          <a:lstStyle/>
          <a:p>
            <a:pPr indent="0" marL="0">
              <a:buNone/>
            </a:pPr>
            <a:r>
              <a:rPr lang="en-US" sz="1000" i="1" dirty="0">
                <a:solidFill>
                  <a:srgbClr val="5E7185"/>
                </a:solidFill>
                <a:latin typeface="Calibri" pitchFamily="34" charset="0"/>
                <a:ea typeface="Calibri" pitchFamily="34" charset="-122"/>
                <a:cs typeface="Calibri" pitchFamily="34" charset="-120"/>
              </a:rPr>
              <a:t>Input is capped at roughly 4,000 tokens — about 3,000 words. Attached images count toward that cap.</a:t>
            </a:r>
            <a:endParaRPr lang="en-US" sz="1000" dirty="0"/>
          </a:p>
        </p:txBody>
      </p:sp>
      <p:sp>
        <p:nvSpPr>
          <p:cNvPr id="10" name="Text 8"/>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PLAN DESIGNER · STEP 2</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Review what it proposed — and argue with it</a:t>
            </a:r>
            <a:endParaRPr lang="en-US" sz="3000" dirty="0"/>
          </a:p>
        </p:txBody>
      </p:sp>
      <p:sp>
        <p:nvSpPr>
          <p:cNvPr id="4" name="Text 2"/>
          <p:cNvSpPr txBox="1"/>
          <p:nvPr/>
        </p:nvSpPr>
        <p:spPr>
          <a:xfrm>
            <a:off x="640080" y="1737360"/>
            <a:ext cx="10908792" cy="320040"/>
          </a:xfrm>
          <a:prstGeom prst="rect">
            <a:avLst/>
          </a:prstGeom>
          <a:noFill/>
          <a:ln/>
        </p:spPr>
        <p:txBody>
          <a:bodyPr wrap="square" lIns="0" tIns="0" rIns="0" bIns="0" rtlCol="0" anchor="ctr"/>
          <a:lstStyle/>
          <a:p>
            <a:pPr indent="0" marL="0">
              <a:buNone/>
            </a:pPr>
            <a:r>
              <a:rPr lang="en-US" sz="1400" dirty="0">
                <a:solidFill>
                  <a:srgbClr val="16202B"/>
                </a:solidFill>
                <a:latin typeface="Calibri" pitchFamily="34" charset="0"/>
                <a:ea typeface="Calibri" pitchFamily="34" charset="-122"/>
                <a:cs typeface="Calibri" pitchFamily="34" charset="-120"/>
              </a:rPr>
              <a:t>The tool works in stages and stops for your approval at each one. That's your chance to correct it.</a:t>
            </a:r>
            <a:endParaRPr lang="en-US" sz="1400" dirty="0"/>
          </a:p>
        </p:txBody>
      </p:sp>
      <p:sp>
        <p:nvSpPr>
          <p:cNvPr id="5" name="Shape 3"/>
          <p:cNvSpPr/>
          <p:nvPr/>
        </p:nvSpPr>
        <p:spPr>
          <a:xfrm>
            <a:off x="640080" y="2103120"/>
            <a:ext cx="10908792" cy="786384"/>
          </a:xfrm>
          <a:prstGeom prst="roundRect">
            <a:avLst>
              <a:gd name="adj" fmla="val 6977"/>
            </a:avLst>
          </a:prstGeom>
          <a:solidFill>
            <a:srgbClr val="F5F7F9"/>
          </a:solidFill>
          <a:ln/>
        </p:spPr>
      </p:sp>
      <p:sp>
        <p:nvSpPr>
          <p:cNvPr id="6" name="Shape 4"/>
          <p:cNvSpPr/>
          <p:nvPr/>
        </p:nvSpPr>
        <p:spPr>
          <a:xfrm>
            <a:off x="914400" y="2286000"/>
            <a:ext cx="420624" cy="420624"/>
          </a:xfrm>
          <a:prstGeom prst="ellipse">
            <a:avLst/>
          </a:prstGeom>
          <a:solidFill>
            <a:srgbClr val="17567A"/>
          </a:solidFill>
          <a:ln/>
        </p:spPr>
      </p:sp>
      <p:sp>
        <p:nvSpPr>
          <p:cNvPr id="7" name="Text 5"/>
          <p:cNvSpPr txBox="1"/>
          <p:nvPr/>
        </p:nvSpPr>
        <p:spPr>
          <a:xfrm>
            <a:off x="914400" y="22860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536192" y="2231136"/>
            <a:ext cx="2743200" cy="292608"/>
          </a:xfrm>
          <a:prstGeom prst="rect">
            <a:avLst/>
          </a:prstGeom>
          <a:noFill/>
          <a:ln/>
        </p:spPr>
        <p:txBody>
          <a:bodyPr wrap="square" lIns="0" tIns="0" rIns="0" bIns="0" rtlCol="0" anchor="ctr"/>
          <a:lstStyle/>
          <a:p>
            <a:pPr indent="0" marL="0">
              <a:buNone/>
            </a:pPr>
            <a:r>
              <a:rPr lang="en-US" sz="1400" b="1" dirty="0">
                <a:solidFill>
                  <a:srgbClr val="0B2942"/>
                </a:solidFill>
                <a:latin typeface="Calibri" pitchFamily="34" charset="0"/>
                <a:ea typeface="Calibri" pitchFamily="34" charset="-122"/>
                <a:cs typeface="Calibri" pitchFamily="34" charset="-120"/>
              </a:rPr>
              <a:t>User requirements</a:t>
            </a:r>
            <a:endParaRPr lang="en-US" sz="1400" dirty="0"/>
          </a:p>
        </p:txBody>
      </p:sp>
      <p:sp>
        <p:nvSpPr>
          <p:cNvPr id="9" name="Text 7"/>
          <p:cNvSpPr txBox="1"/>
          <p:nvPr/>
        </p:nvSpPr>
        <p:spPr>
          <a:xfrm>
            <a:off x="1536192" y="2523744"/>
            <a:ext cx="9720072" cy="310896"/>
          </a:xfrm>
          <a:prstGeom prst="rect">
            <a:avLst/>
          </a:prstGeom>
          <a:noFill/>
          <a:ln/>
        </p:spPr>
        <p:txBody>
          <a:bodyPr wrap="square" lIns="0" tIns="0" rIns="0" bIns="0" rtlCol="0" anchor="ctr"/>
          <a:lstStyle/>
          <a:p>
            <a:pPr indent="0" marL="0">
              <a:buNone/>
            </a:pPr>
            <a:r>
              <a:rPr lang="en-US" sz="1200" dirty="0">
                <a:solidFill>
                  <a:srgbClr val="5E7185"/>
                </a:solidFill>
                <a:latin typeface="Calibri" pitchFamily="34" charset="0"/>
                <a:ea typeface="Calibri" pitchFamily="34" charset="-122"/>
                <a:cs typeface="Calibri" pitchFamily="34" charset="-120"/>
              </a:rPr>
              <a:t>Roles and user needs, with a diagram. Check: do these match the five roles you defined?</a:t>
            </a:r>
            <a:endParaRPr lang="en-US" sz="1200" dirty="0"/>
          </a:p>
        </p:txBody>
      </p:sp>
      <p:sp>
        <p:nvSpPr>
          <p:cNvPr id="10" name="Shape 8"/>
          <p:cNvSpPr/>
          <p:nvPr/>
        </p:nvSpPr>
        <p:spPr>
          <a:xfrm>
            <a:off x="640080" y="2971800"/>
            <a:ext cx="10908792" cy="786384"/>
          </a:xfrm>
          <a:prstGeom prst="roundRect">
            <a:avLst>
              <a:gd name="adj" fmla="val 6977"/>
            </a:avLst>
          </a:prstGeom>
          <a:solidFill>
            <a:srgbClr val="F5F7F9"/>
          </a:solidFill>
          <a:ln/>
        </p:spPr>
      </p:sp>
      <p:sp>
        <p:nvSpPr>
          <p:cNvPr id="11" name="Shape 9"/>
          <p:cNvSpPr/>
          <p:nvPr/>
        </p:nvSpPr>
        <p:spPr>
          <a:xfrm>
            <a:off x="914400" y="3154680"/>
            <a:ext cx="420624" cy="420624"/>
          </a:xfrm>
          <a:prstGeom prst="ellipse">
            <a:avLst/>
          </a:prstGeom>
          <a:solidFill>
            <a:srgbClr val="17567A"/>
          </a:solidFill>
          <a:ln/>
        </p:spPr>
      </p:sp>
      <p:sp>
        <p:nvSpPr>
          <p:cNvPr id="12" name="Text 10"/>
          <p:cNvSpPr txBox="1"/>
          <p:nvPr/>
        </p:nvSpPr>
        <p:spPr>
          <a:xfrm>
            <a:off x="914400" y="31546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536192" y="3099816"/>
            <a:ext cx="2743200" cy="292608"/>
          </a:xfrm>
          <a:prstGeom prst="rect">
            <a:avLst/>
          </a:prstGeom>
          <a:noFill/>
          <a:ln/>
        </p:spPr>
        <p:txBody>
          <a:bodyPr wrap="square" lIns="0" tIns="0" rIns="0" bIns="0" rtlCol="0" anchor="ctr"/>
          <a:lstStyle/>
          <a:p>
            <a:pPr indent="0" marL="0">
              <a:buNone/>
            </a:pPr>
            <a:r>
              <a:rPr lang="en-US" sz="1400" b="1" dirty="0">
                <a:solidFill>
                  <a:srgbClr val="0B2942"/>
                </a:solidFill>
                <a:latin typeface="Calibri" pitchFamily="34" charset="0"/>
                <a:ea typeface="Calibri" pitchFamily="34" charset="-122"/>
                <a:cs typeface="Calibri" pitchFamily="34" charset="-120"/>
              </a:rPr>
              <a:t>Data model</a:t>
            </a:r>
            <a:endParaRPr lang="en-US" sz="1400" dirty="0"/>
          </a:p>
        </p:txBody>
      </p:sp>
      <p:sp>
        <p:nvSpPr>
          <p:cNvPr id="14" name="Text 12"/>
          <p:cNvSpPr txBox="1"/>
          <p:nvPr/>
        </p:nvSpPr>
        <p:spPr>
          <a:xfrm>
            <a:off x="1536192" y="3392424"/>
            <a:ext cx="9720072" cy="310896"/>
          </a:xfrm>
          <a:prstGeom prst="rect">
            <a:avLst/>
          </a:prstGeom>
          <a:noFill/>
          <a:ln/>
        </p:spPr>
        <p:txBody>
          <a:bodyPr wrap="square" lIns="0" tIns="0" rIns="0" bIns="0" rtlCol="0" anchor="ctr"/>
          <a:lstStyle/>
          <a:p>
            <a:pPr indent="0" marL="0">
              <a:buNone/>
            </a:pPr>
            <a:r>
              <a:rPr lang="en-US" sz="1200" dirty="0">
                <a:solidFill>
                  <a:srgbClr val="5E7185"/>
                </a:solidFill>
                <a:latin typeface="Calibri" pitchFamily="34" charset="0"/>
                <a:ea typeface="Calibri" pitchFamily="34" charset="-122"/>
                <a:cs typeface="Calibri" pitchFamily="34" charset="-120"/>
              </a:rPr>
              <a:t>Tables, columns, relationships. Check: are your choice values there? Your closeout time?</a:t>
            </a:r>
            <a:endParaRPr lang="en-US" sz="1200" dirty="0"/>
          </a:p>
        </p:txBody>
      </p:sp>
      <p:sp>
        <p:nvSpPr>
          <p:cNvPr id="15" name="Shape 13"/>
          <p:cNvSpPr/>
          <p:nvPr/>
        </p:nvSpPr>
        <p:spPr>
          <a:xfrm>
            <a:off x="640080" y="3840480"/>
            <a:ext cx="10908792" cy="786384"/>
          </a:xfrm>
          <a:prstGeom prst="roundRect">
            <a:avLst>
              <a:gd name="adj" fmla="val 6977"/>
            </a:avLst>
          </a:prstGeom>
          <a:solidFill>
            <a:srgbClr val="F5F7F9"/>
          </a:solidFill>
          <a:ln/>
        </p:spPr>
      </p:sp>
      <p:sp>
        <p:nvSpPr>
          <p:cNvPr id="16" name="Shape 14"/>
          <p:cNvSpPr/>
          <p:nvPr/>
        </p:nvSpPr>
        <p:spPr>
          <a:xfrm>
            <a:off x="914400" y="4023360"/>
            <a:ext cx="420624" cy="420624"/>
          </a:xfrm>
          <a:prstGeom prst="ellipse">
            <a:avLst/>
          </a:prstGeom>
          <a:solidFill>
            <a:srgbClr val="17567A"/>
          </a:solidFill>
          <a:ln/>
        </p:spPr>
      </p:sp>
      <p:sp>
        <p:nvSpPr>
          <p:cNvPr id="17" name="Text 15"/>
          <p:cNvSpPr txBox="1"/>
          <p:nvPr/>
        </p:nvSpPr>
        <p:spPr>
          <a:xfrm>
            <a:off x="914400" y="4023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1536192" y="3968496"/>
            <a:ext cx="2743200" cy="292608"/>
          </a:xfrm>
          <a:prstGeom prst="rect">
            <a:avLst/>
          </a:prstGeom>
          <a:noFill/>
          <a:ln/>
        </p:spPr>
        <p:txBody>
          <a:bodyPr wrap="square" lIns="0" tIns="0" rIns="0" bIns="0" rtlCol="0" anchor="ctr"/>
          <a:lstStyle/>
          <a:p>
            <a:pPr indent="0" marL="0">
              <a:buNone/>
            </a:pPr>
            <a:r>
              <a:rPr lang="en-US" sz="1400" b="1" dirty="0">
                <a:solidFill>
                  <a:srgbClr val="0B2942"/>
                </a:solidFill>
                <a:latin typeface="Calibri" pitchFamily="34" charset="0"/>
                <a:ea typeface="Calibri" pitchFamily="34" charset="-122"/>
                <a:cs typeface="Calibri" pitchFamily="34" charset="-120"/>
              </a:rPr>
              <a:t>Technology proposal</a:t>
            </a:r>
            <a:endParaRPr lang="en-US" sz="1400" dirty="0"/>
          </a:p>
        </p:txBody>
      </p:sp>
      <p:sp>
        <p:nvSpPr>
          <p:cNvPr id="19" name="Text 17"/>
          <p:cNvSpPr txBox="1"/>
          <p:nvPr/>
        </p:nvSpPr>
        <p:spPr>
          <a:xfrm>
            <a:off x="1536192" y="4261104"/>
            <a:ext cx="9720072" cy="310896"/>
          </a:xfrm>
          <a:prstGeom prst="rect">
            <a:avLst/>
          </a:prstGeom>
          <a:noFill/>
          <a:ln/>
        </p:spPr>
        <p:txBody>
          <a:bodyPr wrap="square" lIns="0" tIns="0" rIns="0" bIns="0" rtlCol="0" anchor="ctr"/>
          <a:lstStyle/>
          <a:p>
            <a:pPr indent="0" marL="0">
              <a:buNone/>
            </a:pPr>
            <a:r>
              <a:rPr lang="en-US" sz="1200" dirty="0">
                <a:solidFill>
                  <a:srgbClr val="5E7185"/>
                </a:solidFill>
                <a:latin typeface="Calibri" pitchFamily="34" charset="0"/>
                <a:ea typeface="Calibri" pitchFamily="34" charset="-122"/>
                <a:cs typeface="Calibri" pitchFamily="34" charset="-120"/>
              </a:rPr>
              <a:t>Which apps, flows, sites, agents. Check: did the parish get a portal? Is the field app mobile?</a:t>
            </a:r>
            <a:endParaRPr lang="en-US" sz="1200" dirty="0"/>
          </a:p>
        </p:txBody>
      </p:sp>
      <p:sp>
        <p:nvSpPr>
          <p:cNvPr id="20" name="Shape 18"/>
          <p:cNvSpPr/>
          <p:nvPr/>
        </p:nvSpPr>
        <p:spPr>
          <a:xfrm>
            <a:off x="640080" y="4709160"/>
            <a:ext cx="10908792" cy="786384"/>
          </a:xfrm>
          <a:prstGeom prst="roundRect">
            <a:avLst>
              <a:gd name="adj" fmla="val 6977"/>
            </a:avLst>
          </a:prstGeom>
          <a:solidFill>
            <a:srgbClr val="F5F7F9"/>
          </a:solidFill>
          <a:ln/>
        </p:spPr>
      </p:sp>
      <p:sp>
        <p:nvSpPr>
          <p:cNvPr id="21" name="Shape 19"/>
          <p:cNvSpPr/>
          <p:nvPr/>
        </p:nvSpPr>
        <p:spPr>
          <a:xfrm>
            <a:off x="914400" y="4892040"/>
            <a:ext cx="420624" cy="420624"/>
          </a:xfrm>
          <a:prstGeom prst="ellipse">
            <a:avLst/>
          </a:prstGeom>
          <a:solidFill>
            <a:srgbClr val="17567A"/>
          </a:solidFill>
          <a:ln/>
        </p:spPr>
      </p:sp>
      <p:sp>
        <p:nvSpPr>
          <p:cNvPr id="22" name="Text 20"/>
          <p:cNvSpPr txBox="1"/>
          <p:nvPr/>
        </p:nvSpPr>
        <p:spPr>
          <a:xfrm>
            <a:off x="914400" y="48920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txBox="1"/>
          <p:nvPr/>
        </p:nvSpPr>
        <p:spPr>
          <a:xfrm>
            <a:off x="1536192" y="4837176"/>
            <a:ext cx="2743200" cy="292608"/>
          </a:xfrm>
          <a:prstGeom prst="rect">
            <a:avLst/>
          </a:prstGeom>
          <a:noFill/>
          <a:ln/>
        </p:spPr>
        <p:txBody>
          <a:bodyPr wrap="square" lIns="0" tIns="0" rIns="0" bIns="0" rtlCol="0" anchor="ctr"/>
          <a:lstStyle/>
          <a:p>
            <a:pPr indent="0" marL="0">
              <a:buNone/>
            </a:pPr>
            <a:r>
              <a:rPr lang="en-US" sz="1400" b="1" dirty="0">
                <a:solidFill>
                  <a:srgbClr val="0B2942"/>
                </a:solidFill>
                <a:latin typeface="Calibri" pitchFamily="34" charset="0"/>
                <a:ea typeface="Calibri" pitchFamily="34" charset="-122"/>
                <a:cs typeface="Calibri" pitchFamily="34" charset="-120"/>
              </a:rPr>
              <a:t>Save tables</a:t>
            </a:r>
            <a:endParaRPr lang="en-US" sz="1400" dirty="0"/>
          </a:p>
        </p:txBody>
      </p:sp>
      <p:sp>
        <p:nvSpPr>
          <p:cNvPr id="24" name="Text 22"/>
          <p:cNvSpPr txBox="1"/>
          <p:nvPr/>
        </p:nvSpPr>
        <p:spPr>
          <a:xfrm>
            <a:off x="1536192" y="5129784"/>
            <a:ext cx="9720072" cy="310896"/>
          </a:xfrm>
          <a:prstGeom prst="rect">
            <a:avLst/>
          </a:prstGeom>
          <a:noFill/>
          <a:ln/>
        </p:spPr>
        <p:txBody>
          <a:bodyPr wrap="square" lIns="0" tIns="0" rIns="0" bIns="0" rtlCol="0" anchor="ctr"/>
          <a:lstStyle/>
          <a:p>
            <a:pPr indent="0" marL="0">
              <a:buNone/>
            </a:pPr>
            <a:r>
              <a:rPr lang="en-US" sz="1200" dirty="0">
                <a:solidFill>
                  <a:srgbClr val="5E7185"/>
                </a:solidFill>
                <a:latin typeface="Calibri" pitchFamily="34" charset="0"/>
                <a:ea typeface="Calibri" pitchFamily="34" charset="-122"/>
                <a:cs typeface="Calibri" pitchFamily="34" charset="-120"/>
              </a:rPr>
              <a:t>Name the solution and save. Now you can build the artifacts.</a:t>
            </a:r>
            <a:endParaRPr lang="en-US" sz="1200" dirty="0"/>
          </a:p>
        </p:txBody>
      </p:sp>
      <p:sp>
        <p:nvSpPr>
          <p:cNvPr id="25" name="Shape 23"/>
          <p:cNvSpPr/>
          <p:nvPr/>
        </p:nvSpPr>
        <p:spPr>
          <a:xfrm>
            <a:off x="640080" y="5577840"/>
            <a:ext cx="10908792" cy="640080"/>
          </a:xfrm>
          <a:prstGeom prst="roundRect">
            <a:avLst>
              <a:gd name="adj" fmla="val 8571"/>
            </a:avLst>
          </a:prstGeom>
          <a:solidFill>
            <a:srgbClr val="FDF0E6"/>
          </a:solidFill>
          <a:ln/>
        </p:spPr>
      </p:sp>
      <p:sp>
        <p:nvSpPr>
          <p:cNvPr id="26" name="Text 24"/>
          <p:cNvSpPr txBox="1"/>
          <p:nvPr/>
        </p:nvSpPr>
        <p:spPr>
          <a:xfrm>
            <a:off x="960120" y="5724144"/>
            <a:ext cx="10268712" cy="365760"/>
          </a:xfrm>
          <a:prstGeom prst="rect">
            <a:avLst/>
          </a:prstGeom>
          <a:noFill/>
          <a:ln/>
        </p:spPr>
        <p:txBody>
          <a:bodyPr wrap="square" lIns="0" tIns="0" rIns="0" bIns="0" rtlCol="0" anchor="ctr"/>
          <a:lstStyle/>
          <a:p>
            <a:pPr indent="0" marL="0">
              <a:buNone/>
            </a:pPr>
            <a:r>
              <a:rPr lang="en-US" sz="1250" i="1" dirty="0">
                <a:solidFill>
                  <a:srgbClr val="8A4A12"/>
                </a:solidFill>
                <a:latin typeface="Calibri" pitchFamily="34" charset="0"/>
                <a:ea typeface="Calibri" pitchFamily="34" charset="-122"/>
                <a:cs typeface="Calibri" pitchFamily="34" charset="-120"/>
              </a:rPr>
              <a:t>Refine in plain language: “Add a water depth column to the mission request table.”  ·  “Make the task force commander app mobile-first.”</a:t>
            </a:r>
            <a:endParaRPr lang="en-US" sz="1250" dirty="0"/>
          </a:p>
        </p:txBody>
      </p:sp>
      <p:sp>
        <p:nvSpPr>
          <p:cNvPr id="27" name="Text 25"/>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PLAN DESIGNER · STEP 3</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Build the pieces and go look at them</a:t>
            </a:r>
            <a:endParaRPr lang="en-US" sz="3000" dirty="0"/>
          </a:p>
        </p:txBody>
      </p:sp>
      <p:sp>
        <p:nvSpPr>
          <p:cNvPr id="4" name="Text 2"/>
          <p:cNvSpPr txBox="1"/>
          <p:nvPr/>
        </p:nvSpPr>
        <p:spPr>
          <a:xfrm>
            <a:off x="640080" y="1737360"/>
            <a:ext cx="10908792" cy="320040"/>
          </a:xfrm>
          <a:prstGeom prst="rect">
            <a:avLst/>
          </a:prstGeom>
          <a:noFill/>
          <a:ln/>
        </p:spPr>
        <p:txBody>
          <a:bodyPr wrap="square" lIns="0" tIns="0" rIns="0" bIns="0" rtlCol="0" anchor="ctr"/>
          <a:lstStyle/>
          <a:p>
            <a:pPr indent="0" marL="0">
              <a:buNone/>
            </a:pPr>
            <a:r>
              <a:rPr lang="en-US" sz="1400" dirty="0">
                <a:solidFill>
                  <a:srgbClr val="16202B"/>
                </a:solidFill>
                <a:latin typeface="Calibri" pitchFamily="34" charset="0"/>
                <a:ea typeface="Calibri" pitchFamily="34" charset="-122"/>
                <a:cs typeface="Calibri" pitchFamily="34" charset="-120"/>
              </a:rPr>
              <a:t>Create each artifact from its tile. Then open every one and check it against your worksheet.</a:t>
            </a:r>
            <a:endParaRPr lang="en-US" sz="1400" dirty="0"/>
          </a:p>
        </p:txBody>
      </p:sp>
      <p:sp>
        <p:nvSpPr>
          <p:cNvPr id="5" name="Shape 3"/>
          <p:cNvSpPr/>
          <p:nvPr/>
        </p:nvSpPr>
        <p:spPr>
          <a:xfrm>
            <a:off x="640080" y="2148840"/>
            <a:ext cx="5317236" cy="932688"/>
          </a:xfrm>
          <a:prstGeom prst="roundRect">
            <a:avLst>
              <a:gd name="adj" fmla="val 5882"/>
            </a:avLst>
          </a:prstGeom>
          <a:solidFill>
            <a:srgbClr val="F5F7F9"/>
          </a:solidFill>
          <a:ln/>
        </p:spPr>
      </p:sp>
      <p:sp>
        <p:nvSpPr>
          <p:cNvPr id="6" name="Text 4"/>
          <p:cNvSpPr txBox="1"/>
          <p:nvPr/>
        </p:nvSpPr>
        <p:spPr>
          <a:xfrm>
            <a:off x="896112" y="2295144"/>
            <a:ext cx="4814316" cy="274320"/>
          </a:xfrm>
          <a:prstGeom prst="rect">
            <a:avLst/>
          </a:prstGeom>
          <a:noFill/>
          <a:ln/>
        </p:spPr>
        <p:txBody>
          <a:bodyPr wrap="square" lIns="0" tIns="0" rIns="0" bIns="0" rtlCol="0" anchor="ctr"/>
          <a:lstStyle/>
          <a:p>
            <a:pPr indent="0" marL="0">
              <a:buNone/>
            </a:pPr>
            <a:r>
              <a:rPr lang="en-US" sz="1350" b="1" dirty="0">
                <a:solidFill>
                  <a:srgbClr val="0B2942"/>
                </a:solidFill>
                <a:latin typeface="Calibri" pitchFamily="34" charset="0"/>
                <a:ea typeface="Calibri" pitchFamily="34" charset="-122"/>
                <a:cs typeface="Calibri" pitchFamily="34" charset="-120"/>
              </a:rPr>
              <a:t>Canvas app</a:t>
            </a:r>
            <a:endParaRPr lang="en-US" sz="1350" dirty="0"/>
          </a:p>
        </p:txBody>
      </p:sp>
      <p:sp>
        <p:nvSpPr>
          <p:cNvPr id="7" name="Text 5"/>
          <p:cNvSpPr txBox="1"/>
          <p:nvPr/>
        </p:nvSpPr>
        <p:spPr>
          <a:xfrm>
            <a:off x="896112" y="2587752"/>
            <a:ext cx="4814316" cy="411480"/>
          </a:xfrm>
          <a:prstGeom prst="rect">
            <a:avLst/>
          </a:prstGeom>
          <a:noFill/>
          <a:ln/>
        </p:spPr>
        <p:txBody>
          <a:bodyPr wrap="square" lIns="0" tIns="0" rIns="0" bIns="0" rtlCol="0" anchor="ctr"/>
          <a:lstStyle/>
          <a:p>
            <a:pPr indent="0" marL="0">
              <a:lnSpc>
                <a:spcPts val="1500"/>
              </a:lnSpc>
              <a:buNone/>
            </a:pPr>
            <a:r>
              <a:rPr lang="en-US" sz="1200" dirty="0">
                <a:solidFill>
                  <a:srgbClr val="5E7185"/>
                </a:solidFill>
                <a:latin typeface="Calibri" pitchFamily="34" charset="0"/>
                <a:ea typeface="Calibri" pitchFamily="34" charset="-122"/>
                <a:cs typeface="Calibri" pitchFamily="34" charset="-120"/>
              </a:rPr>
              <a:t>Screens per table, wired to data. Does the field app work on a phone?</a:t>
            </a:r>
            <a:endParaRPr lang="en-US" sz="1200" dirty="0"/>
          </a:p>
        </p:txBody>
      </p:sp>
      <p:sp>
        <p:nvSpPr>
          <p:cNvPr id="8" name="Shape 6"/>
          <p:cNvSpPr/>
          <p:nvPr/>
        </p:nvSpPr>
        <p:spPr>
          <a:xfrm>
            <a:off x="6231636" y="2148840"/>
            <a:ext cx="5317236" cy="932688"/>
          </a:xfrm>
          <a:prstGeom prst="roundRect">
            <a:avLst>
              <a:gd name="adj" fmla="val 5882"/>
            </a:avLst>
          </a:prstGeom>
          <a:solidFill>
            <a:srgbClr val="F5F7F9"/>
          </a:solidFill>
          <a:ln/>
        </p:spPr>
      </p:sp>
      <p:sp>
        <p:nvSpPr>
          <p:cNvPr id="9" name="Text 7"/>
          <p:cNvSpPr txBox="1"/>
          <p:nvPr/>
        </p:nvSpPr>
        <p:spPr>
          <a:xfrm>
            <a:off x="6487668" y="2295144"/>
            <a:ext cx="4814316" cy="274320"/>
          </a:xfrm>
          <a:prstGeom prst="rect">
            <a:avLst/>
          </a:prstGeom>
          <a:noFill/>
          <a:ln/>
        </p:spPr>
        <p:txBody>
          <a:bodyPr wrap="square" lIns="0" tIns="0" rIns="0" bIns="0" rtlCol="0" anchor="ctr"/>
          <a:lstStyle/>
          <a:p>
            <a:pPr indent="0" marL="0">
              <a:buNone/>
            </a:pPr>
            <a:r>
              <a:rPr lang="en-US" sz="1350" b="1" dirty="0">
                <a:solidFill>
                  <a:srgbClr val="0B2942"/>
                </a:solidFill>
                <a:latin typeface="Calibri" pitchFamily="34" charset="0"/>
                <a:ea typeface="Calibri" pitchFamily="34" charset="-122"/>
                <a:cs typeface="Calibri" pitchFamily="34" charset="-120"/>
              </a:rPr>
              <a:t>Model-driven app</a:t>
            </a:r>
            <a:endParaRPr lang="en-US" sz="1350" dirty="0"/>
          </a:p>
        </p:txBody>
      </p:sp>
      <p:sp>
        <p:nvSpPr>
          <p:cNvPr id="10" name="Text 8"/>
          <p:cNvSpPr txBox="1"/>
          <p:nvPr/>
        </p:nvSpPr>
        <p:spPr>
          <a:xfrm>
            <a:off x="6487668" y="2587752"/>
            <a:ext cx="4814316" cy="411480"/>
          </a:xfrm>
          <a:prstGeom prst="rect">
            <a:avLst/>
          </a:prstGeom>
          <a:noFill/>
          <a:ln/>
        </p:spPr>
        <p:txBody>
          <a:bodyPr wrap="square" lIns="0" tIns="0" rIns="0" bIns="0" rtlCol="0" anchor="ctr"/>
          <a:lstStyle/>
          <a:p>
            <a:pPr indent="0" marL="0">
              <a:lnSpc>
                <a:spcPts val="1500"/>
              </a:lnSpc>
              <a:buNone/>
            </a:pPr>
            <a:r>
              <a:rPr lang="en-US" sz="1200" dirty="0">
                <a:solidFill>
                  <a:srgbClr val="5E7185"/>
                </a:solidFill>
                <a:latin typeface="Calibri" pitchFamily="34" charset="0"/>
                <a:ea typeface="Calibri" pitchFamily="34" charset="-122"/>
                <a:cs typeface="Calibri" pitchFamily="34" charset="-120"/>
              </a:rPr>
              <a:t>Tables pre-added. Are the JOC views right? Can you filter by priority?</a:t>
            </a:r>
            <a:endParaRPr lang="en-US" sz="1200" dirty="0"/>
          </a:p>
        </p:txBody>
      </p:sp>
      <p:sp>
        <p:nvSpPr>
          <p:cNvPr id="11" name="Shape 9"/>
          <p:cNvSpPr/>
          <p:nvPr/>
        </p:nvSpPr>
        <p:spPr>
          <a:xfrm>
            <a:off x="640080" y="3209544"/>
            <a:ext cx="5317236" cy="932688"/>
          </a:xfrm>
          <a:prstGeom prst="roundRect">
            <a:avLst>
              <a:gd name="adj" fmla="val 5882"/>
            </a:avLst>
          </a:prstGeom>
          <a:solidFill>
            <a:srgbClr val="F5F7F9"/>
          </a:solidFill>
          <a:ln/>
        </p:spPr>
      </p:sp>
      <p:sp>
        <p:nvSpPr>
          <p:cNvPr id="12" name="Text 10"/>
          <p:cNvSpPr txBox="1"/>
          <p:nvPr/>
        </p:nvSpPr>
        <p:spPr>
          <a:xfrm>
            <a:off x="896112" y="3355848"/>
            <a:ext cx="4814316" cy="274320"/>
          </a:xfrm>
          <a:prstGeom prst="rect">
            <a:avLst/>
          </a:prstGeom>
          <a:noFill/>
          <a:ln/>
        </p:spPr>
        <p:txBody>
          <a:bodyPr wrap="square" lIns="0" tIns="0" rIns="0" bIns="0" rtlCol="0" anchor="ctr"/>
          <a:lstStyle/>
          <a:p>
            <a:pPr indent="0" marL="0">
              <a:buNone/>
            </a:pPr>
            <a:r>
              <a:rPr lang="en-US" sz="1350" b="1" dirty="0">
                <a:solidFill>
                  <a:srgbClr val="0B2942"/>
                </a:solidFill>
                <a:latin typeface="Calibri" pitchFamily="34" charset="0"/>
                <a:ea typeface="Calibri" pitchFamily="34" charset="-122"/>
                <a:cs typeface="Calibri" pitchFamily="34" charset="-120"/>
              </a:rPr>
              <a:t>Power Pages site</a:t>
            </a:r>
            <a:endParaRPr lang="en-US" sz="1350" dirty="0"/>
          </a:p>
        </p:txBody>
      </p:sp>
      <p:sp>
        <p:nvSpPr>
          <p:cNvPr id="13" name="Text 11"/>
          <p:cNvSpPr txBox="1"/>
          <p:nvPr/>
        </p:nvSpPr>
        <p:spPr>
          <a:xfrm>
            <a:off x="896112" y="3648456"/>
            <a:ext cx="4814316" cy="411480"/>
          </a:xfrm>
          <a:prstGeom prst="rect">
            <a:avLst/>
          </a:prstGeom>
          <a:noFill/>
          <a:ln/>
        </p:spPr>
        <p:txBody>
          <a:bodyPr wrap="square" lIns="0" tIns="0" rIns="0" bIns="0" rtlCol="0" anchor="ctr"/>
          <a:lstStyle/>
          <a:p>
            <a:pPr indent="0" marL="0">
              <a:lnSpc>
                <a:spcPts val="1500"/>
              </a:lnSpc>
              <a:buNone/>
            </a:pPr>
            <a:r>
              <a:rPr lang="en-US" sz="1200" dirty="0">
                <a:solidFill>
                  <a:srgbClr val="5E7185"/>
                </a:solidFill>
                <a:latin typeface="Calibri" pitchFamily="34" charset="0"/>
                <a:ea typeface="Calibri" pitchFamily="34" charset="-122"/>
                <a:cs typeface="Calibri" pitchFamily="34" charset="-120"/>
              </a:rPr>
              <a:t>Pages tailored to the problem. May not generate — permissions.</a:t>
            </a:r>
            <a:endParaRPr lang="en-US" sz="1200" dirty="0"/>
          </a:p>
        </p:txBody>
      </p:sp>
      <p:sp>
        <p:nvSpPr>
          <p:cNvPr id="14" name="Shape 12"/>
          <p:cNvSpPr/>
          <p:nvPr/>
        </p:nvSpPr>
        <p:spPr>
          <a:xfrm>
            <a:off x="6231636" y="3209544"/>
            <a:ext cx="5317236" cy="932688"/>
          </a:xfrm>
          <a:prstGeom prst="roundRect">
            <a:avLst>
              <a:gd name="adj" fmla="val 5882"/>
            </a:avLst>
          </a:prstGeom>
          <a:solidFill>
            <a:srgbClr val="F5F7F9"/>
          </a:solidFill>
          <a:ln/>
        </p:spPr>
      </p:sp>
      <p:sp>
        <p:nvSpPr>
          <p:cNvPr id="15" name="Text 13"/>
          <p:cNvSpPr txBox="1"/>
          <p:nvPr/>
        </p:nvSpPr>
        <p:spPr>
          <a:xfrm>
            <a:off x="6487668" y="3355848"/>
            <a:ext cx="4814316" cy="274320"/>
          </a:xfrm>
          <a:prstGeom prst="rect">
            <a:avLst/>
          </a:prstGeom>
          <a:noFill/>
          <a:ln/>
        </p:spPr>
        <p:txBody>
          <a:bodyPr wrap="square" lIns="0" tIns="0" rIns="0" bIns="0" rtlCol="0" anchor="ctr"/>
          <a:lstStyle/>
          <a:p>
            <a:pPr indent="0" marL="0">
              <a:buNone/>
            </a:pPr>
            <a:r>
              <a:rPr lang="en-US" sz="1350" b="1" dirty="0">
                <a:solidFill>
                  <a:srgbClr val="0B2942"/>
                </a:solidFill>
                <a:latin typeface="Calibri" pitchFamily="34" charset="0"/>
                <a:ea typeface="Calibri" pitchFamily="34" charset="-122"/>
                <a:cs typeface="Calibri" pitchFamily="34" charset="-120"/>
              </a:rPr>
              <a:t>Power Automate flows</a:t>
            </a:r>
            <a:endParaRPr lang="en-US" sz="1350" dirty="0"/>
          </a:p>
        </p:txBody>
      </p:sp>
      <p:sp>
        <p:nvSpPr>
          <p:cNvPr id="16" name="Text 14"/>
          <p:cNvSpPr txBox="1"/>
          <p:nvPr/>
        </p:nvSpPr>
        <p:spPr>
          <a:xfrm>
            <a:off x="6487668" y="3648456"/>
            <a:ext cx="4814316" cy="411480"/>
          </a:xfrm>
          <a:prstGeom prst="rect">
            <a:avLst/>
          </a:prstGeom>
          <a:noFill/>
          <a:ln/>
        </p:spPr>
        <p:txBody>
          <a:bodyPr wrap="square" lIns="0" tIns="0" rIns="0" bIns="0" rtlCol="0" anchor="ctr"/>
          <a:lstStyle/>
          <a:p>
            <a:pPr indent="0" marL="0">
              <a:lnSpc>
                <a:spcPts val="1500"/>
              </a:lnSpc>
              <a:buNone/>
            </a:pPr>
            <a:r>
              <a:rPr lang="en-US" sz="1200" dirty="0">
                <a:solidFill>
                  <a:srgbClr val="5E7185"/>
                </a:solidFill>
                <a:latin typeface="Calibri" pitchFamily="34" charset="0"/>
                <a:ea typeface="Calibri" pitchFamily="34" charset="-122"/>
                <a:cs typeface="Calibri" pitchFamily="34" charset="-120"/>
              </a:rPr>
              <a:t>Prefilled from your description. Open one and read the trigger.</a:t>
            </a:r>
            <a:endParaRPr lang="en-US" sz="1200" dirty="0"/>
          </a:p>
        </p:txBody>
      </p:sp>
      <p:sp>
        <p:nvSpPr>
          <p:cNvPr id="17" name="Shape 15"/>
          <p:cNvSpPr/>
          <p:nvPr/>
        </p:nvSpPr>
        <p:spPr>
          <a:xfrm>
            <a:off x="640080" y="4270248"/>
            <a:ext cx="5317236" cy="932688"/>
          </a:xfrm>
          <a:prstGeom prst="roundRect">
            <a:avLst>
              <a:gd name="adj" fmla="val 5882"/>
            </a:avLst>
          </a:prstGeom>
          <a:solidFill>
            <a:srgbClr val="F5F7F9"/>
          </a:solidFill>
          <a:ln/>
        </p:spPr>
      </p:sp>
      <p:sp>
        <p:nvSpPr>
          <p:cNvPr id="18" name="Text 16"/>
          <p:cNvSpPr txBox="1"/>
          <p:nvPr/>
        </p:nvSpPr>
        <p:spPr>
          <a:xfrm>
            <a:off x="896112" y="4416552"/>
            <a:ext cx="4814316" cy="274320"/>
          </a:xfrm>
          <a:prstGeom prst="rect">
            <a:avLst/>
          </a:prstGeom>
          <a:noFill/>
          <a:ln/>
        </p:spPr>
        <p:txBody>
          <a:bodyPr wrap="square" lIns="0" tIns="0" rIns="0" bIns="0" rtlCol="0" anchor="ctr"/>
          <a:lstStyle/>
          <a:p>
            <a:pPr indent="0" marL="0">
              <a:buNone/>
            </a:pPr>
            <a:r>
              <a:rPr lang="en-US" sz="1350" b="1" dirty="0">
                <a:solidFill>
                  <a:srgbClr val="0B2942"/>
                </a:solidFill>
                <a:latin typeface="Calibri" pitchFamily="34" charset="0"/>
                <a:ea typeface="Calibri" pitchFamily="34" charset="-122"/>
                <a:cs typeface="Calibri" pitchFamily="34" charset="-120"/>
              </a:rPr>
              <a:t>Copilot Studio agent</a:t>
            </a:r>
            <a:endParaRPr lang="en-US" sz="1350" dirty="0"/>
          </a:p>
        </p:txBody>
      </p:sp>
      <p:sp>
        <p:nvSpPr>
          <p:cNvPr id="19" name="Text 17"/>
          <p:cNvSpPr txBox="1"/>
          <p:nvPr/>
        </p:nvSpPr>
        <p:spPr>
          <a:xfrm>
            <a:off x="896112" y="4709160"/>
            <a:ext cx="4814316" cy="411480"/>
          </a:xfrm>
          <a:prstGeom prst="rect">
            <a:avLst/>
          </a:prstGeom>
          <a:noFill/>
          <a:ln/>
        </p:spPr>
        <p:txBody>
          <a:bodyPr wrap="square" lIns="0" tIns="0" rIns="0" bIns="0" rtlCol="0" anchor="ctr"/>
          <a:lstStyle/>
          <a:p>
            <a:pPr indent="0" marL="0">
              <a:lnSpc>
                <a:spcPts val="1500"/>
              </a:lnSpc>
              <a:buNone/>
            </a:pPr>
            <a:r>
              <a:rPr lang="en-US" sz="1200" dirty="0">
                <a:solidFill>
                  <a:srgbClr val="5E7185"/>
                </a:solidFill>
                <a:latin typeface="Calibri" pitchFamily="34" charset="0"/>
                <a:ea typeface="Calibri" pitchFamily="34" charset="-122"/>
                <a:cs typeface="Calibri" pitchFamily="34" charset="-120"/>
              </a:rPr>
              <a:t>Name, instructions, and your tables as knowledge. No triggers yet.</a:t>
            </a:r>
            <a:endParaRPr lang="en-US" sz="1200" dirty="0"/>
          </a:p>
        </p:txBody>
      </p:sp>
      <p:sp>
        <p:nvSpPr>
          <p:cNvPr id="20" name="Shape 18"/>
          <p:cNvSpPr/>
          <p:nvPr/>
        </p:nvSpPr>
        <p:spPr>
          <a:xfrm>
            <a:off x="6231636" y="4270248"/>
            <a:ext cx="5317236" cy="932688"/>
          </a:xfrm>
          <a:prstGeom prst="roundRect">
            <a:avLst>
              <a:gd name="adj" fmla="val 5882"/>
            </a:avLst>
          </a:prstGeom>
          <a:solidFill>
            <a:srgbClr val="F5F7F9"/>
          </a:solidFill>
          <a:ln/>
        </p:spPr>
      </p:sp>
      <p:sp>
        <p:nvSpPr>
          <p:cNvPr id="21" name="Text 19"/>
          <p:cNvSpPr txBox="1"/>
          <p:nvPr/>
        </p:nvSpPr>
        <p:spPr>
          <a:xfrm>
            <a:off x="6487668" y="4416552"/>
            <a:ext cx="4814316" cy="274320"/>
          </a:xfrm>
          <a:prstGeom prst="rect">
            <a:avLst/>
          </a:prstGeom>
          <a:noFill/>
          <a:ln/>
        </p:spPr>
        <p:txBody>
          <a:bodyPr wrap="square" lIns="0" tIns="0" rIns="0" bIns="0" rtlCol="0" anchor="ctr"/>
          <a:lstStyle/>
          <a:p>
            <a:pPr indent="0" marL="0">
              <a:buNone/>
            </a:pPr>
            <a:r>
              <a:rPr lang="en-US" sz="1350" b="1" dirty="0">
                <a:solidFill>
                  <a:srgbClr val="0B2942"/>
                </a:solidFill>
                <a:latin typeface="Calibri" pitchFamily="34" charset="0"/>
                <a:ea typeface="Calibri" pitchFamily="34" charset="-122"/>
                <a:cs typeface="Calibri" pitchFamily="34" charset="-120"/>
              </a:rPr>
              <a:t>Data diagram</a:t>
            </a:r>
            <a:endParaRPr lang="en-US" sz="1350" dirty="0"/>
          </a:p>
        </p:txBody>
      </p:sp>
      <p:sp>
        <p:nvSpPr>
          <p:cNvPr id="22" name="Text 20"/>
          <p:cNvSpPr txBox="1"/>
          <p:nvPr/>
        </p:nvSpPr>
        <p:spPr>
          <a:xfrm>
            <a:off x="6487668" y="4709160"/>
            <a:ext cx="4814316" cy="411480"/>
          </a:xfrm>
          <a:prstGeom prst="rect">
            <a:avLst/>
          </a:prstGeom>
          <a:noFill/>
          <a:ln/>
        </p:spPr>
        <p:txBody>
          <a:bodyPr wrap="square" lIns="0" tIns="0" rIns="0" bIns="0" rtlCol="0" anchor="ctr"/>
          <a:lstStyle/>
          <a:p>
            <a:pPr indent="0" marL="0">
              <a:lnSpc>
                <a:spcPts val="1500"/>
              </a:lnSpc>
              <a:buNone/>
            </a:pPr>
            <a:r>
              <a:rPr lang="en-US" sz="1200" dirty="0">
                <a:solidFill>
                  <a:srgbClr val="5E7185"/>
                </a:solidFill>
                <a:latin typeface="Calibri" pitchFamily="34" charset="0"/>
                <a:ea typeface="Calibri" pitchFamily="34" charset="-122"/>
                <a:cs typeface="Calibri" pitchFamily="34" charset="-120"/>
              </a:rPr>
              <a:t>The ERD. Does it match what your team drew on paper?</a:t>
            </a:r>
            <a:endParaRPr lang="en-US" sz="1200" dirty="0"/>
          </a:p>
        </p:txBody>
      </p:sp>
      <p:sp>
        <p:nvSpPr>
          <p:cNvPr id="23" name="Shape 21"/>
          <p:cNvSpPr/>
          <p:nvPr/>
        </p:nvSpPr>
        <p:spPr>
          <a:xfrm>
            <a:off x="640080" y="5532120"/>
            <a:ext cx="10908792" cy="694944"/>
          </a:xfrm>
          <a:prstGeom prst="roundRect">
            <a:avLst>
              <a:gd name="adj" fmla="val 7895"/>
            </a:avLst>
          </a:prstGeom>
          <a:solidFill>
            <a:srgbClr val="0B2942"/>
          </a:solidFill>
          <a:ln/>
        </p:spPr>
      </p:sp>
      <p:sp>
        <p:nvSpPr>
          <p:cNvPr id="24" name="Text 22"/>
          <p:cNvSpPr txBox="1"/>
          <p:nvPr/>
        </p:nvSpPr>
        <p:spPr>
          <a:xfrm>
            <a:off x="960120" y="5696712"/>
            <a:ext cx="10268712"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Nothing publishes itself. Every artifact you get is a starting point that still needs finishing, testing, and approval.</a:t>
            </a:r>
            <a:endParaRPr lang="en-US" sz="1350" dirty="0"/>
          </a:p>
        </p:txBody>
      </p:sp>
      <p:sp>
        <p:nvSpPr>
          <p:cNvPr id="25" name="Text 23"/>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9509760" y="-822960"/>
            <a:ext cx="4023360" cy="4023360"/>
          </a:xfrm>
          <a:prstGeom prst="ellipse">
            <a:avLst/>
          </a:prstGeom>
          <a:solidFill>
            <a:srgbClr val="17567A"/>
          </a:solidFill>
          <a:ln/>
        </p:spPr>
      </p:sp>
      <p:sp>
        <p:nvSpPr>
          <p:cNvPr id="3" name="Text 1"/>
          <p:cNvSpPr txBox="1"/>
          <p:nvPr/>
        </p:nvSpPr>
        <p:spPr>
          <a:xfrm>
            <a:off x="640080" y="1371600"/>
            <a:ext cx="8412480" cy="320040"/>
          </a:xfrm>
          <a:prstGeom prst="rect">
            <a:avLst/>
          </a:prstGeom>
          <a:noFill/>
          <a:ln/>
        </p:spPr>
        <p:txBody>
          <a:bodyPr wrap="square" lIns="0" tIns="0" rIns="0" bIns="0" rtlCol="0" anchor="ctr"/>
          <a:lstStyle/>
          <a:p>
            <a:pPr indent="0" marL="0">
              <a:buNone/>
            </a:pPr>
            <a:r>
              <a:rPr lang="en-US" sz="1250" b="1" spc="250" kern="0" dirty="0">
                <a:solidFill>
                  <a:srgbClr val="E8792B"/>
                </a:solidFill>
                <a:latin typeface="Calibri" pitchFamily="34" charset="0"/>
                <a:ea typeface="Calibri" pitchFamily="34" charset="-122"/>
                <a:cs typeface="Calibri" pitchFamily="34" charset="-120"/>
              </a:rPr>
              <a:t>GROUP ACTIVITY</a:t>
            </a:r>
            <a:endParaRPr lang="en-US" sz="1250" dirty="0"/>
          </a:p>
        </p:txBody>
      </p:sp>
      <p:sp>
        <p:nvSpPr>
          <p:cNvPr id="4" name="Text 2"/>
          <p:cNvSpPr txBox="1"/>
          <p:nvPr/>
        </p:nvSpPr>
        <p:spPr>
          <a:xfrm>
            <a:off x="640080" y="1737360"/>
            <a:ext cx="841248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Build your solution</a:t>
            </a:r>
            <a:endParaRPr lang="en-US" sz="3400" dirty="0"/>
          </a:p>
        </p:txBody>
      </p:sp>
      <p:sp>
        <p:nvSpPr>
          <p:cNvPr id="5" name="Text 3"/>
          <p:cNvSpPr txBox="1"/>
          <p:nvPr/>
        </p:nvSpPr>
        <p:spPr>
          <a:xfrm>
            <a:off x="731520" y="2697480"/>
            <a:ext cx="8412480" cy="2560320"/>
          </a:xfrm>
          <a:prstGeom prst="rect">
            <a:avLst/>
          </a:prstGeom>
          <a:noFill/>
          <a:ln/>
        </p:spPr>
        <p:txBody>
          <a:bodyPr wrap="square" lIns="0" tIns="0" rIns="0" bIns="0" rtlCol="0" anchor="ctr"/>
          <a:lstStyle/>
          <a:p>
            <a:pPr marL="342900" indent="-342900">
              <a:lnSpc>
                <a:spcPts val="2400"/>
              </a:lnSpc>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Driver shares screen. One editor per plan — everyone else reviews.</a:t>
            </a:r>
            <a:endParaRPr lang="en-US" sz="1450" dirty="0"/>
          </a:p>
          <a:p>
            <a:pPr marL="342900" indent="-342900">
              <a:lnSpc>
                <a:spcPts val="2400"/>
              </a:lnSpc>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Write the description straight from your worksheet.</a:t>
            </a:r>
            <a:endParaRPr lang="en-US" sz="1450" dirty="0"/>
          </a:p>
          <a:p>
            <a:pPr marL="342900" indent="-342900">
              <a:lnSpc>
                <a:spcPts val="2400"/>
              </a:lnSpc>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Work the approval gates. Correct the tool at each one.</a:t>
            </a:r>
            <a:endParaRPr lang="en-US" sz="1450" dirty="0"/>
          </a:p>
          <a:p>
            <a:pPr marL="342900" indent="-342900">
              <a:lnSpc>
                <a:spcPts val="2400"/>
              </a:lnSpc>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Save tables, then create the artifacts.</a:t>
            </a:r>
            <a:endParaRPr lang="en-US" sz="1450" dirty="0"/>
          </a:p>
          <a:p>
            <a:pPr marL="342900" indent="-342900">
              <a:lnSpc>
                <a:spcPts val="2400"/>
              </a:lnSpc>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Open every artifact and check it against Section A through D.</a:t>
            </a:r>
            <a:endParaRPr lang="en-US" sz="1450" dirty="0"/>
          </a:p>
          <a:p>
            <a:pPr marL="342900" indent="-342900">
              <a:lnSpc>
                <a:spcPts val="2400"/>
              </a:lnSpc>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Fill in your AAR sheet while it's fresh — before we talk.</a:t>
            </a:r>
            <a:endParaRPr lang="en-US" sz="1450" dirty="0"/>
          </a:p>
        </p:txBody>
      </p:sp>
      <p:sp>
        <p:nvSpPr>
          <p:cNvPr id="6" name="Text 4"/>
          <p:cNvSpPr txBox="1"/>
          <p:nvPr/>
        </p:nvSpPr>
        <p:spPr>
          <a:xfrm>
            <a:off x="640080" y="5440680"/>
            <a:ext cx="8412480" cy="365760"/>
          </a:xfrm>
          <a:prstGeom prst="rect">
            <a:avLst/>
          </a:prstGeom>
          <a:noFill/>
          <a:ln/>
        </p:spPr>
        <p:txBody>
          <a:bodyPr wrap="square" lIns="0" tIns="0" rIns="0" bIns="0" rtlCol="0" anchor="ctr"/>
          <a:lstStyle/>
          <a:p>
            <a:pPr indent="0" marL="0">
              <a:buNone/>
            </a:pPr>
            <a:r>
              <a:rPr lang="en-US" sz="1800" b="1" dirty="0">
                <a:solidFill>
                  <a:srgbClr val="E8792B"/>
                </a:solidFill>
                <a:latin typeface="Calibri" pitchFamily="34" charset="0"/>
                <a:ea typeface="Calibri" pitchFamily="34" charset="-122"/>
                <a:cs typeface="Calibri" pitchFamily="34" charset="-120"/>
              </a:rPr>
              <a:t>90 minutes</a:t>
            </a:r>
            <a:endParaRPr lang="en-US" sz="1800" dirty="0"/>
          </a:p>
        </p:txBody>
      </p:sp>
      <p:sp>
        <p:nvSpPr>
          <p:cNvPr id="7" name="Text 5"/>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6E8AA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37744"/>
          </a:xfrm>
          <a:prstGeom prst="rect">
            <a:avLst/>
          </a:prstGeom>
          <a:noFill/>
          <a:ln/>
        </p:spPr>
        <p:txBody>
          <a:bodyPr wrap="square" lIns="0" tIns="0" rIns="0" bIns="0" rtlCol="0" anchor="ctr"/>
          <a:lstStyle/>
          <a:p>
            <a:pPr indent="0" marL="0">
              <a:buNone/>
            </a:pPr>
            <a:r>
              <a:rPr lang="en-US" sz="1100" b="1" spc="200" kern="0" dirty="0">
                <a:solidFill>
                  <a:srgbClr val="E8792B"/>
                </a:solidFill>
                <a:latin typeface="Calibri" pitchFamily="34" charset="0"/>
                <a:ea typeface="Calibri" pitchFamily="34" charset="-122"/>
                <a:cs typeface="Calibri" pitchFamily="34" charset="-120"/>
              </a:rPr>
              <a:t>DEBRIEF</a:t>
            </a:r>
            <a:endParaRPr lang="en-US" sz="1100" dirty="0"/>
          </a:p>
        </p:txBody>
      </p:sp>
      <p:sp>
        <p:nvSpPr>
          <p:cNvPr id="3" name="Text 1"/>
          <p:cNvSpPr txBox="1"/>
          <p:nvPr/>
        </p:nvSpPr>
        <p:spPr>
          <a:xfrm>
            <a:off x="640080" y="640080"/>
            <a:ext cx="10908792" cy="777240"/>
          </a:xfrm>
          <a:prstGeom prst="rect">
            <a:avLst/>
          </a:prstGeom>
          <a:noFill/>
          <a:ln/>
        </p:spPr>
        <p:txBody>
          <a:bodyPr wrap="square" lIns="0" tIns="0" rIns="0" bIns="0" rtlCol="0" anchor="t"/>
          <a:lstStyle/>
          <a:p>
            <a:pPr indent="0" marL="0">
              <a:buNone/>
            </a:pPr>
            <a:r>
              <a:rPr lang="en-US" sz="3000" b="1" dirty="0">
                <a:solidFill>
                  <a:srgbClr val="0B2942"/>
                </a:solidFill>
                <a:latin typeface="Cambria" pitchFamily="34" charset="0"/>
                <a:ea typeface="Cambria" pitchFamily="34" charset="-122"/>
                <a:cs typeface="Cambria" pitchFamily="34" charset="-120"/>
              </a:rPr>
              <a:t>After Action Review</a:t>
            </a:r>
            <a:endParaRPr lang="en-US" sz="3000" dirty="0"/>
          </a:p>
        </p:txBody>
      </p:sp>
      <p:sp>
        <p:nvSpPr>
          <p:cNvPr id="4" name="Shape 2"/>
          <p:cNvSpPr/>
          <p:nvPr/>
        </p:nvSpPr>
        <p:spPr>
          <a:xfrm>
            <a:off x="640080" y="1783080"/>
            <a:ext cx="5317236" cy="4069080"/>
          </a:xfrm>
          <a:prstGeom prst="roundRect">
            <a:avLst>
              <a:gd name="adj" fmla="val 1348"/>
            </a:avLst>
          </a:prstGeom>
          <a:solidFill>
            <a:srgbClr val="F5F7F9"/>
          </a:solidFill>
          <a:ln/>
        </p:spPr>
      </p:sp>
      <p:sp>
        <p:nvSpPr>
          <p:cNvPr id="5" name="Text 3"/>
          <p:cNvSpPr txBox="1"/>
          <p:nvPr/>
        </p:nvSpPr>
        <p:spPr>
          <a:xfrm>
            <a:off x="960120" y="1993392"/>
            <a:ext cx="4677156" cy="292608"/>
          </a:xfrm>
          <a:prstGeom prst="rect">
            <a:avLst/>
          </a:prstGeom>
          <a:noFill/>
          <a:ln/>
        </p:spPr>
        <p:txBody>
          <a:bodyPr wrap="square" lIns="0" tIns="0" rIns="0" bIns="0" rtlCol="0" anchor="ctr"/>
          <a:lstStyle/>
          <a:p>
            <a:pPr indent="0" marL="0">
              <a:buNone/>
            </a:pPr>
            <a:r>
              <a:rPr lang="en-US" sz="1250" b="1" spc="150" kern="0" dirty="0">
                <a:solidFill>
                  <a:srgbClr val="2C7A4B"/>
                </a:solidFill>
                <a:latin typeface="Calibri" pitchFamily="34" charset="0"/>
                <a:ea typeface="Calibri" pitchFamily="34" charset="-122"/>
                <a:cs typeface="Calibri" pitchFamily="34" charset="-120"/>
              </a:rPr>
              <a:t>SUSTAIN</a:t>
            </a:r>
            <a:endParaRPr lang="en-US" sz="1250" dirty="0"/>
          </a:p>
        </p:txBody>
      </p:sp>
      <p:sp>
        <p:nvSpPr>
          <p:cNvPr id="6" name="Text 4"/>
          <p:cNvSpPr txBox="1"/>
          <p:nvPr/>
        </p:nvSpPr>
        <p:spPr>
          <a:xfrm>
            <a:off x="960120" y="2377440"/>
            <a:ext cx="4677156" cy="141732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350" dirty="0">
                <a:solidFill>
                  <a:srgbClr val="16202B"/>
                </a:solidFill>
                <a:latin typeface="Calibri" pitchFamily="34" charset="0"/>
                <a:ea typeface="Calibri" pitchFamily="34" charset="-122"/>
                <a:cs typeface="Calibri" pitchFamily="34" charset="-120"/>
              </a:rPr>
              <a:t>What did it build that you didn't expect?</a:t>
            </a:r>
            <a:endParaRPr lang="en-US" sz="1350" dirty="0"/>
          </a:p>
          <a:p>
            <a:pPr marL="342900" indent="-342900">
              <a:lnSpc>
                <a:spcPts val="2000"/>
              </a:lnSpc>
              <a:spcAft>
                <a:spcPts val="800"/>
              </a:spcAft>
              <a:buSzPct val="100000"/>
              <a:buChar char="•"/>
            </a:pPr>
            <a:r>
              <a:rPr lang="en-US" sz="1350" dirty="0">
                <a:solidFill>
                  <a:srgbClr val="16202B"/>
                </a:solidFill>
                <a:latin typeface="Calibri" pitchFamily="34" charset="0"/>
                <a:ea typeface="Calibri" pitchFamily="34" charset="-122"/>
                <a:cs typeface="Calibri" pitchFamily="34" charset="-120"/>
              </a:rPr>
              <a:t>Where would this save the most time on a real activation?</a:t>
            </a:r>
            <a:endParaRPr lang="en-US" sz="1350" dirty="0"/>
          </a:p>
          <a:p>
            <a:pPr marL="342900" indent="-342900">
              <a:lnSpc>
                <a:spcPts val="2000"/>
              </a:lnSpc>
              <a:spcAft>
                <a:spcPts val="800"/>
              </a:spcAft>
              <a:buSzPct val="100000"/>
              <a:buChar char="•"/>
            </a:pPr>
            <a:r>
              <a:rPr lang="en-US" sz="1350" dirty="0">
                <a:solidFill>
                  <a:srgbClr val="16202B"/>
                </a:solidFill>
                <a:latin typeface="Calibri" pitchFamily="34" charset="0"/>
                <a:ea typeface="Calibri" pitchFamily="34" charset="-122"/>
                <a:cs typeface="Calibri" pitchFamily="34" charset="-120"/>
              </a:rPr>
              <a:t>What part of your design came through exactly right?</a:t>
            </a:r>
            <a:endParaRPr lang="en-US" sz="1350" dirty="0"/>
          </a:p>
        </p:txBody>
      </p:sp>
      <p:sp>
        <p:nvSpPr>
          <p:cNvPr id="7" name="Text 5"/>
          <p:cNvSpPr txBox="1"/>
          <p:nvPr/>
        </p:nvSpPr>
        <p:spPr>
          <a:xfrm>
            <a:off x="960120" y="3840480"/>
            <a:ext cx="4677156" cy="292608"/>
          </a:xfrm>
          <a:prstGeom prst="rect">
            <a:avLst/>
          </a:prstGeom>
          <a:noFill/>
          <a:ln/>
        </p:spPr>
        <p:txBody>
          <a:bodyPr wrap="square" lIns="0" tIns="0" rIns="0" bIns="0" rtlCol="0" anchor="ctr"/>
          <a:lstStyle/>
          <a:p>
            <a:pPr indent="0" marL="0">
              <a:buNone/>
            </a:pPr>
            <a:r>
              <a:rPr lang="en-US" sz="1250" b="1" spc="150" kern="0" dirty="0">
                <a:solidFill>
                  <a:srgbClr val="A33A1E"/>
                </a:solidFill>
                <a:latin typeface="Calibri" pitchFamily="34" charset="0"/>
                <a:ea typeface="Calibri" pitchFamily="34" charset="-122"/>
                <a:cs typeface="Calibri" pitchFamily="34" charset="-120"/>
              </a:rPr>
              <a:t>IMPROVE</a:t>
            </a:r>
            <a:endParaRPr lang="en-US" sz="1250" dirty="0"/>
          </a:p>
        </p:txBody>
      </p:sp>
      <p:sp>
        <p:nvSpPr>
          <p:cNvPr id="8" name="Text 6"/>
          <p:cNvSpPr txBox="1"/>
          <p:nvPr/>
        </p:nvSpPr>
        <p:spPr>
          <a:xfrm>
            <a:off x="960120" y="4224528"/>
            <a:ext cx="4677156" cy="141732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350" dirty="0">
                <a:solidFill>
                  <a:srgbClr val="16202B"/>
                </a:solidFill>
                <a:latin typeface="Calibri" pitchFamily="34" charset="0"/>
                <a:ea typeface="Calibri" pitchFamily="34" charset="-122"/>
                <a:cs typeface="Calibri" pitchFamily="34" charset="-120"/>
              </a:rPr>
              <a:t>Where did it fall short of your design?</a:t>
            </a:r>
            <a:endParaRPr lang="en-US" sz="1350" dirty="0"/>
          </a:p>
          <a:p>
            <a:pPr marL="342900" indent="-342900">
              <a:lnSpc>
                <a:spcPts val="2000"/>
              </a:lnSpc>
              <a:spcAft>
                <a:spcPts val="800"/>
              </a:spcAft>
              <a:buSzPct val="100000"/>
              <a:buChar char="•"/>
            </a:pPr>
            <a:r>
              <a:rPr lang="en-US" sz="1350" dirty="0">
                <a:solidFill>
                  <a:srgbClr val="16202B"/>
                </a:solidFill>
                <a:latin typeface="Calibri" pitchFamily="34" charset="0"/>
                <a:ea typeface="Calibri" pitchFamily="34" charset="-122"/>
                <a:cs typeface="Calibri" pitchFamily="34" charset="-120"/>
              </a:rPr>
              <a:t>What would you still have to build by hand?</a:t>
            </a:r>
            <a:endParaRPr lang="en-US" sz="1350" dirty="0"/>
          </a:p>
          <a:p>
            <a:pPr marL="342900" indent="-342900">
              <a:lnSpc>
                <a:spcPts val="2000"/>
              </a:lnSpc>
              <a:spcAft>
                <a:spcPts val="800"/>
              </a:spcAft>
              <a:buSzPct val="100000"/>
              <a:buChar char="•"/>
            </a:pPr>
            <a:r>
              <a:rPr lang="en-US" sz="1350" dirty="0">
                <a:solidFill>
                  <a:srgbClr val="16202B"/>
                </a:solidFill>
                <a:latin typeface="Calibri" pitchFamily="34" charset="0"/>
                <a:ea typeface="Calibri" pitchFamily="34" charset="-122"/>
                <a:cs typeface="Calibri" pitchFamily="34" charset="-120"/>
              </a:rPr>
              <a:t>How would you rewrite your description?</a:t>
            </a:r>
            <a:endParaRPr lang="en-US" sz="1350" dirty="0"/>
          </a:p>
        </p:txBody>
      </p:sp>
      <p:sp>
        <p:nvSpPr>
          <p:cNvPr id="9" name="Shape 7"/>
          <p:cNvSpPr/>
          <p:nvPr/>
        </p:nvSpPr>
        <p:spPr>
          <a:xfrm>
            <a:off x="6231636" y="1783080"/>
            <a:ext cx="5317236" cy="4069080"/>
          </a:xfrm>
          <a:prstGeom prst="roundRect">
            <a:avLst>
              <a:gd name="adj" fmla="val 1348"/>
            </a:avLst>
          </a:prstGeom>
          <a:solidFill>
            <a:srgbClr val="0B2942"/>
          </a:solidFill>
          <a:ln/>
        </p:spPr>
      </p:sp>
      <p:sp>
        <p:nvSpPr>
          <p:cNvPr id="10" name="Text 8"/>
          <p:cNvSpPr txBox="1"/>
          <p:nvPr/>
        </p:nvSpPr>
        <p:spPr>
          <a:xfrm>
            <a:off x="6551676" y="2011680"/>
            <a:ext cx="4677156" cy="292608"/>
          </a:xfrm>
          <a:prstGeom prst="rect">
            <a:avLst/>
          </a:prstGeom>
          <a:noFill/>
          <a:ln/>
        </p:spPr>
        <p:txBody>
          <a:bodyPr wrap="square" lIns="0" tIns="0" rIns="0" bIns="0" rtlCol="0" anchor="ctr"/>
          <a:lstStyle/>
          <a:p>
            <a:pPr indent="0" marL="0">
              <a:buNone/>
            </a:pPr>
            <a:r>
              <a:rPr lang="en-US" sz="1250" b="1" spc="150" kern="0" dirty="0">
                <a:solidFill>
                  <a:srgbClr val="E8792B"/>
                </a:solidFill>
                <a:latin typeface="Calibri" pitchFamily="34" charset="0"/>
                <a:ea typeface="Calibri" pitchFamily="34" charset="-122"/>
                <a:cs typeface="Calibri" pitchFamily="34" charset="-120"/>
              </a:rPr>
              <a:t>THE THREE TAKEAWAYS</a:t>
            </a:r>
            <a:endParaRPr lang="en-US" sz="1250" dirty="0"/>
          </a:p>
        </p:txBody>
      </p:sp>
      <p:sp>
        <p:nvSpPr>
          <p:cNvPr id="11" name="Shape 9"/>
          <p:cNvSpPr/>
          <p:nvPr/>
        </p:nvSpPr>
        <p:spPr>
          <a:xfrm>
            <a:off x="6551676" y="2514600"/>
            <a:ext cx="365760" cy="365760"/>
          </a:xfrm>
          <a:prstGeom prst="ellipse">
            <a:avLst/>
          </a:prstGeom>
          <a:solidFill>
            <a:srgbClr val="E8792B"/>
          </a:solidFill>
          <a:ln/>
        </p:spPr>
      </p:sp>
      <p:sp>
        <p:nvSpPr>
          <p:cNvPr id="12" name="Text 10"/>
          <p:cNvSpPr txBox="1"/>
          <p:nvPr/>
        </p:nvSpPr>
        <p:spPr>
          <a:xfrm>
            <a:off x="6551676" y="25146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1"/>
          <p:cNvSpPr txBox="1"/>
          <p:nvPr/>
        </p:nvSpPr>
        <p:spPr>
          <a:xfrm>
            <a:off x="7054596" y="2496312"/>
            <a:ext cx="4174236"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description is the system.</a:t>
            </a:r>
            <a:endParaRPr lang="en-US" sz="1400" dirty="0"/>
          </a:p>
        </p:txBody>
      </p:sp>
      <p:sp>
        <p:nvSpPr>
          <p:cNvPr id="14" name="Text 12"/>
          <p:cNvSpPr txBox="1"/>
          <p:nvPr/>
        </p:nvSpPr>
        <p:spPr>
          <a:xfrm>
            <a:off x="7054596" y="2788920"/>
            <a:ext cx="4174236" cy="731520"/>
          </a:xfrm>
          <a:prstGeom prst="rect">
            <a:avLst/>
          </a:prstGeom>
          <a:noFill/>
          <a:ln/>
        </p:spPr>
        <p:txBody>
          <a:bodyPr wrap="square" lIns="0" tIns="0" rIns="0" bIns="0" rtlCol="0" anchor="ctr"/>
          <a:lstStyle/>
          <a:p>
            <a:pPr indent="0" marL="0">
              <a:lnSpc>
                <a:spcPts val="1500"/>
              </a:lnSpc>
              <a:buNone/>
            </a:pPr>
            <a:r>
              <a:rPr lang="en-US" sz="1200" dirty="0">
                <a:solidFill>
                  <a:srgbClr val="BFD2E0"/>
                </a:solidFill>
                <a:latin typeface="Calibri" pitchFamily="34" charset="0"/>
                <a:ea typeface="Calibri" pitchFamily="34" charset="-122"/>
                <a:cs typeface="Calibri" pitchFamily="34" charset="-120"/>
              </a:rPr>
              <a:t>Specific teams got specific results. Vague teams got generic ones. You saw the exchange rate.</a:t>
            </a:r>
            <a:endParaRPr lang="en-US" sz="1200" dirty="0"/>
          </a:p>
        </p:txBody>
      </p:sp>
      <p:sp>
        <p:nvSpPr>
          <p:cNvPr id="15" name="Shape 13"/>
          <p:cNvSpPr/>
          <p:nvPr/>
        </p:nvSpPr>
        <p:spPr>
          <a:xfrm>
            <a:off x="6551676" y="3566160"/>
            <a:ext cx="365760" cy="365760"/>
          </a:xfrm>
          <a:prstGeom prst="ellipse">
            <a:avLst/>
          </a:prstGeom>
          <a:solidFill>
            <a:srgbClr val="E8792B"/>
          </a:solidFill>
          <a:ln/>
        </p:spPr>
      </p:sp>
      <p:sp>
        <p:nvSpPr>
          <p:cNvPr id="16" name="Text 14"/>
          <p:cNvSpPr txBox="1"/>
          <p:nvPr/>
        </p:nvSpPr>
        <p:spPr>
          <a:xfrm>
            <a:off x="6551676" y="35661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7054596" y="3547872"/>
            <a:ext cx="4174236"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This is a starting point.</a:t>
            </a:r>
            <a:endParaRPr lang="en-US" sz="1400" dirty="0"/>
          </a:p>
        </p:txBody>
      </p:sp>
      <p:sp>
        <p:nvSpPr>
          <p:cNvPr id="18" name="Text 16"/>
          <p:cNvSpPr txBox="1"/>
          <p:nvPr/>
        </p:nvSpPr>
        <p:spPr>
          <a:xfrm>
            <a:off x="7054596" y="3840480"/>
            <a:ext cx="4174236" cy="731520"/>
          </a:xfrm>
          <a:prstGeom prst="rect">
            <a:avLst/>
          </a:prstGeom>
          <a:noFill/>
          <a:ln/>
        </p:spPr>
        <p:txBody>
          <a:bodyPr wrap="square" lIns="0" tIns="0" rIns="0" bIns="0" rtlCol="0" anchor="ctr"/>
          <a:lstStyle/>
          <a:p>
            <a:pPr indent="0" marL="0">
              <a:lnSpc>
                <a:spcPts val="1500"/>
              </a:lnSpc>
              <a:buNone/>
            </a:pPr>
            <a:r>
              <a:rPr lang="en-US" sz="1200" dirty="0">
                <a:solidFill>
                  <a:srgbClr val="BFD2E0"/>
                </a:solidFill>
                <a:latin typeface="Calibri" pitchFamily="34" charset="0"/>
                <a:ea typeface="Calibri" pitchFamily="34" charset="-122"/>
                <a:cs typeface="Calibri" pitchFamily="34" charset="-120"/>
              </a:rPr>
              <a:t>Customization, security, accreditation, testing, and approval to operate are all still yours.</a:t>
            </a:r>
            <a:endParaRPr lang="en-US" sz="1200" dirty="0"/>
          </a:p>
        </p:txBody>
      </p:sp>
      <p:sp>
        <p:nvSpPr>
          <p:cNvPr id="19" name="Shape 17"/>
          <p:cNvSpPr/>
          <p:nvPr/>
        </p:nvSpPr>
        <p:spPr>
          <a:xfrm>
            <a:off x="6551676" y="4617720"/>
            <a:ext cx="365760" cy="365760"/>
          </a:xfrm>
          <a:prstGeom prst="ellipse">
            <a:avLst/>
          </a:prstGeom>
          <a:solidFill>
            <a:srgbClr val="E8792B"/>
          </a:solidFill>
          <a:ln/>
        </p:spPr>
      </p:sp>
      <p:sp>
        <p:nvSpPr>
          <p:cNvPr id="20" name="Text 18"/>
          <p:cNvSpPr txBox="1"/>
          <p:nvPr/>
        </p:nvSpPr>
        <p:spPr>
          <a:xfrm>
            <a:off x="6551676" y="46177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7054596" y="4599432"/>
            <a:ext cx="4174236"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thinking transfers.</a:t>
            </a:r>
            <a:endParaRPr lang="en-US" sz="1400" dirty="0"/>
          </a:p>
        </p:txBody>
      </p:sp>
      <p:sp>
        <p:nvSpPr>
          <p:cNvPr id="22" name="Text 20"/>
          <p:cNvSpPr txBox="1"/>
          <p:nvPr/>
        </p:nvSpPr>
        <p:spPr>
          <a:xfrm>
            <a:off x="7054596" y="4892040"/>
            <a:ext cx="4174236" cy="731520"/>
          </a:xfrm>
          <a:prstGeom prst="rect">
            <a:avLst/>
          </a:prstGeom>
          <a:noFill/>
          <a:ln/>
        </p:spPr>
        <p:txBody>
          <a:bodyPr wrap="square" lIns="0" tIns="0" rIns="0" bIns="0" rtlCol="0" anchor="ctr"/>
          <a:lstStyle/>
          <a:p>
            <a:pPr indent="0" marL="0">
              <a:lnSpc>
                <a:spcPts val="1500"/>
              </a:lnSpc>
              <a:buNone/>
            </a:pPr>
            <a:r>
              <a:rPr lang="en-US" sz="1200" dirty="0">
                <a:solidFill>
                  <a:srgbClr val="BFD2E0"/>
                </a:solidFill>
                <a:latin typeface="Calibri" pitchFamily="34" charset="0"/>
                <a:ea typeface="Calibri" pitchFamily="34" charset="-122"/>
                <a:cs typeface="Calibri" pitchFamily="34" charset="-120"/>
              </a:rPr>
              <a:t>Roles, data, trigger-and-action, metrics before build, PACE. Those work on any tool.</a:t>
            </a:r>
            <a:endParaRPr lang="en-US" sz="1200" dirty="0"/>
          </a:p>
        </p:txBody>
      </p:sp>
      <p:sp>
        <p:nvSpPr>
          <p:cNvPr id="23" name="Text 21"/>
          <p:cNvSpPr txBox="1"/>
          <p:nvPr/>
        </p:nvSpPr>
        <p:spPr>
          <a:xfrm>
            <a:off x="7708392" y="6373368"/>
            <a:ext cx="3840480" cy="219456"/>
          </a:xfrm>
          <a:prstGeom prst="rect">
            <a:avLst/>
          </a:prstGeom>
          <a:noFill/>
          <a:ln/>
        </p:spPr>
        <p:txBody>
          <a:bodyPr wrap="square" lIns="0" tIns="0" rIns="0" bIns="0" rtlCol="0" anchor="ctr"/>
          <a:lstStyle/>
          <a:p>
            <a:pPr algn="r" indent="0" marL="0">
              <a:buNone/>
            </a:pPr>
            <a:r>
              <a:rPr lang="en-US" sz="900" b="1" spc="150" kern="0" dirty="0">
                <a:solidFill>
                  <a:srgbClr val="9AA9B6"/>
                </a:solidFill>
                <a:latin typeface="Calibri" pitchFamily="34" charset="0"/>
                <a:ea typeface="Calibri" pitchFamily="34" charset="-122"/>
                <a:cs typeface="Calibri" pitchFamily="34" charset="-120"/>
              </a:rPr>
              <a:t>EXERCISE — TRAINING USE ONLY</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8732520" y="-1371600"/>
            <a:ext cx="5669280" cy="5669280"/>
          </a:xfrm>
          <a:prstGeom prst="ellipse">
            <a:avLst/>
          </a:prstGeom>
          <a:solidFill>
            <a:srgbClr val="17567A"/>
          </a:solidFill>
          <a:ln/>
        </p:spPr>
      </p:sp>
      <p:sp>
        <p:nvSpPr>
          <p:cNvPr id="3" name="Shape 1"/>
          <p:cNvSpPr/>
          <p:nvPr/>
        </p:nvSpPr>
        <p:spPr>
          <a:xfrm>
            <a:off x="10241280" y="3108960"/>
            <a:ext cx="3108960" cy="3108960"/>
          </a:xfrm>
          <a:prstGeom prst="ellipse">
            <a:avLst/>
          </a:prstGeom>
          <a:solidFill>
            <a:srgbClr val="E8792B"/>
          </a:solidFill>
          <a:ln/>
        </p:spPr>
      </p:sp>
      <p:sp>
        <p:nvSpPr>
          <p:cNvPr id="4" name="Text 2"/>
          <p:cNvSpPr txBox="1"/>
          <p:nvPr/>
        </p:nvSpPr>
        <p:spPr>
          <a:xfrm>
            <a:off x="640080" y="2331720"/>
            <a:ext cx="7863840" cy="274320"/>
          </a:xfrm>
          <a:prstGeom prst="rect">
            <a:avLst/>
          </a:prstGeom>
          <a:noFill/>
          <a:ln/>
        </p:spPr>
        <p:txBody>
          <a:bodyPr wrap="square" lIns="0" tIns="0" rIns="0" bIns="0" rtlCol="0" anchor="ctr"/>
          <a:lstStyle/>
          <a:p>
            <a:pPr indent="0" marL="0">
              <a:buNone/>
            </a:pPr>
            <a:r>
              <a:rPr lang="en-US" sz="1250" b="1" spc="250" kern="0" dirty="0">
                <a:solidFill>
                  <a:srgbClr val="E8792B"/>
                </a:solidFill>
                <a:latin typeface="Calibri" pitchFamily="34" charset="0"/>
                <a:ea typeface="Calibri" pitchFamily="34" charset="-122"/>
                <a:cs typeface="Calibri" pitchFamily="34" charset="-120"/>
              </a:rPr>
              <a:t>OPERATION CAJUN SHIELD</a:t>
            </a:r>
            <a:endParaRPr lang="en-US" sz="1250" dirty="0"/>
          </a:p>
        </p:txBody>
      </p:sp>
      <p:sp>
        <p:nvSpPr>
          <p:cNvPr id="5" name="Text 3"/>
          <p:cNvSpPr txBox="1"/>
          <p:nvPr/>
        </p:nvSpPr>
        <p:spPr>
          <a:xfrm>
            <a:off x="640080" y="2743200"/>
            <a:ext cx="786384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description is the system.</a:t>
            </a:r>
            <a:endParaRPr lang="en-US" sz="3600" dirty="0"/>
          </a:p>
        </p:txBody>
      </p:sp>
      <p:sp>
        <p:nvSpPr>
          <p:cNvPr id="6" name="Text 4"/>
          <p:cNvSpPr txBox="1"/>
          <p:nvPr/>
        </p:nvSpPr>
        <p:spPr>
          <a:xfrm>
            <a:off x="640080" y="3703320"/>
            <a:ext cx="7863840" cy="548640"/>
          </a:xfrm>
          <a:prstGeom prst="rect">
            <a:avLst/>
          </a:prstGeom>
          <a:noFill/>
          <a:ln/>
        </p:spPr>
        <p:txBody>
          <a:bodyPr wrap="square" lIns="0" tIns="0" rIns="0" bIns="0" rtlCol="0" anchor="ctr"/>
          <a:lstStyle/>
          <a:p>
            <a:pPr indent="0" marL="0">
              <a:lnSpc>
                <a:spcPts val="2100"/>
              </a:lnSpc>
              <a:buNone/>
            </a:pPr>
            <a:r>
              <a:rPr lang="en-US" sz="1600" dirty="0">
                <a:solidFill>
                  <a:srgbClr val="BFD2E0"/>
                </a:solidFill>
                <a:latin typeface="Calibri" pitchFamily="34" charset="0"/>
                <a:ea typeface="Calibri" pitchFamily="34" charset="-122"/>
                <a:cs typeface="Calibri" pitchFamily="34" charset="-120"/>
              </a:rPr>
              <a:t>Take your worksheet with you. It's a requirement document, and it's good on any tool.</a:t>
            </a:r>
            <a:endParaRPr lang="en-US" sz="1600" dirty="0"/>
          </a:p>
        </p:txBody>
      </p:sp>
      <p:sp>
        <p:nvSpPr>
          <p:cNvPr id="7" name="Text 5"/>
          <p:cNvSpPr txBox="1"/>
          <p:nvPr/>
        </p:nvSpPr>
        <p:spPr>
          <a:xfrm>
            <a:off x="640080" y="5852160"/>
            <a:ext cx="7863840" cy="274320"/>
          </a:xfrm>
          <a:prstGeom prst="rect">
            <a:avLst/>
          </a:prstGeom>
          <a:noFill/>
          <a:ln/>
        </p:spPr>
        <p:txBody>
          <a:bodyPr wrap="square" lIns="0" tIns="0" rIns="0" bIns="0" rtlCol="0" anchor="ctr"/>
          <a:lstStyle/>
          <a:p>
            <a:pPr indent="0" marL="0">
              <a:buNone/>
            </a:pPr>
            <a:r>
              <a:rPr lang="en-US" sz="1100" b="1" spc="100" kern="0" dirty="0">
                <a:solidFill>
                  <a:srgbClr val="E8792B"/>
                </a:solidFill>
                <a:latin typeface="Calibri" pitchFamily="34" charset="0"/>
                <a:ea typeface="Calibri" pitchFamily="34" charset="-122"/>
                <a:cs typeface="Calibri" pitchFamily="34" charset="-120"/>
              </a:rPr>
              <a:t>EXERCISE — TRAINING USE ONLY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 CAJUN SHIELD — Build a Business Solution with Plan Designer</dc:title>
  <dc:subject>PptxGenJS Presentation</dc:subject>
  <dc:creator>Louisiana National Guard — Training</dc:creator>
  <cp:lastModifiedBy>Louisiana National Guard — Training</cp:lastModifiedBy>
  <cp:revision>1</cp:revision>
  <dcterms:created xsi:type="dcterms:W3CDTF">2026-09-15T01:48:58Z</dcterms:created>
  <dcterms:modified xsi:type="dcterms:W3CDTF">2026-09-15T01:48:58Z</dcterms:modified>
</cp:coreProperties>
</file>